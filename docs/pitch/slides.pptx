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Mit dem Versprechen in einem Satz einsteigen: Wir führen dich zu einem freien Platz und bewachen dein Rad, bis du zurückkommst. Dann stellt ihr euch vor: Luca und Tobias. Vor der Präsentation [Teamname] durch den offiziellen Teamnamen ersetzen.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Kurz halten. Drei Fragen, die alle kennen, die Rad fahren: Wo kann ich parken, ist mein Rad noch da, und wem gehört dieses Rad? Ein normaler Fahrradständer beantwortet keine davon.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Drei Säulen: Zugang, Führung, Schutz. Alles, was jetzt kommt, zeigt, wie diese drei funktionieren und wie wir sie zuverlässig gemacht haben.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Jetzt zur Station wechseln. Die Demo in dieser Reihenfolge: mit dem Chip parken, Display und blauen Slot zeigen, das Rad hineinschieben und zeigen, wie das Tor schließt. Dann das Rad abholen. Zum Schluss ein zweites Rad hineinstellen, es ohne Chip wieder herausnehmen, den Alarm und einen abgewiesenen Chip zeigen und den Alarm unter /dashboard/admin aufheben. Die Handy-App bereithalten, um zu zeigen, dass dort dieselben Regeln gelten.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Innovation bringt 20 Punkte. Die Ideen betonen, nicht die Bauteile: ein gemeinsamer Logikpfad für Chip und App, Alarme, die nur echte geparkte Räder bewachen, eine Station, die sich nach einem Diebstahl selbst sperrt, und eine Prognose aus unseren eigenen Daten.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Die technische Umsetzung ist mit 40 Punkten der größte Block. Auf dem Pi laufen vier Container. Node-RED trifft alle Entscheidungen, die ESPs messen nur und führen aus. Die ESPs hängen in einem eigenen WLAN ohne Zugang zum Schulnetz, ein kompromittierter ESP erreicht also nur den Broker. Wir haben die Arbeit auf zwei ESPs verteilt, damit die Hardware am Eingang die Sensoren nicht ausbremst.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Alle Teile sind günstig und frei erhältlich. Die Firmware ist ESPHome: Jeder ESP ist in einer einzigen, gut lesbaren YAML-Datei beschrieben statt in eigenem C-Code.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Jede Reservierung ist eine Zeile in Postgres und durchläuft diese Zustände. Die Node-RED-Logik wertet einen Slot erst nach fünf gleichen Messungen als geändert. Ein flackernder Sensor beendet also nie eine Parksitzung und löst keinen Alarm aus.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Das heißt für uns „professionell und stabil“. Jede Karte ist ein Problem, auf das wir wirklich gestoßen sind und das wir gelöst haben: flackernde Sensoren, ein Sensor ohne Echo, eine verlorene Chip-Anmeldung während eines Neustarts und langsame Updates mit nur einem ESP.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Diese Zahlen kommen direkt aus unserer Datenbank, gemessen heute während der Tests. Direkt vor dem Pitch mit den Abfragen aus postgres/README.md aktualisieren. Die 483.000 Messwerte entsprechen etwa elf Stunden mit vier Sensoren und fünf Messungen pro Sekunde. 8,5 Sekunden ist die durchschnittliche Zeit von der Reservierung, bis das Rad gesichert ist.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Tests bringen 10 Punkte. Die Stationslogik läuft in einer Testumgebung, die Sensorwerte und Chip-Anmeldungen abspielt und für 14 Szenarien LEDs, Tor und Display prüft. Sie lief vor jedem Deployment. An der Hardware haben wir jede Funktion live getestet und über die Telemetrie-Tabelle eine verlorene Anmeldung während eines Neustarts gefunden. Deshalb wartet die App jetzt auf die Antwort der Station.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Jeder Teil der Station ist Open Source. Das Repository hat eine README für den Stack, die ESP-Firmware, den WLAN-Hotspot, die Web-App, den Broker und die Datenbank: Einrichtung, Verkabelung, MQTT-Topics, Fehlersuche und eine Sicherheits-Checkliste. Damit kann jeder die Station nachbauen.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Offen über Grenzen zu sprechen zeigt, dass wir das System verstehen. Jeder Punkt ist bekannt, im Repository dokumentiert und hat eine klare Lösung.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Den technischen Teil mit einer realistischen Roadmap abschließen. Nichts davon braucht ein neues Design: Die Architektur trennt schon heute die Entscheidungen (Node-RED) von der Hardware (ESPs).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de-DE"/>
              <a:t>Die Jury zur Station einladen und ihr einen Chip in die Hand geben. /dashboard/admin auf einem Laptop offen halten, falls ein Demo-Alarm aufgehoben werden muss.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62000">
              <a:srgbClr val="12201B"/>
            </a:gs>
            <a:gs pos="100000">
              <a:srgbClr val="1C3A2E"/>
            </a:gs>
          </a:gsLst>
          <a:lin scaled="0" ang="1200000"/>
        </a:gradFill>
        <a:effectLst/>
      </p:bgPr>
    </p:bg>
    <p:spTree>
      <p:nvGrpSpPr>
        <p:cNvPr id="1" name=""/>
        <p:cNvGrpSpPr/>
        <p:nvPr/>
      </p:nvGrpSpPr>
      <p:grpSpPr/>
      <p:sp>
        <p:nvSpPr>
          <p:cNvPr id="2" name="Überzeile"/>
          <p:cNvSpPr txBox="1"/>
          <p:nvPr/>
        </p:nvSpPr>
        <p:spPr>
          <a:xfrm>
            <a:off x="762000" y="1749488"/>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3DDC84"/>
                </a:solidFill>
                <a:latin typeface="Segoe UI"/>
              </a:rPr>
              <a:t>KALKAR HACKATHON 2026</a:t>
            </a:r>
          </a:p>
        </p:txBody>
      </p:sp>
      <p:sp>
        <p:nvSpPr>
          <p:cNvPr id="3" name="Titel"/>
          <p:cNvSpPr txBox="1"/>
          <p:nvPr/>
        </p:nvSpPr>
        <p:spPr>
          <a:xfrm>
            <a:off x="762000" y="2048573"/>
            <a:ext cx="10668000" cy="1188720"/>
          </a:xfrm>
          <a:prstGeom prst="rect">
            <a:avLst/>
          </a:prstGeom>
          <a:noFill/>
        </p:spPr>
        <p:txBody>
          <a:bodyPr wrap="square" lIns="0" tIns="0" rIns="0" bIns="0" anchor="t"/>
          <a:lstStyle/>
          <a:p>
            <a:pPr>
              <a:lnSpc>
                <a:spcPct val="100000"/>
              </a:lnSpc>
              <a:spcBef>
                <a:spcPts val="0"/>
              </a:spcBef>
              <a:spcAft>
                <a:spcPts val="0"/>
              </a:spcAft>
            </a:pPr>
            <a:r>
              <a:rPr sz="7800" b="1" lang="de-DE">
                <a:solidFill>
                  <a:srgbClr val="EEF3EC"/>
                </a:solidFill>
                <a:latin typeface="Segoe UI"/>
              </a:rPr>
              <a:t>Hackabike</a:t>
            </a:r>
          </a:p>
        </p:txBody>
      </p:sp>
      <p:sp>
        <p:nvSpPr>
          <p:cNvPr id="4" name="Text"/>
          <p:cNvSpPr txBox="1"/>
          <p:nvPr/>
        </p:nvSpPr>
        <p:spPr>
          <a:xfrm>
            <a:off x="762000" y="3592893"/>
            <a:ext cx="8128000" cy="1515618"/>
          </a:xfrm>
          <a:prstGeom prst="rect">
            <a:avLst/>
          </a:prstGeom>
          <a:noFill/>
        </p:spPr>
        <p:txBody>
          <a:bodyPr wrap="square" lIns="0" tIns="0" rIns="0" bIns="0" anchor="t"/>
          <a:lstStyle/>
          <a:p>
            <a:pPr>
              <a:lnSpc>
                <a:spcPct val="130000"/>
              </a:lnSpc>
              <a:spcBef>
                <a:spcPts val="0"/>
              </a:spcBef>
              <a:spcAft>
                <a:spcPts val="0"/>
              </a:spcAft>
            </a:pPr>
            <a:r>
              <a:rPr sz="2550" b="0" lang="de-DE">
                <a:solidFill>
                  <a:srgbClr val="C9D6CE"/>
                </a:solidFill>
                <a:latin typeface="Segoe UI"/>
              </a:rPr>
              <a:t>Die smarte Fahrradstation, die dich zu einem freien Platz führt und dein Rad bewacht, bis du zurückkommst.</a:t>
            </a:r>
          </a:p>
        </p:txBody>
      </p:sp>
      <p:sp>
        <p:nvSpPr>
          <p:cNvPr id="5" name="Fußzeile"/>
          <p:cNvSpPr txBox="1"/>
          <p:nvPr/>
        </p:nvSpPr>
        <p:spPr>
          <a:xfrm>
            <a:off x="254000" y="6477000"/>
            <a:ext cx="8890000" cy="203200"/>
          </a:xfrm>
          <a:prstGeom prst="rect">
            <a:avLst/>
          </a:prstGeom>
          <a:noFill/>
        </p:spPr>
        <p:txBody>
          <a:bodyPr wrap="square" lIns="0" tIns="0" rIns="0" bIns="0" anchor="t"/>
          <a:lstStyle/>
          <a:p>
            <a:r>
              <a:rPr sz="1200" b="0" lang="de-DE">
                <a:solidFill>
                  <a:srgbClr val="8FA89A"/>
                </a:solidFill>
                <a:latin typeface="Segoe UI"/>
              </a:rPr>
              <a:t>[Teamname] · Gruppe 12 · Luca · Tobias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700"/>
                                        <p:tgtEl>
                                          <p:spTgt spid="4"/>
                                        </p:tgtEl>
                                      </p:cBhvr>
                                    </p:animEffect>
                                    <p:anim calcmode="lin" valueType="num">
                                      <p:cBhvr>
                                        <p:cTn id="15" dur="700" decel="100000" fill="hold"/>
                                        <p:tgtEl>
                                          <p:spTgt spid="4"/>
                                        </p:tgtEl>
                                        <p:attrNameLst>
                                          <p:attrName>ppt_x</p:attrName>
                                        </p:attrNameLst>
                                      </p:cBhvr>
                                      <p:tavLst>
                                        <p:tav tm="0">
                                          <p:val>
                                            <p:strVal val="#ppt_x"/>
                                          </p:val>
                                        </p:tav>
                                        <p:tav tm="100000">
                                          <p:val>
                                            <p:strVal val="#ppt_x"/>
                                          </p:val>
                                        </p:tav>
                                      </p:tavLst>
                                    </p:anim>
                                    <p:anim calcmode="lin" valueType="num">
                                      <p:cBhvr>
                                        <p:cTn id="16" dur="700" decel="100000" fill="hold"/>
                                        <p:tgtEl>
                                          <p:spTgt spid="4"/>
                                        </p:tgtEl>
                                        <p:attrNameLst>
                                          <p:attrName>ppt_y</p:attrName>
                                        </p:attrNameLst>
                                      </p:cBhvr>
                                      <p:tavLst>
                                        <p:tav tm="0">
                                          <p:val>
                                            <p:strVal val="#ppt_y+.05"/>
                                          </p:val>
                                        </p:tav>
                                        <p:tav tm="100000">
                                          <p:val>
                                            <p:strVal val="#ppt_y"/>
                                          </p:val>
                                        </p:tav>
                                      </p:tavLst>
                                    </p:anim>
                                  </p:childTnLst>
                                </p:cTn>
                              </p:par>
                              <p:par>
                                <p:cTn id="20" presetID="10" presetClass="entr" presetSubtype="0" fill="hold" grpId="0" nodeType="withEffect">
                                  <p:stCondLst>
                                    <p:cond delay="75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5EF"/>
        </a:solidFill>
        <a:effectLst/>
      </p:bgPr>
    </p:bg>
    <p:spTree>
      <p:nvGrpSpPr>
        <p:cNvPr id="1" name=""/>
        <p:cNvGrpSpPr/>
        <p:nvPr/>
      </p:nvGrpSpPr>
      <p:grpSpPr/>
      <p:sp>
        <p:nvSpPr>
          <p:cNvPr id="2" name="Überzeile"/>
          <p:cNvSpPr txBox="1"/>
          <p:nvPr/>
        </p:nvSpPr>
        <p:spPr>
          <a:xfrm>
            <a:off x="762000" y="1179385"/>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1B7F4B"/>
                </a:solidFill>
                <a:latin typeface="Segoe UI"/>
              </a:rPr>
              <a:t>DAS PROBLEM</a:t>
            </a:r>
          </a:p>
        </p:txBody>
      </p:sp>
      <p:sp>
        <p:nvSpPr>
          <p:cNvPr id="3" name="Titel"/>
          <p:cNvSpPr txBox="1"/>
          <p:nvPr/>
        </p:nvSpPr>
        <p:spPr>
          <a:xfrm>
            <a:off x="762000" y="1478470"/>
            <a:ext cx="10668000" cy="125730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17241F"/>
                </a:solidFill>
                <a:latin typeface="Segoe UI"/>
              </a:rPr>
              <a:t>Ein Fahrradständer sagt dir nichts und schützt nichts.</a:t>
            </a:r>
          </a:p>
        </p:txBody>
      </p:sp>
      <p:sp>
        <p:nvSpPr>
          <p:cNvPr id="4" name="Karte: Wo ist ein freier Platz?"/>
          <p:cNvSpPr/>
          <p:nvPr/>
        </p:nvSpPr>
        <p:spPr>
          <a:xfrm>
            <a:off x="762000" y="3040570"/>
            <a:ext cx="3416300" cy="2638044"/>
          </a:xfrm>
          <a:prstGeom prst="roundRect">
            <a:avLst>
              <a:gd name="adj" fmla="val 5777"/>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Wo ist ein freier Platz?</a:t>
            </a:r>
          </a:p>
          <a:p>
            <a:pPr algn="l">
              <a:lnSpc>
                <a:spcPct val="120000"/>
              </a:lnSpc>
              <a:spcBef>
                <a:spcPts val="0"/>
              </a:spcBef>
              <a:spcAft>
                <a:spcPts val="0"/>
              </a:spcAft>
            </a:pPr>
            <a:r>
              <a:rPr sz="1950" b="0" lang="de-DE">
                <a:solidFill>
                  <a:srgbClr val="4A5A52"/>
                </a:solidFill>
                <a:latin typeface="Segoe UI"/>
              </a:rPr>
              <a:t>Das merkst du erst, wenn du direkt davorstehst.</a:t>
            </a:r>
          </a:p>
        </p:txBody>
      </p:sp>
      <p:sp>
        <p:nvSpPr>
          <p:cNvPr id="5" name="Karte: Ist mein Rad noch sicher?"/>
          <p:cNvSpPr/>
          <p:nvPr/>
        </p:nvSpPr>
        <p:spPr>
          <a:xfrm>
            <a:off x="4387850" y="3040570"/>
            <a:ext cx="3416300" cy="2638044"/>
          </a:xfrm>
          <a:prstGeom prst="roundRect">
            <a:avLst>
              <a:gd name="adj" fmla="val 5777"/>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Ist mein Rad noch sicher?</a:t>
            </a:r>
          </a:p>
          <a:p>
            <a:pPr algn="l">
              <a:lnSpc>
                <a:spcPct val="120000"/>
              </a:lnSpc>
              <a:spcBef>
                <a:spcPts val="0"/>
              </a:spcBef>
              <a:spcAft>
                <a:spcPts val="0"/>
              </a:spcAft>
            </a:pPr>
            <a:r>
              <a:rPr sz="1950" b="0" lang="de-DE">
                <a:solidFill>
                  <a:srgbClr val="4A5A52"/>
                </a:solidFill>
                <a:latin typeface="Segoe UI"/>
              </a:rPr>
              <a:t>Ein Schloss hält Diebe auf, aber niemand bemerkt den Diebstahl.</a:t>
            </a:r>
          </a:p>
        </p:txBody>
      </p:sp>
      <p:sp>
        <p:nvSpPr>
          <p:cNvPr id="6" name="Karte: Wer hat hier geparkt?"/>
          <p:cNvSpPr/>
          <p:nvPr/>
        </p:nvSpPr>
        <p:spPr>
          <a:xfrm>
            <a:off x="8013700" y="3040570"/>
            <a:ext cx="3416300" cy="2638044"/>
          </a:xfrm>
          <a:prstGeom prst="roundRect">
            <a:avLst>
              <a:gd name="adj" fmla="val 5777"/>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Wer hat hier geparkt?</a:t>
            </a:r>
          </a:p>
          <a:p>
            <a:pPr algn="l">
              <a:lnSpc>
                <a:spcPct val="120000"/>
              </a:lnSpc>
              <a:spcBef>
                <a:spcPts val="0"/>
              </a:spcBef>
              <a:spcAft>
                <a:spcPts val="0"/>
              </a:spcAft>
            </a:pPr>
            <a:r>
              <a:rPr sz="1950" b="0" lang="de-DE">
                <a:solidFill>
                  <a:srgbClr val="4A5A52"/>
                </a:solidFill>
                <a:latin typeface="Segoe UI"/>
              </a:rPr>
              <a:t>Es gibt keine Verbindung zwischen einem Rad und seinem Besitzer.</a:t>
            </a:r>
          </a:p>
        </p:txBody>
      </p:sp>
      <p:sp>
        <p:nvSpPr>
          <p:cNvPr id="7"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6B7C73"/>
                </a:solidFill>
                <a:latin typeface="Segoe UI"/>
              </a:rPr>
              <a:t>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50"/>
                                        <p:tgtEl>
                                          <p:spTgt spid="4"/>
                                        </p:tgtEl>
                                      </p:cBhvr>
                                    </p:animEffect>
                                    <p:anim calcmode="lin" valueType="num">
                                      <p:cBhvr>
                                        <p:cTn id="15" dur="650" decel="100000" fill="hold"/>
                                        <p:tgtEl>
                                          <p:spTgt spid="4"/>
                                        </p:tgtEl>
                                        <p:attrNameLst>
                                          <p:attrName>ppt_x</p:attrName>
                                        </p:attrNameLst>
                                      </p:cBhvr>
                                      <p:tavLst>
                                        <p:tav tm="0">
                                          <p:val>
                                            <p:strVal val="#ppt_x"/>
                                          </p:val>
                                        </p:tav>
                                        <p:tav tm="100000">
                                          <p:val>
                                            <p:strVal val="#ppt_x"/>
                                          </p:val>
                                        </p:tav>
                                      </p:tavLst>
                                    </p:anim>
                                    <p:anim calcmode="lin" valueType="num">
                                      <p:cBhvr>
                                        <p:cTn id="16" dur="650" decel="100000" fill="hold"/>
                                        <p:tgtEl>
                                          <p:spTgt spid="4"/>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48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p:cTn id="20" dur="650" decel="100000" fill="hold"/>
                                        <p:tgtEl>
                                          <p:spTgt spid="5"/>
                                        </p:tgtEl>
                                        <p:attrNameLst>
                                          <p:attrName>ppt_x</p:attrName>
                                        </p:attrNameLst>
                                      </p:cBhvr>
                                      <p:tavLst>
                                        <p:tav tm="0">
                                          <p:val>
                                            <p:strVal val="#ppt_x"/>
                                          </p:val>
                                        </p:tav>
                                        <p:tav tm="100000">
                                          <p:val>
                                            <p:strVal val="#ppt_x"/>
                                          </p:val>
                                        </p:tav>
                                      </p:tavLst>
                                    </p:anim>
                                    <p:anim calcmode="lin" valueType="num">
                                      <p:cBhvr>
                                        <p:cTn id="21" dur="650" decel="100000" fill="hold"/>
                                        <p:tgtEl>
                                          <p:spTgt spid="5"/>
                                        </p:tgtEl>
                                        <p:attrNameLst>
                                          <p:attrName>ppt_y</p:attrName>
                                        </p:attrNameLst>
                                      </p:cBhvr>
                                      <p:tavLst>
                                        <p:tav tm="0">
                                          <p:val>
                                            <p:strVal val="#ppt_y+.05"/>
                                          </p:val>
                                        </p:tav>
                                        <p:tav tm="100000">
                                          <p:val>
                                            <p:strVal val="#ppt_y"/>
                                          </p:val>
                                        </p:tav>
                                      </p:tavLst>
                                    </p:anim>
                                  </p:childTnLst>
                                </p:cTn>
                              </p:par>
                              <p:par>
                                <p:cTn id="27" presetID="42" presetClass="entr" presetSubtype="0" fill="hold" grpId="0" nodeType="withEffect">
                                  <p:stCondLst>
                                    <p:cond delay="61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50"/>
                                        <p:tgtEl>
                                          <p:spTgt spid="6"/>
                                        </p:tgtEl>
                                      </p:cBhvr>
                                    </p:animEffect>
                                    <p:anim calcmode="lin" valueType="num">
                                      <p:cBhvr>
                                        <p:cTn id="25" dur="650" decel="100000" fill="hold"/>
                                        <p:tgtEl>
                                          <p:spTgt spid="6"/>
                                        </p:tgtEl>
                                        <p:attrNameLst>
                                          <p:attrName>ppt_x</p:attrName>
                                        </p:attrNameLst>
                                      </p:cBhvr>
                                      <p:tavLst>
                                        <p:tav tm="0">
                                          <p:val>
                                            <p:strVal val="#ppt_x"/>
                                          </p:val>
                                        </p:tav>
                                        <p:tav tm="100000">
                                          <p:val>
                                            <p:strVal val="#ppt_x"/>
                                          </p:val>
                                        </p:tav>
                                      </p:tavLst>
                                    </p:anim>
                                    <p:anim calcmode="lin" valueType="num">
                                      <p:cBhvr>
                                        <p:cTn id="26" dur="650" decel="100000" fill="hold"/>
                                        <p:tgtEl>
                                          <p:spTgt spid="6"/>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201B"/>
        </a:solidFill>
        <a:effectLst/>
      </p:bgPr>
    </p:bg>
    <p:spTree>
      <p:nvGrpSpPr>
        <p:cNvPr id="1" name=""/>
        <p:cNvGrpSpPr/>
        <p:nvPr/>
      </p:nvGrpSpPr>
      <p:grpSpPr/>
      <p:sp>
        <p:nvSpPr>
          <p:cNvPr id="2" name="Überzeile"/>
          <p:cNvSpPr txBox="1"/>
          <p:nvPr/>
        </p:nvSpPr>
        <p:spPr>
          <a:xfrm>
            <a:off x="762000" y="1189672"/>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3DDC84"/>
                </a:solidFill>
                <a:latin typeface="Segoe UI"/>
              </a:rPr>
              <a:t>UNSERE LÖSUNG</a:t>
            </a:r>
          </a:p>
        </p:txBody>
      </p:sp>
      <p:sp>
        <p:nvSpPr>
          <p:cNvPr id="3" name="Titel"/>
          <p:cNvSpPr txBox="1"/>
          <p:nvPr/>
        </p:nvSpPr>
        <p:spPr>
          <a:xfrm>
            <a:off x="762000" y="1488757"/>
            <a:ext cx="10668000" cy="125730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EEF3EC"/>
                </a:solidFill>
                <a:latin typeface="Segoe UI"/>
              </a:rPr>
              <a:t>Eine Station, die jeden Platz und jeden Besitzer kennt.</a:t>
            </a:r>
          </a:p>
        </p:txBody>
      </p:sp>
      <p:sp>
        <p:nvSpPr>
          <p:cNvPr id="4" name="Karte: 🔑 Zugang"/>
          <p:cNvSpPr/>
          <p:nvPr/>
        </p:nvSpPr>
        <p:spPr>
          <a:xfrm>
            <a:off x="762000" y="3050857"/>
            <a:ext cx="3416300" cy="2617470"/>
          </a:xfrm>
          <a:prstGeom prst="roundRect">
            <a:avLst>
              <a:gd name="adj" fmla="val 5822"/>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 Zugang</a:t>
            </a:r>
          </a:p>
          <a:p>
            <a:pPr algn="l">
              <a:lnSpc>
                <a:spcPct val="120000"/>
              </a:lnSpc>
              <a:spcBef>
                <a:spcPts val="0"/>
              </a:spcBef>
              <a:spcAft>
                <a:spcPts val="0"/>
              </a:spcAft>
            </a:pPr>
            <a:r>
              <a:rPr sz="1950" b="0" lang="de-DE">
                <a:solidFill>
                  <a:srgbClr val="C9D6CE"/>
                </a:solidFill>
                <a:latin typeface="Segoe UI"/>
              </a:rPr>
              <a:t>NFC-Chip oder Handy-App. Nur registrierte Konten kommen rein, ein Rad pro Konto.</a:t>
            </a:r>
          </a:p>
        </p:txBody>
      </p:sp>
      <p:sp>
        <p:nvSpPr>
          <p:cNvPr id="5" name="Karte: 💡 Führung"/>
          <p:cNvSpPr/>
          <p:nvPr/>
        </p:nvSpPr>
        <p:spPr>
          <a:xfrm>
            <a:off x="4387850" y="3050857"/>
            <a:ext cx="3416300" cy="2617470"/>
          </a:xfrm>
          <a:prstGeom prst="roundRect">
            <a:avLst>
              <a:gd name="adj" fmla="val 5822"/>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 Führung</a:t>
            </a:r>
          </a:p>
          <a:p>
            <a:pPr algn="l">
              <a:lnSpc>
                <a:spcPct val="120000"/>
              </a:lnSpc>
              <a:spcBef>
                <a:spcPts val="0"/>
              </a:spcBef>
              <a:spcAft>
                <a:spcPts val="0"/>
              </a:spcAft>
            </a:pPr>
            <a:r>
              <a:rPr sz="1950" b="0" lang="de-DE">
                <a:solidFill>
                  <a:srgbClr val="C9D6CE"/>
                </a:solidFill>
                <a:latin typeface="Segoe UI"/>
              </a:rPr>
              <a:t>Dein Platz leuchtet auf, das Display begrüßt dich, das Tor öffnet sich.</a:t>
            </a:r>
          </a:p>
        </p:txBody>
      </p:sp>
      <p:sp>
        <p:nvSpPr>
          <p:cNvPr id="6" name="Karte: 🚨 Schutz"/>
          <p:cNvSpPr/>
          <p:nvPr/>
        </p:nvSpPr>
        <p:spPr>
          <a:xfrm>
            <a:off x="8013700" y="3050857"/>
            <a:ext cx="3416300" cy="2617470"/>
          </a:xfrm>
          <a:prstGeom prst="roundRect">
            <a:avLst>
              <a:gd name="adj" fmla="val 5822"/>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 Schutz</a:t>
            </a:r>
          </a:p>
          <a:p>
            <a:pPr algn="l">
              <a:lnSpc>
                <a:spcPct val="120000"/>
              </a:lnSpc>
              <a:spcBef>
                <a:spcPts val="0"/>
              </a:spcBef>
              <a:spcAft>
                <a:spcPts val="0"/>
              </a:spcAft>
            </a:pPr>
            <a:r>
              <a:rPr sz="1950" b="0" lang="de-DE">
                <a:solidFill>
                  <a:srgbClr val="C9D6CE"/>
                </a:solidFill>
                <a:latin typeface="Segoe UI"/>
              </a:rPr>
              <a:t>Ein Rad verschwindet ohne seinen Besitzer? Alarm, und die Station sperrt sich.</a:t>
            </a:r>
          </a:p>
        </p:txBody>
      </p:sp>
      <p:sp>
        <p:nvSpPr>
          <p:cNvPr id="7"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8FA89A"/>
                </a:solidFill>
                <a:latin typeface="Segoe UI"/>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50"/>
                                        <p:tgtEl>
                                          <p:spTgt spid="4"/>
                                        </p:tgtEl>
                                      </p:cBhvr>
                                    </p:animEffect>
                                    <p:anim calcmode="lin" valueType="num">
                                      <p:cBhvr>
                                        <p:cTn id="15" dur="650" decel="100000" fill="hold"/>
                                        <p:tgtEl>
                                          <p:spTgt spid="4"/>
                                        </p:tgtEl>
                                        <p:attrNameLst>
                                          <p:attrName>ppt_x</p:attrName>
                                        </p:attrNameLst>
                                      </p:cBhvr>
                                      <p:tavLst>
                                        <p:tav tm="0">
                                          <p:val>
                                            <p:strVal val="#ppt_x"/>
                                          </p:val>
                                        </p:tav>
                                        <p:tav tm="100000">
                                          <p:val>
                                            <p:strVal val="#ppt_x"/>
                                          </p:val>
                                        </p:tav>
                                      </p:tavLst>
                                    </p:anim>
                                    <p:anim calcmode="lin" valueType="num">
                                      <p:cBhvr>
                                        <p:cTn id="16" dur="650" decel="100000" fill="hold"/>
                                        <p:tgtEl>
                                          <p:spTgt spid="4"/>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48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p:cTn id="20" dur="650" decel="100000" fill="hold"/>
                                        <p:tgtEl>
                                          <p:spTgt spid="5"/>
                                        </p:tgtEl>
                                        <p:attrNameLst>
                                          <p:attrName>ppt_x</p:attrName>
                                        </p:attrNameLst>
                                      </p:cBhvr>
                                      <p:tavLst>
                                        <p:tav tm="0">
                                          <p:val>
                                            <p:strVal val="#ppt_x"/>
                                          </p:val>
                                        </p:tav>
                                        <p:tav tm="100000">
                                          <p:val>
                                            <p:strVal val="#ppt_x"/>
                                          </p:val>
                                        </p:tav>
                                      </p:tavLst>
                                    </p:anim>
                                    <p:anim calcmode="lin" valueType="num">
                                      <p:cBhvr>
                                        <p:cTn id="21" dur="650" decel="100000" fill="hold"/>
                                        <p:tgtEl>
                                          <p:spTgt spid="5"/>
                                        </p:tgtEl>
                                        <p:attrNameLst>
                                          <p:attrName>ppt_y</p:attrName>
                                        </p:attrNameLst>
                                      </p:cBhvr>
                                      <p:tavLst>
                                        <p:tav tm="0">
                                          <p:val>
                                            <p:strVal val="#ppt_y+.05"/>
                                          </p:val>
                                        </p:tav>
                                        <p:tav tm="100000">
                                          <p:val>
                                            <p:strVal val="#ppt_y"/>
                                          </p:val>
                                        </p:tav>
                                      </p:tavLst>
                                    </p:anim>
                                  </p:childTnLst>
                                </p:cTn>
                              </p:par>
                              <p:par>
                                <p:cTn id="27" presetID="42" presetClass="entr" presetSubtype="0" fill="hold" grpId="0" nodeType="withEffect">
                                  <p:stCondLst>
                                    <p:cond delay="61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50"/>
                                        <p:tgtEl>
                                          <p:spTgt spid="6"/>
                                        </p:tgtEl>
                                      </p:cBhvr>
                                    </p:animEffect>
                                    <p:anim calcmode="lin" valueType="num">
                                      <p:cBhvr>
                                        <p:cTn id="25" dur="650" decel="100000" fill="hold"/>
                                        <p:tgtEl>
                                          <p:spTgt spid="6"/>
                                        </p:tgtEl>
                                        <p:attrNameLst>
                                          <p:attrName>ppt_x</p:attrName>
                                        </p:attrNameLst>
                                      </p:cBhvr>
                                      <p:tavLst>
                                        <p:tav tm="0">
                                          <p:val>
                                            <p:strVal val="#ppt_x"/>
                                          </p:val>
                                        </p:tav>
                                        <p:tav tm="100000">
                                          <p:val>
                                            <p:strVal val="#ppt_x"/>
                                          </p:val>
                                        </p:tav>
                                      </p:tavLst>
                                    </p:anim>
                                    <p:anim calcmode="lin" valueType="num">
                                      <p:cBhvr>
                                        <p:cTn id="26" dur="650" decel="100000" fill="hold"/>
                                        <p:tgtEl>
                                          <p:spTgt spid="6"/>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5EF"/>
        </a:solidFill>
        <a:effectLst/>
      </p:bgPr>
    </p:bg>
    <p:spTree>
      <p:nvGrpSpPr>
        <p:cNvPr id="1" name=""/>
        <p:cNvGrpSpPr/>
        <p:nvPr/>
      </p:nvGrpSpPr>
      <p:grpSpPr/>
      <p:sp>
        <p:nvSpPr>
          <p:cNvPr id="2" name="Überzeile"/>
          <p:cNvSpPr txBox="1"/>
          <p:nvPr/>
        </p:nvSpPr>
        <p:spPr>
          <a:xfrm>
            <a:off x="762000" y="961453"/>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1B7F4B"/>
                </a:solidFill>
                <a:latin typeface="Segoe UI"/>
              </a:rPr>
              <a:t>LIVE-DEMO</a:t>
            </a:r>
          </a:p>
        </p:txBody>
      </p:sp>
      <p:sp>
        <p:nvSpPr>
          <p:cNvPr id="3" name="Titel"/>
          <p:cNvSpPr txBox="1"/>
          <p:nvPr/>
        </p:nvSpPr>
        <p:spPr>
          <a:xfrm>
            <a:off x="762000" y="1260538"/>
            <a:ext cx="10668000" cy="62865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17241F"/>
                </a:solidFill>
                <a:latin typeface="Segoe UI"/>
              </a:rPr>
              <a:t>Eine Person, drei Momente</a:t>
            </a:r>
          </a:p>
        </p:txBody>
      </p:sp>
      <p:sp>
        <p:nvSpPr>
          <p:cNvPr id="4" name="Karte: 1 · Parken"/>
          <p:cNvSpPr/>
          <p:nvPr/>
        </p:nvSpPr>
        <p:spPr>
          <a:xfrm>
            <a:off x="762000" y="2193988"/>
            <a:ext cx="3416300" cy="3702558"/>
          </a:xfrm>
          <a:prstGeom prst="roundRect">
            <a:avLst>
              <a:gd name="adj" fmla="val 4460"/>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1 · Parken</a:t>
            </a:r>
          </a:p>
          <a:p>
            <a:pPr algn="l" marL="228600" indent="-203200">
              <a:lnSpc>
                <a:spcPct val="120000"/>
              </a:lnSpc>
              <a:spcBef>
                <a:spcPts val="300"/>
              </a:spcBef>
              <a:spcAft>
                <a:spcPts val="0"/>
              </a:spcAft>
              <a:buClr>
                <a:srgbClr val="4A5A52"/>
              </a:buClr>
              <a:buFont typeface="+mj-lt"/>
              <a:buAutoNum type="arabicPeriod"/>
            </a:pPr>
            <a:r>
              <a:rPr sz="1650" b="0" lang="de-DE">
                <a:solidFill>
                  <a:srgbClr val="4A5A52"/>
                </a:solidFill>
                <a:latin typeface="Segoe UI"/>
              </a:rPr>
              <a:t>Chip auflegen oder in der App </a:t>
            </a:r>
            <a:r>
              <a:rPr sz="1650" b="0" lang="de-DE" i="1">
                <a:solidFill>
                  <a:srgbClr val="4A5A52"/>
                </a:solidFill>
                <a:latin typeface="Segoe UI"/>
              </a:rPr>
              <a:t>Einparken</a:t>
            </a:r>
            <a:r>
              <a:rPr sz="1650" b="0" lang="de-DE">
                <a:solidFill>
                  <a:srgbClr val="4A5A52"/>
                </a:solidFill>
                <a:latin typeface="Segoe UI"/>
              </a:rPr>
              <a:t> tippen</a:t>
            </a:r>
          </a:p>
          <a:p>
            <a:pPr algn="l" marL="228600" indent="-203200">
              <a:lnSpc>
                <a:spcPct val="120000"/>
              </a:lnSpc>
              <a:spcBef>
                <a:spcPts val="300"/>
              </a:spcBef>
              <a:spcAft>
                <a:spcPts val="0"/>
              </a:spcAft>
              <a:buClr>
                <a:srgbClr val="4A5A52"/>
              </a:buClr>
              <a:buFont typeface="+mj-lt"/>
              <a:buAutoNum type="arabicPeriod"/>
            </a:pPr>
            <a:r>
              <a:rPr sz="1650" b="0" lang="de-DE">
                <a:solidFill>
                  <a:srgbClr val="4A5A52"/>
                </a:solidFill>
                <a:latin typeface="Segoe UI"/>
              </a:rPr>
              <a:t>Display: „Park at Slot 2“, der Slot blinkt blau</a:t>
            </a:r>
          </a:p>
          <a:p>
            <a:pPr algn="l" marL="228600" indent="-203200">
              <a:lnSpc>
                <a:spcPct val="120000"/>
              </a:lnSpc>
              <a:spcBef>
                <a:spcPts val="300"/>
              </a:spcBef>
              <a:spcAft>
                <a:spcPts val="0"/>
              </a:spcAft>
              <a:buClr>
                <a:srgbClr val="4A5A52"/>
              </a:buClr>
              <a:buFont typeface="+mj-lt"/>
              <a:buAutoNum type="arabicPeriod"/>
            </a:pPr>
            <a:r>
              <a:rPr sz="1650" b="0" lang="de-DE">
                <a:solidFill>
                  <a:srgbClr val="4A5A52"/>
                </a:solidFill>
                <a:latin typeface="Segoe UI"/>
              </a:rPr>
              <a:t>Das Tor öffnet sich</a:t>
            </a:r>
          </a:p>
          <a:p>
            <a:pPr algn="l" marL="228600" indent="-203200">
              <a:lnSpc>
                <a:spcPct val="120000"/>
              </a:lnSpc>
              <a:spcBef>
                <a:spcPts val="300"/>
              </a:spcBef>
              <a:spcAft>
                <a:spcPts val="0"/>
              </a:spcAft>
              <a:buClr>
                <a:srgbClr val="4A5A52"/>
              </a:buClr>
              <a:buFont typeface="+mj-lt"/>
              <a:buAutoNum type="arabicPeriod"/>
            </a:pPr>
            <a:r>
              <a:rPr sz="1650" b="0" lang="de-DE">
                <a:solidFill>
                  <a:srgbClr val="4A5A52"/>
                </a:solidFill>
                <a:latin typeface="Segoe UI"/>
              </a:rPr>
              <a:t>Rad steht: „Secured“, das Tor schließt</a:t>
            </a:r>
          </a:p>
        </p:txBody>
      </p:sp>
      <p:sp>
        <p:nvSpPr>
          <p:cNvPr id="5" name="Karte: 2 · Abholen"/>
          <p:cNvSpPr/>
          <p:nvPr/>
        </p:nvSpPr>
        <p:spPr>
          <a:xfrm>
            <a:off x="4387850" y="2193988"/>
            <a:ext cx="3416300" cy="3702558"/>
          </a:xfrm>
          <a:prstGeom prst="roundRect">
            <a:avLst>
              <a:gd name="adj" fmla="val 4460"/>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2 · Abholen</a:t>
            </a:r>
          </a:p>
          <a:p>
            <a:pPr algn="l" marL="228600" indent="-203200">
              <a:lnSpc>
                <a:spcPct val="120000"/>
              </a:lnSpc>
              <a:spcBef>
                <a:spcPts val="300"/>
              </a:spcBef>
              <a:spcAft>
                <a:spcPts val="0"/>
              </a:spcAft>
              <a:buClr>
                <a:srgbClr val="4A5A52"/>
              </a:buClr>
              <a:buFont typeface="+mj-lt"/>
              <a:buAutoNum type="arabicPeriod"/>
            </a:pPr>
            <a:r>
              <a:rPr sz="1650" b="0" lang="de-DE">
                <a:solidFill>
                  <a:srgbClr val="4A5A52"/>
                </a:solidFill>
                <a:latin typeface="Segoe UI"/>
              </a:rPr>
              <a:t>Chip erneut auflegen</a:t>
            </a:r>
          </a:p>
          <a:p>
            <a:pPr algn="l" marL="228600" indent="-203200">
              <a:lnSpc>
                <a:spcPct val="120000"/>
              </a:lnSpc>
              <a:spcBef>
                <a:spcPts val="300"/>
              </a:spcBef>
              <a:spcAft>
                <a:spcPts val="0"/>
              </a:spcAft>
              <a:buClr>
                <a:srgbClr val="4A5A52"/>
              </a:buClr>
              <a:buFont typeface="+mj-lt"/>
              <a:buAutoNum type="arabicPeriod"/>
            </a:pPr>
            <a:r>
              <a:rPr sz="1650" b="0" lang="de-DE">
                <a:solidFill>
                  <a:srgbClr val="4A5A52"/>
                </a:solidFill>
                <a:latin typeface="Segoe UI"/>
              </a:rPr>
              <a:t>Dein Slot blinkt blau</a:t>
            </a:r>
          </a:p>
          <a:p>
            <a:pPr algn="l" marL="228600" indent="-203200">
              <a:lnSpc>
                <a:spcPct val="120000"/>
              </a:lnSpc>
              <a:spcBef>
                <a:spcPts val="300"/>
              </a:spcBef>
              <a:spcAft>
                <a:spcPts val="0"/>
              </a:spcAft>
              <a:buClr>
                <a:srgbClr val="4A5A52"/>
              </a:buClr>
              <a:buFont typeface="+mj-lt"/>
              <a:buAutoNum type="arabicPeriod"/>
            </a:pPr>
            <a:r>
              <a:rPr sz="1650" b="0" lang="de-DE">
                <a:solidFill>
                  <a:srgbClr val="4A5A52"/>
                </a:solidFill>
                <a:latin typeface="Segoe UI"/>
              </a:rPr>
              <a:t>Tor öffnet sich, Rad herausnehmen</a:t>
            </a:r>
          </a:p>
          <a:p>
            <a:pPr algn="l" marL="228600" indent="-203200">
              <a:lnSpc>
                <a:spcPct val="120000"/>
              </a:lnSpc>
              <a:spcBef>
                <a:spcPts val="300"/>
              </a:spcBef>
              <a:spcAft>
                <a:spcPts val="0"/>
              </a:spcAft>
              <a:buClr>
                <a:srgbClr val="4A5A52"/>
              </a:buClr>
              <a:buFont typeface="+mj-lt"/>
              <a:buAutoNum type="arabicPeriod"/>
            </a:pPr>
            <a:r>
              <a:rPr sz="1650" b="0" lang="de-DE">
                <a:solidFill>
                  <a:srgbClr val="4A5A52"/>
                </a:solidFill>
                <a:latin typeface="Segoe UI"/>
              </a:rPr>
              <a:t>Slot leer: Tor bleibt 5 s zum Hinausgehen offen</a:t>
            </a:r>
          </a:p>
        </p:txBody>
      </p:sp>
      <p:sp>
        <p:nvSpPr>
          <p:cNvPr id="6" name="Karte: 3 · Diebstahl"/>
          <p:cNvSpPr/>
          <p:nvPr/>
        </p:nvSpPr>
        <p:spPr>
          <a:xfrm>
            <a:off x="8013700" y="2193988"/>
            <a:ext cx="3416300" cy="3702558"/>
          </a:xfrm>
          <a:prstGeom prst="roundRect">
            <a:avLst>
              <a:gd name="adj" fmla="val 4460"/>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3 · Diebstahl</a:t>
            </a:r>
          </a:p>
          <a:p>
            <a:pPr algn="l" marL="228600" indent="-203200">
              <a:lnSpc>
                <a:spcPct val="120000"/>
              </a:lnSpc>
              <a:spcBef>
                <a:spcPts val="300"/>
              </a:spcBef>
              <a:spcAft>
                <a:spcPts val="0"/>
              </a:spcAft>
              <a:buClr>
                <a:srgbClr val="4A5A52"/>
              </a:buClr>
              <a:buFont typeface="+mj-lt"/>
              <a:buAutoNum type="arabicPeriod"/>
            </a:pPr>
            <a:r>
              <a:rPr sz="1650" b="0" lang="de-DE">
                <a:solidFill>
                  <a:srgbClr val="4A5A52"/>
                </a:solidFill>
                <a:latin typeface="Segoe UI"/>
              </a:rPr>
              <a:t>Ein gesichertes Rad verschwindet ohne Abholung</a:t>
            </a:r>
          </a:p>
          <a:p>
            <a:pPr algn="l" marL="228600" indent="-203200">
              <a:lnSpc>
                <a:spcPct val="120000"/>
              </a:lnSpc>
              <a:spcBef>
                <a:spcPts val="300"/>
              </a:spcBef>
              <a:spcAft>
                <a:spcPts val="0"/>
              </a:spcAft>
              <a:buClr>
                <a:srgbClr val="4A5A52"/>
              </a:buClr>
              <a:buFont typeface="+mj-lt"/>
              <a:buAutoNum type="arabicPeriod"/>
            </a:pPr>
            <a:r>
              <a:rPr sz="1650" b="0" lang="de-DE">
                <a:solidFill>
                  <a:srgbClr val="4A5A52"/>
                </a:solidFill>
                <a:latin typeface="Segoe UI"/>
              </a:rPr>
              <a:t>Slot blinkt rot, das Tor schließt</a:t>
            </a:r>
          </a:p>
          <a:p>
            <a:pPr algn="l" marL="228600" indent="-203200">
              <a:lnSpc>
                <a:spcPct val="120000"/>
              </a:lnSpc>
              <a:spcBef>
                <a:spcPts val="300"/>
              </a:spcBef>
              <a:spcAft>
                <a:spcPts val="0"/>
              </a:spcAft>
              <a:buClr>
                <a:srgbClr val="4A5A52"/>
              </a:buClr>
              <a:buFont typeface="+mj-lt"/>
              <a:buAutoNum type="arabicPeriod"/>
            </a:pPr>
            <a:r>
              <a:rPr sz="1650" b="0" lang="de-DE">
                <a:solidFill>
                  <a:srgbClr val="4A5A52"/>
                </a:solidFill>
                <a:latin typeface="Segoe UI"/>
              </a:rPr>
              <a:t>Jeder Chip und jede App wird abgewiesen</a:t>
            </a:r>
          </a:p>
          <a:p>
            <a:pPr algn="l" marL="228600" indent="-203200">
              <a:lnSpc>
                <a:spcPct val="120000"/>
              </a:lnSpc>
              <a:spcBef>
                <a:spcPts val="300"/>
              </a:spcBef>
              <a:spcAft>
                <a:spcPts val="0"/>
              </a:spcAft>
              <a:buClr>
                <a:srgbClr val="4A5A52"/>
              </a:buClr>
              <a:buFont typeface="+mj-lt"/>
              <a:buAutoNum type="arabicPeriod"/>
            </a:pPr>
            <a:r>
              <a:rPr sz="1650" b="0" lang="de-DE">
                <a:solidFill>
                  <a:srgbClr val="4A5A52"/>
                </a:solidFill>
                <a:latin typeface="Segoe UI"/>
              </a:rPr>
              <a:t>Ein Admin hebt die Sperre im Dashboard auf</a:t>
            </a:r>
          </a:p>
        </p:txBody>
      </p:sp>
      <p:sp>
        <p:nvSpPr>
          <p:cNvPr id="7"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6B7C73"/>
                </a:solidFill>
                <a:latin typeface="Segoe UI"/>
              </a:rPr>
              <a:t>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50"/>
                                        <p:tgtEl>
                                          <p:spTgt spid="4"/>
                                        </p:tgtEl>
                                      </p:cBhvr>
                                    </p:animEffect>
                                    <p:anim calcmode="lin" valueType="num">
                                      <p:cBhvr>
                                        <p:cTn id="15" dur="650" decel="100000" fill="hold"/>
                                        <p:tgtEl>
                                          <p:spTgt spid="4"/>
                                        </p:tgtEl>
                                        <p:attrNameLst>
                                          <p:attrName>ppt_x</p:attrName>
                                        </p:attrNameLst>
                                      </p:cBhvr>
                                      <p:tavLst>
                                        <p:tav tm="0">
                                          <p:val>
                                            <p:strVal val="#ppt_x"/>
                                          </p:val>
                                        </p:tav>
                                        <p:tav tm="100000">
                                          <p:val>
                                            <p:strVal val="#ppt_x"/>
                                          </p:val>
                                        </p:tav>
                                      </p:tavLst>
                                    </p:anim>
                                    <p:anim calcmode="lin" valueType="num">
                                      <p:cBhvr>
                                        <p:cTn id="16" dur="650" decel="100000" fill="hold"/>
                                        <p:tgtEl>
                                          <p:spTgt spid="4"/>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48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p:cTn id="20" dur="650" decel="100000" fill="hold"/>
                                        <p:tgtEl>
                                          <p:spTgt spid="5"/>
                                        </p:tgtEl>
                                        <p:attrNameLst>
                                          <p:attrName>ppt_x</p:attrName>
                                        </p:attrNameLst>
                                      </p:cBhvr>
                                      <p:tavLst>
                                        <p:tav tm="0">
                                          <p:val>
                                            <p:strVal val="#ppt_x"/>
                                          </p:val>
                                        </p:tav>
                                        <p:tav tm="100000">
                                          <p:val>
                                            <p:strVal val="#ppt_x"/>
                                          </p:val>
                                        </p:tav>
                                      </p:tavLst>
                                    </p:anim>
                                    <p:anim calcmode="lin" valueType="num">
                                      <p:cBhvr>
                                        <p:cTn id="21" dur="650" decel="100000" fill="hold"/>
                                        <p:tgtEl>
                                          <p:spTgt spid="5"/>
                                        </p:tgtEl>
                                        <p:attrNameLst>
                                          <p:attrName>ppt_y</p:attrName>
                                        </p:attrNameLst>
                                      </p:cBhvr>
                                      <p:tavLst>
                                        <p:tav tm="0">
                                          <p:val>
                                            <p:strVal val="#ppt_y+.05"/>
                                          </p:val>
                                        </p:tav>
                                        <p:tav tm="100000">
                                          <p:val>
                                            <p:strVal val="#ppt_y"/>
                                          </p:val>
                                        </p:tav>
                                      </p:tavLst>
                                    </p:anim>
                                  </p:childTnLst>
                                </p:cTn>
                              </p:par>
                              <p:par>
                                <p:cTn id="27" presetID="42" presetClass="entr" presetSubtype="0" fill="hold" grpId="0" nodeType="withEffect">
                                  <p:stCondLst>
                                    <p:cond delay="61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50"/>
                                        <p:tgtEl>
                                          <p:spTgt spid="6"/>
                                        </p:tgtEl>
                                      </p:cBhvr>
                                    </p:animEffect>
                                    <p:anim calcmode="lin" valueType="num">
                                      <p:cBhvr>
                                        <p:cTn id="25" dur="650" decel="100000" fill="hold"/>
                                        <p:tgtEl>
                                          <p:spTgt spid="6"/>
                                        </p:tgtEl>
                                        <p:attrNameLst>
                                          <p:attrName>ppt_x</p:attrName>
                                        </p:attrNameLst>
                                      </p:cBhvr>
                                      <p:tavLst>
                                        <p:tav tm="0">
                                          <p:val>
                                            <p:strVal val="#ppt_x"/>
                                          </p:val>
                                        </p:tav>
                                        <p:tav tm="100000">
                                          <p:val>
                                            <p:strVal val="#ppt_x"/>
                                          </p:val>
                                        </p:tav>
                                      </p:tavLst>
                                    </p:anim>
                                    <p:anim calcmode="lin" valueType="num">
                                      <p:cBhvr>
                                        <p:cTn id="26" dur="650" decel="100000" fill="hold"/>
                                        <p:tgtEl>
                                          <p:spTgt spid="6"/>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201B"/>
        </a:solidFill>
        <a:effectLst/>
      </p:bgPr>
    </p:bg>
    <p:spTree>
      <p:nvGrpSpPr>
        <p:cNvPr id="1" name=""/>
        <p:cNvGrpSpPr/>
        <p:nvPr/>
      </p:nvGrpSpPr>
      <p:grpSpPr/>
      <p:sp>
        <p:nvSpPr>
          <p:cNvPr id="2" name="Überzeile"/>
          <p:cNvSpPr txBox="1"/>
          <p:nvPr/>
        </p:nvSpPr>
        <p:spPr>
          <a:xfrm>
            <a:off x="762000" y="625411"/>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3DDC84"/>
                </a:solidFill>
                <a:latin typeface="Segoe UI"/>
              </a:rPr>
              <a:t>INNOVATION</a:t>
            </a:r>
          </a:p>
        </p:txBody>
      </p:sp>
      <p:sp>
        <p:nvSpPr>
          <p:cNvPr id="3" name="Titel"/>
          <p:cNvSpPr txBox="1"/>
          <p:nvPr/>
        </p:nvSpPr>
        <p:spPr>
          <a:xfrm>
            <a:off x="762000" y="924496"/>
            <a:ext cx="10668000" cy="62865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EEF3EC"/>
                </a:solidFill>
                <a:latin typeface="Segoe UI"/>
              </a:rPr>
              <a:t>Was uns unterscheidet</a:t>
            </a:r>
          </a:p>
        </p:txBody>
      </p:sp>
      <p:sp>
        <p:nvSpPr>
          <p:cNvPr id="4" name="Karte: Ein Weg für Chip und Handy"/>
          <p:cNvSpPr/>
          <p:nvPr/>
        </p:nvSpPr>
        <p:spPr>
          <a:xfrm>
            <a:off x="762000" y="1857946"/>
            <a:ext cx="5229225" cy="2260854"/>
          </a:xfrm>
          <a:prstGeom prst="roundRect">
            <a:avLst>
              <a:gd name="adj" fmla="val 6740"/>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Ein Weg für Chip und Handy</a:t>
            </a:r>
          </a:p>
          <a:p>
            <a:pPr algn="l">
              <a:lnSpc>
                <a:spcPct val="120000"/>
              </a:lnSpc>
              <a:spcBef>
                <a:spcPts val="0"/>
              </a:spcBef>
              <a:spcAft>
                <a:spcPts val="0"/>
              </a:spcAft>
            </a:pPr>
            <a:r>
              <a:rPr sz="1950" b="0" lang="de-DE">
                <a:solidFill>
                  <a:srgbClr val="C9D6CE"/>
                </a:solidFill>
                <a:latin typeface="Segoe UI"/>
              </a:rPr>
              <a:t>Die App löst genau dasselbe aus wie ein Chip. Für beide gelten also exakt dieselben Regeln.</a:t>
            </a:r>
          </a:p>
        </p:txBody>
      </p:sp>
      <p:sp>
        <p:nvSpPr>
          <p:cNvPr id="5" name="Karte: Alarm ohne Fehlalarm"/>
          <p:cNvSpPr/>
          <p:nvPr/>
        </p:nvSpPr>
        <p:spPr>
          <a:xfrm>
            <a:off x="6200775" y="1857946"/>
            <a:ext cx="5229225" cy="2260854"/>
          </a:xfrm>
          <a:prstGeom prst="roundRect">
            <a:avLst>
              <a:gd name="adj" fmla="val 6740"/>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Alarm ohne Fehlalarm</a:t>
            </a:r>
          </a:p>
          <a:p>
            <a:pPr algn="l">
              <a:lnSpc>
                <a:spcPct val="120000"/>
              </a:lnSpc>
              <a:spcBef>
                <a:spcPts val="0"/>
              </a:spcBef>
              <a:spcAft>
                <a:spcPts val="0"/>
              </a:spcAft>
            </a:pPr>
            <a:r>
              <a:rPr sz="1950" b="0" lang="de-DE">
                <a:solidFill>
                  <a:srgbClr val="C9D6CE"/>
                </a:solidFill>
                <a:latin typeface="Segoe UI"/>
              </a:rPr>
              <a:t>Bewacht werden nur Räder, die über eine Reservierung gesichert wurden. Testobjekte und defekte Sensoren lösen nie aus.</a:t>
            </a:r>
          </a:p>
        </p:txBody>
      </p:sp>
      <p:sp>
        <p:nvSpPr>
          <p:cNvPr id="6" name="Karte: Die Station schützt sich selbst"/>
          <p:cNvSpPr/>
          <p:nvPr/>
        </p:nvSpPr>
        <p:spPr>
          <a:xfrm>
            <a:off x="762000" y="4328350"/>
            <a:ext cx="5229225" cy="1904238"/>
          </a:xfrm>
          <a:prstGeom prst="roundRect">
            <a:avLst>
              <a:gd name="adj" fmla="val 8003"/>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Die Station schützt sich selbst</a:t>
            </a:r>
          </a:p>
          <a:p>
            <a:pPr algn="l">
              <a:lnSpc>
                <a:spcPct val="120000"/>
              </a:lnSpc>
              <a:spcBef>
                <a:spcPts val="0"/>
              </a:spcBef>
              <a:spcAft>
                <a:spcPts val="0"/>
              </a:spcAft>
            </a:pPr>
            <a:r>
              <a:rPr sz="1950" b="0" lang="de-DE">
                <a:solidFill>
                  <a:srgbClr val="C9D6CE"/>
                </a:solidFill>
                <a:latin typeface="Segoe UI"/>
              </a:rPr>
              <a:t>Ein Diebstahl sperrt jeden Zugang, bis ein Admin ihn freigibt, auch über Neustarts hinweg.</a:t>
            </a:r>
          </a:p>
        </p:txBody>
      </p:sp>
      <p:sp>
        <p:nvSpPr>
          <p:cNvPr id="7" name="Karte: Sie lernt, wann es voll wird"/>
          <p:cNvSpPr/>
          <p:nvPr/>
        </p:nvSpPr>
        <p:spPr>
          <a:xfrm>
            <a:off x="6200775" y="4328350"/>
            <a:ext cx="5229225" cy="1904238"/>
          </a:xfrm>
          <a:prstGeom prst="roundRect">
            <a:avLst>
              <a:gd name="adj" fmla="val 8003"/>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Sie lernt, wann es voll wird</a:t>
            </a:r>
          </a:p>
          <a:p>
            <a:pPr algn="l">
              <a:lnSpc>
                <a:spcPct val="120000"/>
              </a:lnSpc>
              <a:spcBef>
                <a:spcPts val="0"/>
              </a:spcBef>
              <a:spcAft>
                <a:spcPts val="0"/>
              </a:spcAft>
            </a:pPr>
            <a:r>
              <a:rPr sz="1950" b="0" lang="de-DE">
                <a:solidFill>
                  <a:srgbClr val="C9D6CE"/>
                </a:solidFill>
                <a:latin typeface="Segoe UI"/>
              </a:rPr>
              <a:t>Eine stündliche Auslastungsprognose aus echten Sensordaten, auf Deutsch, Englisch und Niederländisch.</a:t>
            </a:r>
          </a:p>
        </p:txBody>
      </p:sp>
      <p:sp>
        <p:nvSpPr>
          <p:cNvPr id="8"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8FA89A"/>
                </a:solidFill>
                <a:latin typeface="Segoe UI"/>
              </a:rPr>
              <a:t>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50"/>
                                        <p:tgtEl>
                                          <p:spTgt spid="4"/>
                                        </p:tgtEl>
                                      </p:cBhvr>
                                    </p:animEffect>
                                    <p:anim calcmode="lin" valueType="num">
                                      <p:cBhvr>
                                        <p:cTn id="15" dur="650" decel="100000" fill="hold"/>
                                        <p:tgtEl>
                                          <p:spTgt spid="4"/>
                                        </p:tgtEl>
                                        <p:attrNameLst>
                                          <p:attrName>ppt_x</p:attrName>
                                        </p:attrNameLst>
                                      </p:cBhvr>
                                      <p:tavLst>
                                        <p:tav tm="0">
                                          <p:val>
                                            <p:strVal val="#ppt_x"/>
                                          </p:val>
                                        </p:tav>
                                        <p:tav tm="100000">
                                          <p:val>
                                            <p:strVal val="#ppt_x"/>
                                          </p:val>
                                        </p:tav>
                                      </p:tavLst>
                                    </p:anim>
                                    <p:anim calcmode="lin" valueType="num">
                                      <p:cBhvr>
                                        <p:cTn id="16" dur="650" decel="100000" fill="hold"/>
                                        <p:tgtEl>
                                          <p:spTgt spid="4"/>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48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p:cTn id="20" dur="650" decel="100000" fill="hold"/>
                                        <p:tgtEl>
                                          <p:spTgt spid="5"/>
                                        </p:tgtEl>
                                        <p:attrNameLst>
                                          <p:attrName>ppt_x</p:attrName>
                                        </p:attrNameLst>
                                      </p:cBhvr>
                                      <p:tavLst>
                                        <p:tav tm="0">
                                          <p:val>
                                            <p:strVal val="#ppt_x"/>
                                          </p:val>
                                        </p:tav>
                                        <p:tav tm="100000">
                                          <p:val>
                                            <p:strVal val="#ppt_x"/>
                                          </p:val>
                                        </p:tav>
                                      </p:tavLst>
                                    </p:anim>
                                    <p:anim calcmode="lin" valueType="num">
                                      <p:cBhvr>
                                        <p:cTn id="21" dur="650" decel="100000" fill="hold"/>
                                        <p:tgtEl>
                                          <p:spTgt spid="5"/>
                                        </p:tgtEl>
                                        <p:attrNameLst>
                                          <p:attrName>ppt_y</p:attrName>
                                        </p:attrNameLst>
                                      </p:cBhvr>
                                      <p:tavLst>
                                        <p:tav tm="0">
                                          <p:val>
                                            <p:strVal val="#ppt_y+.05"/>
                                          </p:val>
                                        </p:tav>
                                        <p:tav tm="100000">
                                          <p:val>
                                            <p:strVal val="#ppt_y"/>
                                          </p:val>
                                        </p:tav>
                                      </p:tavLst>
                                    </p:anim>
                                  </p:childTnLst>
                                </p:cTn>
                              </p:par>
                              <p:par>
                                <p:cTn id="27" presetID="42" presetClass="entr" presetSubtype="0" fill="hold" grpId="0" nodeType="withEffect">
                                  <p:stCondLst>
                                    <p:cond delay="61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50"/>
                                        <p:tgtEl>
                                          <p:spTgt spid="6"/>
                                        </p:tgtEl>
                                      </p:cBhvr>
                                    </p:animEffect>
                                    <p:anim calcmode="lin" valueType="num">
                                      <p:cBhvr>
                                        <p:cTn id="25" dur="650" decel="100000" fill="hold"/>
                                        <p:tgtEl>
                                          <p:spTgt spid="6"/>
                                        </p:tgtEl>
                                        <p:attrNameLst>
                                          <p:attrName>ppt_x</p:attrName>
                                        </p:attrNameLst>
                                      </p:cBhvr>
                                      <p:tavLst>
                                        <p:tav tm="0">
                                          <p:val>
                                            <p:strVal val="#ppt_x"/>
                                          </p:val>
                                        </p:tav>
                                        <p:tav tm="100000">
                                          <p:val>
                                            <p:strVal val="#ppt_x"/>
                                          </p:val>
                                        </p:tav>
                                      </p:tavLst>
                                    </p:anim>
                                    <p:anim calcmode="lin" valueType="num">
                                      <p:cBhvr>
                                        <p:cTn id="26" dur="650" decel="100000" fill="hold"/>
                                        <p:tgtEl>
                                          <p:spTgt spid="6"/>
                                        </p:tgtEl>
                                        <p:attrNameLst>
                                          <p:attrName>ppt_y</p:attrName>
                                        </p:attrNameLst>
                                      </p:cBhvr>
                                      <p:tavLst>
                                        <p:tav tm="0">
                                          <p:val>
                                            <p:strVal val="#ppt_y+.05"/>
                                          </p:val>
                                        </p:tav>
                                        <p:tav tm="100000">
                                          <p:val>
                                            <p:strVal val="#ppt_y"/>
                                          </p:val>
                                        </p:tav>
                                      </p:tavLst>
                                    </p:anim>
                                  </p:childTnLst>
                                </p:cTn>
                              </p:par>
                              <p:par>
                                <p:cTn id="32" presetID="42" presetClass="entr" presetSubtype="0" fill="hold" grpId="0" nodeType="withEffect">
                                  <p:stCondLst>
                                    <p:cond delay="74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650"/>
                                        <p:tgtEl>
                                          <p:spTgt spid="7"/>
                                        </p:tgtEl>
                                      </p:cBhvr>
                                    </p:animEffect>
                                    <p:anim calcmode="lin" valueType="num">
                                      <p:cBhvr>
                                        <p:cTn id="30" dur="650" decel="100000" fill="hold"/>
                                        <p:tgtEl>
                                          <p:spTgt spid="7"/>
                                        </p:tgtEl>
                                        <p:attrNameLst>
                                          <p:attrName>ppt_x</p:attrName>
                                        </p:attrNameLst>
                                      </p:cBhvr>
                                      <p:tavLst>
                                        <p:tav tm="0">
                                          <p:val>
                                            <p:strVal val="#ppt_x"/>
                                          </p:val>
                                        </p:tav>
                                        <p:tav tm="100000">
                                          <p:val>
                                            <p:strVal val="#ppt_x"/>
                                          </p:val>
                                        </p:tav>
                                      </p:tavLst>
                                    </p:anim>
                                    <p:anim calcmode="lin" valueType="num">
                                      <p:cBhvr>
                                        <p:cTn id="31" dur="650" decel="100000" fill="hold"/>
                                        <p:tgtEl>
                                          <p:spTgt spid="7"/>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P spid="7"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5EF"/>
        </a:solidFill>
        <a:effectLst/>
      </p:bgPr>
    </p:bg>
    <p:spTree>
      <p:nvGrpSpPr>
        <p:cNvPr id="1" name=""/>
        <p:cNvGrpSpPr/>
        <p:nvPr/>
      </p:nvGrpSpPr>
      <p:grpSpPr/>
      <p:sp>
        <p:nvSpPr>
          <p:cNvPr id="2" name="Überzeile"/>
          <p:cNvSpPr txBox="1"/>
          <p:nvPr/>
        </p:nvSpPr>
        <p:spPr>
          <a:xfrm>
            <a:off x="762000" y="532828"/>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1B7F4B"/>
                </a:solidFill>
                <a:latin typeface="Segoe UI"/>
              </a:rPr>
              <a:t>TECHNISCHE UMSETZUNG</a:t>
            </a:r>
          </a:p>
        </p:txBody>
      </p:sp>
      <p:sp>
        <p:nvSpPr>
          <p:cNvPr id="3" name="Titel"/>
          <p:cNvSpPr txBox="1"/>
          <p:nvPr/>
        </p:nvSpPr>
        <p:spPr>
          <a:xfrm>
            <a:off x="762000" y="831913"/>
            <a:ext cx="10668000" cy="62865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17241F"/>
                </a:solidFill>
                <a:latin typeface="Segoe UI"/>
              </a:rPr>
              <a:t>Architektur</a:t>
            </a:r>
          </a:p>
        </p:txBody>
      </p:sp>
      <p:sp>
        <p:nvSpPr>
          <p:cNvPr id="4" name="Karte: 📱 Handy"/>
          <p:cNvSpPr/>
          <p:nvPr/>
        </p:nvSpPr>
        <p:spPr>
          <a:xfrm>
            <a:off x="762000" y="1765363"/>
            <a:ext cx="3416300" cy="2199132"/>
          </a:xfrm>
          <a:prstGeom prst="roundRect">
            <a:avLst>
              <a:gd name="adj" fmla="val 6930"/>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 Handy</a:t>
            </a:r>
          </a:p>
          <a:p>
            <a:pPr algn="l">
              <a:lnSpc>
                <a:spcPct val="120000"/>
              </a:lnSpc>
              <a:spcBef>
                <a:spcPts val="0"/>
              </a:spcBef>
              <a:spcAft>
                <a:spcPts val="0"/>
              </a:spcAft>
            </a:pPr>
            <a:r>
              <a:rPr sz="1800" b="0" lang="de-DE">
                <a:solidFill>
                  <a:srgbClr val="4A5A52"/>
                </a:solidFill>
                <a:latin typeface="Segoe UI"/>
              </a:rPr>
              <a:t>Web-App, erreichbar über einen Pangolin-Tunnel</a:t>
            </a:r>
          </a:p>
        </p:txBody>
      </p:sp>
      <p:sp>
        <p:nvSpPr>
          <p:cNvPr id="5" name="Karte: 🖥️ Raspberry Pi 4"/>
          <p:cNvSpPr/>
          <p:nvPr/>
        </p:nvSpPr>
        <p:spPr>
          <a:xfrm>
            <a:off x="4387850" y="1765363"/>
            <a:ext cx="3416300" cy="2199132"/>
          </a:xfrm>
          <a:prstGeom prst="roundRect">
            <a:avLst>
              <a:gd name="adj" fmla="val 6930"/>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 Raspberry Pi 4</a:t>
            </a:r>
          </a:p>
          <a:p>
            <a:pPr algn="l">
              <a:lnSpc>
                <a:spcPct val="120000"/>
              </a:lnSpc>
              <a:spcBef>
                <a:spcPts val="0"/>
              </a:spcBef>
              <a:spcAft>
                <a:spcPts val="0"/>
              </a:spcAft>
            </a:pPr>
            <a:r>
              <a:rPr sz="1800" b="0" lang="de-DE">
                <a:solidFill>
                  <a:srgbClr val="4A5A52"/>
                </a:solidFill>
                <a:latin typeface="Segoe UI"/>
              </a:rPr>
              <a:t>Mosquitto · Node-RED · PostgreSQL · Web-App, in Docker Compose</a:t>
            </a:r>
          </a:p>
        </p:txBody>
      </p:sp>
      <p:sp>
        <p:nvSpPr>
          <p:cNvPr id="6" name="Karte: 📶 Eigenes WLAN"/>
          <p:cNvSpPr/>
          <p:nvPr/>
        </p:nvSpPr>
        <p:spPr>
          <a:xfrm>
            <a:off x="8013700" y="1765363"/>
            <a:ext cx="3416300" cy="2199132"/>
          </a:xfrm>
          <a:prstGeom prst="roundRect">
            <a:avLst>
              <a:gd name="adj" fmla="val 6930"/>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 Eigenes WLAN</a:t>
            </a:r>
          </a:p>
          <a:p>
            <a:pPr algn="l">
              <a:lnSpc>
                <a:spcPct val="120000"/>
              </a:lnSpc>
              <a:spcBef>
                <a:spcPts val="0"/>
              </a:spcBef>
              <a:spcAft>
                <a:spcPts val="0"/>
              </a:spcAft>
            </a:pPr>
            <a:r>
              <a:rPr sz="1800" b="0" lang="de-DE">
                <a:solidFill>
                  <a:srgbClr val="4A5A52"/>
                </a:solidFill>
                <a:latin typeface="Segoe UI"/>
              </a:rPr>
              <a:t>Die ESPs sprechen per MQTT mit dem Pi, ohne Zugang zum Schulnetz</a:t>
            </a:r>
          </a:p>
        </p:txBody>
      </p:sp>
      <p:sp>
        <p:nvSpPr>
          <p:cNvPr id="7" name="Karte: ESP32 #1"/>
          <p:cNvSpPr/>
          <p:nvPr/>
        </p:nvSpPr>
        <p:spPr>
          <a:xfrm>
            <a:off x="762000" y="4174045"/>
            <a:ext cx="3416300" cy="2151126"/>
          </a:xfrm>
          <a:prstGeom prst="roundRect">
            <a:avLst>
              <a:gd name="adj" fmla="val 7084"/>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ESP32 #1</a:t>
            </a:r>
          </a:p>
          <a:p>
            <a:pPr algn="l">
              <a:lnSpc>
                <a:spcPct val="120000"/>
              </a:lnSpc>
              <a:spcBef>
                <a:spcPts val="0"/>
              </a:spcBef>
              <a:spcAft>
                <a:spcPts val="0"/>
              </a:spcAft>
            </a:pPr>
            <a:r>
              <a:rPr sz="1800" b="0" lang="de-DE">
                <a:solidFill>
                  <a:srgbClr val="4A5A52"/>
                </a:solidFill>
                <a:latin typeface="Segoe UI"/>
              </a:rPr>
              <a:t>LED-Streifen für alle 4 Slots, Abstandssensoren für Slot 1 + 2</a:t>
            </a:r>
          </a:p>
        </p:txBody>
      </p:sp>
      <p:sp>
        <p:nvSpPr>
          <p:cNvPr id="8" name="Karte: ESP32 #2"/>
          <p:cNvSpPr/>
          <p:nvPr/>
        </p:nvSpPr>
        <p:spPr>
          <a:xfrm>
            <a:off x="4387850" y="4174045"/>
            <a:ext cx="3416300" cy="2151126"/>
          </a:xfrm>
          <a:prstGeom prst="roundRect">
            <a:avLst>
              <a:gd name="adj" fmla="val 7084"/>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ESP32 #2</a:t>
            </a:r>
          </a:p>
          <a:p>
            <a:pPr algn="l">
              <a:lnSpc>
                <a:spcPct val="120000"/>
              </a:lnSpc>
              <a:spcBef>
                <a:spcPts val="0"/>
              </a:spcBef>
              <a:spcAft>
                <a:spcPts val="0"/>
              </a:spcAft>
            </a:pPr>
            <a:r>
              <a:rPr sz="1800" b="0" lang="de-DE">
                <a:solidFill>
                  <a:srgbClr val="4A5A52"/>
                </a:solidFill>
                <a:latin typeface="Segoe UI"/>
              </a:rPr>
              <a:t>NFC-Leser, Display, Tor-Servo, Abstandssensoren für Slot 3 + 4</a:t>
            </a:r>
          </a:p>
        </p:txBody>
      </p:sp>
      <p:sp>
        <p:nvSpPr>
          <p:cNvPr id="9" name="Karte: 🧠 Node-RED entscheidet"/>
          <p:cNvSpPr/>
          <p:nvPr/>
        </p:nvSpPr>
        <p:spPr>
          <a:xfrm>
            <a:off x="8013700" y="4174045"/>
            <a:ext cx="3416300" cy="2151126"/>
          </a:xfrm>
          <a:prstGeom prst="roundRect">
            <a:avLst>
              <a:gd name="adj" fmla="val 7084"/>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 Node-RED entscheidet</a:t>
            </a:r>
          </a:p>
          <a:p>
            <a:pPr algn="l">
              <a:lnSpc>
                <a:spcPct val="120000"/>
              </a:lnSpc>
              <a:spcBef>
                <a:spcPts val="0"/>
              </a:spcBef>
              <a:spcAft>
                <a:spcPts val="0"/>
              </a:spcAft>
            </a:pPr>
            <a:r>
              <a:rPr sz="1800" b="0" lang="de-DE">
                <a:solidFill>
                  <a:srgbClr val="4A5A52"/>
                </a:solidFill>
                <a:latin typeface="Segoe UI"/>
              </a:rPr>
              <a:t>Die ESPs messen nur und führen aus</a:t>
            </a:r>
          </a:p>
        </p:txBody>
      </p:sp>
      <p:sp>
        <p:nvSpPr>
          <p:cNvPr id="10"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6B7C73"/>
                </a:solidFill>
                <a:latin typeface="Segoe UI"/>
              </a:rPr>
              <a:t>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50"/>
                                        <p:tgtEl>
                                          <p:spTgt spid="4"/>
                                        </p:tgtEl>
                                      </p:cBhvr>
                                    </p:animEffect>
                                    <p:anim calcmode="lin" valueType="num">
                                      <p:cBhvr>
                                        <p:cTn id="15" dur="650" decel="100000" fill="hold"/>
                                        <p:tgtEl>
                                          <p:spTgt spid="4"/>
                                        </p:tgtEl>
                                        <p:attrNameLst>
                                          <p:attrName>ppt_x</p:attrName>
                                        </p:attrNameLst>
                                      </p:cBhvr>
                                      <p:tavLst>
                                        <p:tav tm="0">
                                          <p:val>
                                            <p:strVal val="#ppt_x"/>
                                          </p:val>
                                        </p:tav>
                                        <p:tav tm="100000">
                                          <p:val>
                                            <p:strVal val="#ppt_x"/>
                                          </p:val>
                                        </p:tav>
                                      </p:tavLst>
                                    </p:anim>
                                    <p:anim calcmode="lin" valueType="num">
                                      <p:cBhvr>
                                        <p:cTn id="16" dur="650" decel="100000" fill="hold"/>
                                        <p:tgtEl>
                                          <p:spTgt spid="4"/>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48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p:cTn id="20" dur="650" decel="100000" fill="hold"/>
                                        <p:tgtEl>
                                          <p:spTgt spid="5"/>
                                        </p:tgtEl>
                                        <p:attrNameLst>
                                          <p:attrName>ppt_x</p:attrName>
                                        </p:attrNameLst>
                                      </p:cBhvr>
                                      <p:tavLst>
                                        <p:tav tm="0">
                                          <p:val>
                                            <p:strVal val="#ppt_x"/>
                                          </p:val>
                                        </p:tav>
                                        <p:tav tm="100000">
                                          <p:val>
                                            <p:strVal val="#ppt_x"/>
                                          </p:val>
                                        </p:tav>
                                      </p:tavLst>
                                    </p:anim>
                                    <p:anim calcmode="lin" valueType="num">
                                      <p:cBhvr>
                                        <p:cTn id="21" dur="650" decel="100000" fill="hold"/>
                                        <p:tgtEl>
                                          <p:spTgt spid="5"/>
                                        </p:tgtEl>
                                        <p:attrNameLst>
                                          <p:attrName>ppt_y</p:attrName>
                                        </p:attrNameLst>
                                      </p:cBhvr>
                                      <p:tavLst>
                                        <p:tav tm="0">
                                          <p:val>
                                            <p:strVal val="#ppt_y+.05"/>
                                          </p:val>
                                        </p:tav>
                                        <p:tav tm="100000">
                                          <p:val>
                                            <p:strVal val="#ppt_y"/>
                                          </p:val>
                                        </p:tav>
                                      </p:tavLst>
                                    </p:anim>
                                  </p:childTnLst>
                                </p:cTn>
                              </p:par>
                              <p:par>
                                <p:cTn id="27" presetID="42" presetClass="entr" presetSubtype="0" fill="hold" grpId="0" nodeType="withEffect">
                                  <p:stCondLst>
                                    <p:cond delay="61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50"/>
                                        <p:tgtEl>
                                          <p:spTgt spid="6"/>
                                        </p:tgtEl>
                                      </p:cBhvr>
                                    </p:animEffect>
                                    <p:anim calcmode="lin" valueType="num">
                                      <p:cBhvr>
                                        <p:cTn id="25" dur="650" decel="100000" fill="hold"/>
                                        <p:tgtEl>
                                          <p:spTgt spid="6"/>
                                        </p:tgtEl>
                                        <p:attrNameLst>
                                          <p:attrName>ppt_x</p:attrName>
                                        </p:attrNameLst>
                                      </p:cBhvr>
                                      <p:tavLst>
                                        <p:tav tm="0">
                                          <p:val>
                                            <p:strVal val="#ppt_x"/>
                                          </p:val>
                                        </p:tav>
                                        <p:tav tm="100000">
                                          <p:val>
                                            <p:strVal val="#ppt_x"/>
                                          </p:val>
                                        </p:tav>
                                      </p:tavLst>
                                    </p:anim>
                                    <p:anim calcmode="lin" valueType="num">
                                      <p:cBhvr>
                                        <p:cTn id="26" dur="650" decel="100000" fill="hold"/>
                                        <p:tgtEl>
                                          <p:spTgt spid="6"/>
                                        </p:tgtEl>
                                        <p:attrNameLst>
                                          <p:attrName>ppt_y</p:attrName>
                                        </p:attrNameLst>
                                      </p:cBhvr>
                                      <p:tavLst>
                                        <p:tav tm="0">
                                          <p:val>
                                            <p:strVal val="#ppt_y+.05"/>
                                          </p:val>
                                        </p:tav>
                                        <p:tav tm="100000">
                                          <p:val>
                                            <p:strVal val="#ppt_y"/>
                                          </p:val>
                                        </p:tav>
                                      </p:tavLst>
                                    </p:anim>
                                  </p:childTnLst>
                                </p:cTn>
                              </p:par>
                              <p:par>
                                <p:cTn id="32" presetID="42" presetClass="entr" presetSubtype="0" fill="hold" grpId="0" nodeType="withEffect">
                                  <p:stCondLst>
                                    <p:cond delay="74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650"/>
                                        <p:tgtEl>
                                          <p:spTgt spid="7"/>
                                        </p:tgtEl>
                                      </p:cBhvr>
                                    </p:animEffect>
                                    <p:anim calcmode="lin" valueType="num">
                                      <p:cBhvr>
                                        <p:cTn id="30" dur="650" decel="100000" fill="hold"/>
                                        <p:tgtEl>
                                          <p:spTgt spid="7"/>
                                        </p:tgtEl>
                                        <p:attrNameLst>
                                          <p:attrName>ppt_x</p:attrName>
                                        </p:attrNameLst>
                                      </p:cBhvr>
                                      <p:tavLst>
                                        <p:tav tm="0">
                                          <p:val>
                                            <p:strVal val="#ppt_x"/>
                                          </p:val>
                                        </p:tav>
                                        <p:tav tm="100000">
                                          <p:val>
                                            <p:strVal val="#ppt_x"/>
                                          </p:val>
                                        </p:tav>
                                      </p:tavLst>
                                    </p:anim>
                                    <p:anim calcmode="lin" valueType="num">
                                      <p:cBhvr>
                                        <p:cTn id="31" dur="650" decel="100000" fill="hold"/>
                                        <p:tgtEl>
                                          <p:spTgt spid="7"/>
                                        </p:tgtEl>
                                        <p:attrNameLst>
                                          <p:attrName>ppt_y</p:attrName>
                                        </p:attrNameLst>
                                      </p:cBhvr>
                                      <p:tavLst>
                                        <p:tav tm="0">
                                          <p:val>
                                            <p:strVal val="#ppt_y+.05"/>
                                          </p:val>
                                        </p:tav>
                                        <p:tav tm="100000">
                                          <p:val>
                                            <p:strVal val="#ppt_y"/>
                                          </p:val>
                                        </p:tav>
                                      </p:tavLst>
                                    </p:anim>
                                  </p:childTnLst>
                                </p:cTn>
                              </p:par>
                              <p:par>
                                <p:cTn id="37" presetID="42" presetClass="entr" presetSubtype="0" fill="hold" grpId="0" nodeType="withEffect">
                                  <p:stCondLst>
                                    <p:cond delay="87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650"/>
                                        <p:tgtEl>
                                          <p:spTgt spid="8"/>
                                        </p:tgtEl>
                                      </p:cBhvr>
                                    </p:animEffect>
                                    <p:anim calcmode="lin" valueType="num">
                                      <p:cBhvr>
                                        <p:cTn id="35" dur="650" decel="100000" fill="hold"/>
                                        <p:tgtEl>
                                          <p:spTgt spid="8"/>
                                        </p:tgtEl>
                                        <p:attrNameLst>
                                          <p:attrName>ppt_x</p:attrName>
                                        </p:attrNameLst>
                                      </p:cBhvr>
                                      <p:tavLst>
                                        <p:tav tm="0">
                                          <p:val>
                                            <p:strVal val="#ppt_x"/>
                                          </p:val>
                                        </p:tav>
                                        <p:tav tm="100000">
                                          <p:val>
                                            <p:strVal val="#ppt_x"/>
                                          </p:val>
                                        </p:tav>
                                      </p:tavLst>
                                    </p:anim>
                                    <p:anim calcmode="lin" valueType="num">
                                      <p:cBhvr>
                                        <p:cTn id="36" dur="650" decel="100000" fill="hold"/>
                                        <p:tgtEl>
                                          <p:spTgt spid="8"/>
                                        </p:tgtEl>
                                        <p:attrNameLst>
                                          <p:attrName>ppt_y</p:attrName>
                                        </p:attrNameLst>
                                      </p:cBhvr>
                                      <p:tavLst>
                                        <p:tav tm="0">
                                          <p:val>
                                            <p:strVal val="#ppt_y+.05"/>
                                          </p:val>
                                        </p:tav>
                                        <p:tav tm="100000">
                                          <p:val>
                                            <p:strVal val="#ppt_y"/>
                                          </p:val>
                                        </p:tav>
                                      </p:tavLst>
                                    </p:anim>
                                  </p:childTnLst>
                                </p:cTn>
                              </p:par>
                              <p:par>
                                <p:cTn id="42" presetID="42" presetClass="entr" presetSubtype="0" fill="hold" grpId="0" nodeType="withEffect">
                                  <p:stCondLst>
                                    <p:cond delay="100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50"/>
                                        <p:tgtEl>
                                          <p:spTgt spid="9"/>
                                        </p:tgtEl>
                                      </p:cBhvr>
                                    </p:animEffect>
                                    <p:anim calcmode="lin" valueType="num">
                                      <p:cBhvr>
                                        <p:cTn id="40" dur="650" decel="100000" fill="hold"/>
                                        <p:tgtEl>
                                          <p:spTgt spid="9"/>
                                        </p:tgtEl>
                                        <p:attrNameLst>
                                          <p:attrName>ppt_x</p:attrName>
                                        </p:attrNameLst>
                                      </p:cBhvr>
                                      <p:tavLst>
                                        <p:tav tm="0">
                                          <p:val>
                                            <p:strVal val="#ppt_x"/>
                                          </p:val>
                                        </p:tav>
                                        <p:tav tm="100000">
                                          <p:val>
                                            <p:strVal val="#ppt_x"/>
                                          </p:val>
                                        </p:tav>
                                      </p:tavLst>
                                    </p:anim>
                                    <p:anim calcmode="lin" valueType="num">
                                      <p:cBhvr>
                                        <p:cTn id="41" dur="650" decel="100000" fill="hold"/>
                                        <p:tgtEl>
                                          <p:spTgt spid="9"/>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P spid="7" grpId="0" animBg="1"/>
      <p:bldP spid="8" grpId="0" animBg="1"/>
      <p:bldP spid="9"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201B"/>
        </a:solidFill>
        <a:effectLst/>
      </p:bgPr>
    </p:bg>
    <p:spTree>
      <p:nvGrpSpPr>
        <p:cNvPr id="1" name=""/>
        <p:cNvGrpSpPr/>
        <p:nvPr/>
      </p:nvGrpSpPr>
      <p:grpSpPr/>
      <p:sp>
        <p:nvSpPr>
          <p:cNvPr id="2" name="Überzeile"/>
          <p:cNvSpPr txBox="1"/>
          <p:nvPr/>
        </p:nvSpPr>
        <p:spPr>
          <a:xfrm>
            <a:off x="762000" y="1237932"/>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3DDC84"/>
                </a:solidFill>
                <a:latin typeface="Segoe UI"/>
              </a:rPr>
              <a:t>TECHNISCHE UMSETZUNG</a:t>
            </a:r>
          </a:p>
        </p:txBody>
      </p:sp>
      <p:sp>
        <p:nvSpPr>
          <p:cNvPr id="3" name="Titel"/>
          <p:cNvSpPr txBox="1"/>
          <p:nvPr/>
        </p:nvSpPr>
        <p:spPr>
          <a:xfrm>
            <a:off x="762000" y="1537017"/>
            <a:ext cx="10668000" cy="62865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EEF3EC"/>
                </a:solidFill>
                <a:latin typeface="Segoe UI"/>
              </a:rPr>
              <a:t>Hardware</a:t>
            </a:r>
          </a:p>
        </p:txBody>
      </p:sp>
      <p:graphicFrame>
        <p:nvGraphicFramePr>
          <p:cNvPr id="4" name="Tabelle"/>
          <p:cNvGraphicFramePr>
            <a:graphicFrameLocks noGrp="1"/>
          </p:cNvGraphicFramePr>
          <p:nvPr/>
        </p:nvGraphicFramePr>
        <p:xfrm>
          <a:off x="762000" y="2470467"/>
          <a:ext cx="10668000" cy="3149600"/>
        </p:xfrm>
        <a:graphic>
          <a:graphicData uri="http://schemas.openxmlformats.org/drawingml/2006/table">
            <a:tbl>
              <a:tblPr firstRow="1">
                <a:tableStyleId>{2D5ABB26-0587-4C30-8999-92F81FD0307C}</a:tableStyleId>
              </a:tblPr>
              <a:tblGrid>
                <a:gridCol w="2346960"/>
                <a:gridCol w="3413760"/>
                <a:gridCol w="4907280"/>
              </a:tblGrid>
              <a:tr h="393700">
                <a:tc>
                  <a:txBody>
                    <a:bodyPr/>
                    <a:lstStyle/>
                    <a:p>
                      <a:pPr>
                        <a:lnSpc>
                          <a:spcPct val="110000"/>
                        </a:lnSpc>
                        <a:spcBef>
                          <a:spcPts val="0"/>
                        </a:spcBef>
                        <a:spcAft>
                          <a:spcPts val="0"/>
                        </a:spcAft>
                      </a:pPr>
                      <a:r>
                        <a:rPr sz="1650" b="1" lang="de-DE">
                          <a:solidFill>
                            <a:srgbClr val="3DDC84"/>
                          </a:solidFill>
                          <a:latin typeface="Segoe UI"/>
                        </a:rPr>
                        <a:t>Bauteil</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1" lang="de-DE">
                          <a:solidFill>
                            <a:srgbClr val="3DDC84"/>
                          </a:solidFill>
                          <a:latin typeface="Segoe UI"/>
                        </a:rPr>
                        <a:t>Modell</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1" lang="de-DE">
                          <a:solidFill>
                            <a:srgbClr val="3DDC84"/>
                          </a:solidFill>
                          <a:latin typeface="Segoe UI"/>
                        </a:rPr>
                        <a:t>Aufgabe</a:t>
                      </a:r>
                    </a:p>
                  </a:txBody>
                  <a:tcPr marL="133350" marR="133350" marT="50800" marB="50800" anchor="ctr">
                    <a:lnB w="9525" cap="flat" cmpd="sng" algn="ctr">
                      <a:solidFill>
                        <a:srgbClr val="2E5443"/>
                      </a:solidFill>
                    </a:lnB>
                    <a:noFill/>
                  </a:tcPr>
                </a:tc>
              </a:tr>
              <a:tr h="393700">
                <a:tc>
                  <a:txBody>
                    <a:bodyPr/>
                    <a:lstStyle/>
                    <a:p>
                      <a:pPr>
                        <a:lnSpc>
                          <a:spcPct val="110000"/>
                        </a:lnSpc>
                        <a:spcBef>
                          <a:spcPts val="0"/>
                        </a:spcBef>
                        <a:spcAft>
                          <a:spcPts val="0"/>
                        </a:spcAft>
                      </a:pPr>
                      <a:r>
                        <a:rPr sz="1650" b="0" lang="de-DE">
                          <a:solidFill>
                            <a:srgbClr val="EEF3EC"/>
                          </a:solidFill>
                          <a:latin typeface="Segoe UI"/>
                        </a:rPr>
                        <a:t>Server</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Raspberry Pi 4 (4 GB)</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Broker, Logik, Datenbank, Web, WLAN-Hotspot</a:t>
                      </a:r>
                    </a:p>
                  </a:txBody>
                  <a:tcPr marL="133350" marR="133350" marT="50800" marB="50800" anchor="ctr">
                    <a:lnB w="9525" cap="flat" cmpd="sng" algn="ctr">
                      <a:solidFill>
                        <a:srgbClr val="2E5443"/>
                      </a:solidFill>
                    </a:lnB>
                    <a:noFill/>
                  </a:tcPr>
                </a:tc>
              </a:tr>
              <a:tr h="393700">
                <a:tc>
                  <a:txBody>
                    <a:bodyPr/>
                    <a:lstStyle/>
                    <a:p>
                      <a:pPr>
                        <a:lnSpc>
                          <a:spcPct val="110000"/>
                        </a:lnSpc>
                        <a:spcBef>
                          <a:spcPts val="0"/>
                        </a:spcBef>
                        <a:spcAft>
                          <a:spcPts val="0"/>
                        </a:spcAft>
                      </a:pPr>
                      <a:r>
                        <a:rPr sz="1650" b="0" lang="de-DE">
                          <a:solidFill>
                            <a:srgbClr val="EEF3EC"/>
                          </a:solidFill>
                          <a:latin typeface="Segoe UI"/>
                        </a:rPr>
                        <a:t>Controller</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2 × ESP32 DevKit</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Sensoren, LEDs, Eingang</a:t>
                      </a:r>
                    </a:p>
                  </a:txBody>
                  <a:tcPr marL="133350" marR="133350" marT="50800" marB="50800" anchor="ctr">
                    <a:lnB w="9525" cap="flat" cmpd="sng" algn="ctr">
                      <a:solidFill>
                        <a:srgbClr val="2E5443"/>
                      </a:solidFill>
                    </a:lnB>
                    <a:noFill/>
                  </a:tcPr>
                </a:tc>
              </a:tr>
              <a:tr h="393700">
                <a:tc>
                  <a:txBody>
                    <a:bodyPr/>
                    <a:lstStyle/>
                    <a:p>
                      <a:pPr>
                        <a:lnSpc>
                          <a:spcPct val="110000"/>
                        </a:lnSpc>
                        <a:spcBef>
                          <a:spcPts val="0"/>
                        </a:spcBef>
                        <a:spcAft>
                          <a:spcPts val="0"/>
                        </a:spcAft>
                      </a:pPr>
                      <a:r>
                        <a:rPr sz="1650" b="0" lang="de-DE">
                          <a:solidFill>
                            <a:srgbClr val="EEF3EC"/>
                          </a:solidFill>
                          <a:latin typeface="Segoe UI"/>
                        </a:rPr>
                        <a:t>Slot-Sensoren</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4 × Grove Ultrasonic</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Rad erkannt, alle 200 ms</a:t>
                      </a:r>
                    </a:p>
                  </a:txBody>
                  <a:tcPr marL="133350" marR="133350" marT="50800" marB="50800" anchor="ctr">
                    <a:lnB w="9525" cap="flat" cmpd="sng" algn="ctr">
                      <a:solidFill>
                        <a:srgbClr val="2E5443"/>
                      </a:solidFill>
                    </a:lnB>
                    <a:noFill/>
                  </a:tcPr>
                </a:tc>
              </a:tr>
              <a:tr h="393700">
                <a:tc>
                  <a:txBody>
                    <a:bodyPr/>
                    <a:lstStyle/>
                    <a:p>
                      <a:pPr>
                        <a:lnSpc>
                          <a:spcPct val="110000"/>
                        </a:lnSpc>
                        <a:spcBef>
                          <a:spcPts val="0"/>
                        </a:spcBef>
                        <a:spcAft>
                          <a:spcPts val="0"/>
                        </a:spcAft>
                      </a:pPr>
                      <a:r>
                        <a:rPr sz="1650" b="0" lang="de-DE">
                          <a:solidFill>
                            <a:srgbClr val="EEF3EC"/>
                          </a:solidFill>
                          <a:latin typeface="Segoe UI"/>
                        </a:rPr>
                        <a:t>Slot-Licht</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WS2812B-LED-Streifen</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frei · belegt · reserviert · Alarm</a:t>
                      </a:r>
                    </a:p>
                  </a:txBody>
                  <a:tcPr marL="133350" marR="133350" marT="50800" marB="50800" anchor="ctr">
                    <a:lnB w="9525" cap="flat" cmpd="sng" algn="ctr">
                      <a:solidFill>
                        <a:srgbClr val="2E5443"/>
                      </a:solidFill>
                    </a:lnB>
                    <a:noFill/>
                  </a:tcPr>
                </a:tc>
              </a:tr>
              <a:tr h="393700">
                <a:tc>
                  <a:txBody>
                    <a:bodyPr/>
                    <a:lstStyle/>
                    <a:p>
                      <a:pPr>
                        <a:lnSpc>
                          <a:spcPct val="110000"/>
                        </a:lnSpc>
                        <a:spcBef>
                          <a:spcPts val="0"/>
                        </a:spcBef>
                        <a:spcAft>
                          <a:spcPts val="0"/>
                        </a:spcAft>
                      </a:pPr>
                      <a:r>
                        <a:rPr sz="1650" b="0" lang="de-DE">
                          <a:solidFill>
                            <a:srgbClr val="EEF3EC"/>
                          </a:solidFill>
                          <a:latin typeface="Segoe UI"/>
                        </a:rPr>
                        <a:t>Zugang</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PN532-NFC-Leser</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Chip auflegen</a:t>
                      </a:r>
                    </a:p>
                  </a:txBody>
                  <a:tcPr marL="133350" marR="133350" marT="50800" marB="50800" anchor="ctr">
                    <a:lnB w="9525" cap="flat" cmpd="sng" algn="ctr">
                      <a:solidFill>
                        <a:srgbClr val="2E5443"/>
                      </a:solidFill>
                    </a:lnB>
                    <a:noFill/>
                  </a:tcPr>
                </a:tc>
              </a:tr>
              <a:tr h="393700">
                <a:tc>
                  <a:txBody>
                    <a:bodyPr/>
                    <a:lstStyle/>
                    <a:p>
                      <a:pPr>
                        <a:lnSpc>
                          <a:spcPct val="110000"/>
                        </a:lnSpc>
                        <a:spcBef>
                          <a:spcPts val="0"/>
                        </a:spcBef>
                        <a:spcAft>
                          <a:spcPts val="0"/>
                        </a:spcAft>
                      </a:pPr>
                      <a:r>
                        <a:rPr sz="1650" b="0" lang="de-DE">
                          <a:solidFill>
                            <a:srgbClr val="EEF3EC"/>
                          </a:solidFill>
                          <a:latin typeface="Segoe UI"/>
                        </a:rPr>
                        <a:t>Display</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Grove LCD RGB 16×2</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Begrüßung, Slot, farbiger Status</a:t>
                      </a:r>
                    </a:p>
                  </a:txBody>
                  <a:tcPr marL="133350" marR="133350" marT="50800" marB="50800" anchor="ctr">
                    <a:lnB w="9525" cap="flat" cmpd="sng" algn="ctr">
                      <a:solidFill>
                        <a:srgbClr val="2E5443"/>
                      </a:solidFill>
                    </a:lnB>
                    <a:noFill/>
                  </a:tcPr>
                </a:tc>
              </a:tr>
              <a:tr h="393700">
                <a:tc>
                  <a:txBody>
                    <a:bodyPr/>
                    <a:lstStyle/>
                    <a:p>
                      <a:pPr>
                        <a:lnSpc>
                          <a:spcPct val="110000"/>
                        </a:lnSpc>
                        <a:spcBef>
                          <a:spcPts val="0"/>
                        </a:spcBef>
                        <a:spcAft>
                          <a:spcPts val="0"/>
                        </a:spcAft>
                      </a:pPr>
                      <a:r>
                        <a:rPr sz="1650" b="0" lang="de-DE">
                          <a:solidFill>
                            <a:srgbClr val="EEF3EC"/>
                          </a:solidFill>
                          <a:latin typeface="Segoe UI"/>
                        </a:rPr>
                        <a:t>Tor</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Tower Pro MG90S Servo</a:t>
                      </a:r>
                    </a:p>
                  </a:txBody>
                  <a:tcPr marL="133350" marR="133350" marT="50800" marB="50800" anchor="ctr">
                    <a:lnB w="9525" cap="flat" cmpd="sng" algn="ctr">
                      <a:solidFill>
                        <a:srgbClr val="2E5443"/>
                      </a:solidFill>
                    </a:lnB>
                    <a:noFill/>
                  </a:tcPr>
                </a:tc>
                <a:tc>
                  <a:txBody>
                    <a:bodyPr/>
                    <a:lstStyle/>
                    <a:p>
                      <a:pPr>
                        <a:lnSpc>
                          <a:spcPct val="110000"/>
                        </a:lnSpc>
                        <a:spcBef>
                          <a:spcPts val="0"/>
                        </a:spcBef>
                        <a:spcAft>
                          <a:spcPts val="0"/>
                        </a:spcAft>
                      </a:pPr>
                      <a:r>
                        <a:rPr sz="1650" b="0" lang="de-DE">
                          <a:solidFill>
                            <a:srgbClr val="EEF3EC"/>
                          </a:solidFill>
                          <a:latin typeface="Segoe UI"/>
                        </a:rPr>
                        <a:t>öffnet und schließt den Eingang</a:t>
                      </a:r>
                    </a:p>
                  </a:txBody>
                  <a:tcPr marL="133350" marR="133350" marT="50800" marB="50800" anchor="ctr">
                    <a:lnB w="9525" cap="flat" cmpd="sng" algn="ctr">
                      <a:solidFill>
                        <a:srgbClr val="2E5443"/>
                      </a:solidFill>
                    </a:lnB>
                    <a:noFill/>
                  </a:tcPr>
                </a:tc>
              </a:tr>
            </a:tbl>
          </a:graphicData>
        </a:graphic>
      </p:graphicFrame>
      <p:sp>
        <p:nvSpPr>
          <p:cNvPr id="5"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8FA89A"/>
                </a:solidFill>
                <a:latin typeface="Segoe UI"/>
              </a:rPr>
              <a:t>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p:cTn id="15" dur="800" decel="100000" fill="hold"/>
                                        <p:tgtEl>
                                          <p:spTgt spid="4"/>
                                        </p:tgtEl>
                                        <p:attrNameLst>
                                          <p:attrName>ppt_x</p:attrName>
                                        </p:attrNameLst>
                                      </p:cBhvr>
                                      <p:tavLst>
                                        <p:tav tm="0">
                                          <p:val>
                                            <p:strVal val="#ppt_x"/>
                                          </p:val>
                                        </p:tav>
                                        <p:tav tm="100000">
                                          <p:val>
                                            <p:strVal val="#ppt_x"/>
                                          </p:val>
                                        </p:tav>
                                      </p:tavLst>
                                    </p:anim>
                                    <p:anim calcmode="lin" valueType="num">
                                      <p:cBhvr>
                                        <p:cTn id="16" dur="800" decel="100000" fill="hold"/>
                                        <p:tgtEl>
                                          <p:spTgt spid="4"/>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Graphic spid="4" grpId="0">
        <p:bldAsOne/>
      </p:bldGraphic>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5EF"/>
        </a:solidFill>
        <a:effectLst/>
      </p:bgPr>
    </p:bg>
    <p:spTree>
      <p:nvGrpSpPr>
        <p:cNvPr id="1" name=""/>
        <p:cNvGrpSpPr/>
        <p:nvPr/>
      </p:nvGrpSpPr>
      <p:grpSpPr/>
      <p:sp>
        <p:nvSpPr>
          <p:cNvPr id="2" name="Überzeile"/>
          <p:cNvSpPr txBox="1"/>
          <p:nvPr/>
        </p:nvSpPr>
        <p:spPr>
          <a:xfrm>
            <a:off x="762000" y="615124"/>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1B7F4B"/>
                </a:solidFill>
                <a:latin typeface="Segoe UI"/>
              </a:rPr>
              <a:t>TECHNISCHE UMSETZUNG</a:t>
            </a:r>
          </a:p>
        </p:txBody>
      </p:sp>
      <p:sp>
        <p:nvSpPr>
          <p:cNvPr id="3" name="Titel"/>
          <p:cNvSpPr txBox="1"/>
          <p:nvPr/>
        </p:nvSpPr>
        <p:spPr>
          <a:xfrm>
            <a:off x="762000" y="914209"/>
            <a:ext cx="10668000" cy="62865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17241F"/>
                </a:solidFill>
                <a:latin typeface="Segoe UI"/>
              </a:rPr>
              <a:t>Jedes Rad hat einen Lebenszyklus</a:t>
            </a:r>
          </a:p>
        </p:txBody>
      </p:sp>
      <p:sp>
        <p:nvSpPr>
          <p:cNvPr id="4" name="Karte: reserved"/>
          <p:cNvSpPr/>
          <p:nvPr/>
        </p:nvSpPr>
        <p:spPr>
          <a:xfrm>
            <a:off x="762000" y="1847659"/>
            <a:ext cx="3416300" cy="1904238"/>
          </a:xfrm>
          <a:prstGeom prst="roundRect">
            <a:avLst>
              <a:gd name="adj" fmla="val 8003"/>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Consolas"/>
              </a:rPr>
              <a:t>reserved</a:t>
            </a:r>
          </a:p>
          <a:p>
            <a:pPr algn="l">
              <a:lnSpc>
                <a:spcPct val="120000"/>
              </a:lnSpc>
              <a:spcBef>
                <a:spcPts val="0"/>
              </a:spcBef>
              <a:spcAft>
                <a:spcPts val="0"/>
              </a:spcAft>
            </a:pPr>
            <a:r>
              <a:rPr sz="1950" b="0" lang="de-DE">
                <a:solidFill>
                  <a:srgbClr val="4A5A52"/>
                </a:solidFill>
                <a:latin typeface="Segoe UI"/>
              </a:rPr>
              <a:t>Slot blinkt blau, 5 Minuten Zeit zum Ankommen</a:t>
            </a:r>
          </a:p>
        </p:txBody>
      </p:sp>
      <p:sp>
        <p:nvSpPr>
          <p:cNvPr id="5" name="Karte: parked"/>
          <p:cNvSpPr/>
          <p:nvPr/>
        </p:nvSpPr>
        <p:spPr>
          <a:xfrm>
            <a:off x="4387850" y="1847659"/>
            <a:ext cx="3416300" cy="1904238"/>
          </a:xfrm>
          <a:prstGeom prst="roundRect">
            <a:avLst>
              <a:gd name="adj" fmla="val 8003"/>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Consolas"/>
              </a:rPr>
              <a:t>parked</a:t>
            </a:r>
          </a:p>
          <a:p>
            <a:pPr algn="l">
              <a:lnSpc>
                <a:spcPct val="120000"/>
              </a:lnSpc>
              <a:spcBef>
                <a:spcPts val="0"/>
              </a:spcBef>
              <a:spcAft>
                <a:spcPts val="0"/>
              </a:spcAft>
            </a:pPr>
            <a:r>
              <a:rPr sz="1950" b="0" lang="de-DE">
                <a:solidFill>
                  <a:srgbClr val="4A5A52"/>
                </a:solidFill>
                <a:latin typeface="Segoe UI"/>
              </a:rPr>
              <a:t>„Secured“, das Tor schließt</a:t>
            </a:r>
          </a:p>
        </p:txBody>
      </p:sp>
      <p:sp>
        <p:nvSpPr>
          <p:cNvPr id="6" name="Karte: done"/>
          <p:cNvSpPr/>
          <p:nvPr/>
        </p:nvSpPr>
        <p:spPr>
          <a:xfrm>
            <a:off x="8013700" y="1847659"/>
            <a:ext cx="3416300" cy="1904238"/>
          </a:xfrm>
          <a:prstGeom prst="roundRect">
            <a:avLst>
              <a:gd name="adj" fmla="val 8003"/>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Consolas"/>
              </a:rPr>
              <a:t>done</a:t>
            </a:r>
          </a:p>
          <a:p>
            <a:pPr algn="l">
              <a:lnSpc>
                <a:spcPct val="120000"/>
              </a:lnSpc>
              <a:spcBef>
                <a:spcPts val="0"/>
              </a:spcBef>
              <a:spcAft>
                <a:spcPts val="0"/>
              </a:spcAft>
            </a:pPr>
            <a:r>
              <a:rPr sz="1950" b="0" lang="de-DE">
                <a:solidFill>
                  <a:srgbClr val="4A5A52"/>
                </a:solidFill>
                <a:latin typeface="Segoe UI"/>
              </a:rPr>
              <a:t>vom Besitzer abgeholt</a:t>
            </a:r>
          </a:p>
        </p:txBody>
      </p:sp>
      <p:sp>
        <p:nvSpPr>
          <p:cNvPr id="7" name="Karte: reserved → expired"/>
          <p:cNvSpPr/>
          <p:nvPr/>
        </p:nvSpPr>
        <p:spPr>
          <a:xfrm>
            <a:off x="762000" y="3961447"/>
            <a:ext cx="3416300" cy="2281428"/>
          </a:xfrm>
          <a:prstGeom prst="roundRect">
            <a:avLst>
              <a:gd name="adj" fmla="val 6680"/>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Consolas"/>
              </a:rPr>
              <a:t>reserved → expired</a:t>
            </a:r>
          </a:p>
          <a:p>
            <a:pPr algn="l">
              <a:lnSpc>
                <a:spcPct val="120000"/>
              </a:lnSpc>
              <a:spcBef>
                <a:spcPts val="0"/>
              </a:spcBef>
              <a:spcAft>
                <a:spcPts val="0"/>
              </a:spcAft>
            </a:pPr>
            <a:r>
              <a:rPr sz="1950" b="0" lang="de-DE">
                <a:solidFill>
                  <a:srgbClr val="4A5A52"/>
                </a:solidFill>
                <a:latin typeface="Segoe UI"/>
              </a:rPr>
              <a:t>kein Rad innerhalb von 5 Minuten, der Slot ist wieder frei</a:t>
            </a:r>
          </a:p>
        </p:txBody>
      </p:sp>
      <p:sp>
        <p:nvSpPr>
          <p:cNvPr id="8" name="Karte: parked → alarm"/>
          <p:cNvSpPr/>
          <p:nvPr/>
        </p:nvSpPr>
        <p:spPr>
          <a:xfrm>
            <a:off x="4387850" y="3961447"/>
            <a:ext cx="3416300" cy="2281428"/>
          </a:xfrm>
          <a:prstGeom prst="roundRect">
            <a:avLst>
              <a:gd name="adj" fmla="val 6680"/>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Consolas"/>
              </a:rPr>
              <a:t>parked → alarm</a:t>
            </a:r>
          </a:p>
          <a:p>
            <a:pPr algn="l">
              <a:lnSpc>
                <a:spcPct val="120000"/>
              </a:lnSpc>
              <a:spcBef>
                <a:spcPts val="0"/>
              </a:spcBef>
              <a:spcAft>
                <a:spcPts val="0"/>
              </a:spcAft>
            </a:pPr>
            <a:r>
              <a:rPr sz="1950" b="0" lang="de-DE">
                <a:solidFill>
                  <a:srgbClr val="4A5A52"/>
                </a:solidFill>
                <a:latin typeface="Segoe UI"/>
              </a:rPr>
              <a:t>Rad weg ohne Abholung, die Station sperrt, bis ein Admin freigibt</a:t>
            </a:r>
          </a:p>
        </p:txBody>
      </p:sp>
      <p:sp>
        <p:nvSpPr>
          <p:cNvPr id="9" name="Karte: Entprellt"/>
          <p:cNvSpPr/>
          <p:nvPr/>
        </p:nvSpPr>
        <p:spPr>
          <a:xfrm>
            <a:off x="8013700" y="3961447"/>
            <a:ext cx="3416300" cy="2281428"/>
          </a:xfrm>
          <a:prstGeom prst="roundRect">
            <a:avLst>
              <a:gd name="adj" fmla="val 6680"/>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Entprellt</a:t>
            </a:r>
          </a:p>
          <a:p>
            <a:pPr algn="l">
              <a:lnSpc>
                <a:spcPct val="120000"/>
              </a:lnSpc>
              <a:spcBef>
                <a:spcPts val="0"/>
              </a:spcBef>
              <a:spcAft>
                <a:spcPts val="0"/>
              </a:spcAft>
            </a:pPr>
            <a:r>
              <a:rPr sz="1950" b="0" lang="de-DE">
                <a:solidFill>
                  <a:srgbClr val="4A5A52"/>
                </a:solidFill>
                <a:latin typeface="Segoe UI"/>
              </a:rPr>
              <a:t>ein Slot wechselt erst nach 5 gleichen Messungen</a:t>
            </a:r>
          </a:p>
        </p:txBody>
      </p:sp>
      <p:sp>
        <p:nvSpPr>
          <p:cNvPr id="10"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6B7C73"/>
                </a:solidFill>
                <a:latin typeface="Segoe UI"/>
              </a:rPr>
              <a:t>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50"/>
                                        <p:tgtEl>
                                          <p:spTgt spid="4"/>
                                        </p:tgtEl>
                                      </p:cBhvr>
                                    </p:animEffect>
                                    <p:anim calcmode="lin" valueType="num">
                                      <p:cBhvr>
                                        <p:cTn id="15" dur="650" decel="100000" fill="hold"/>
                                        <p:tgtEl>
                                          <p:spTgt spid="4"/>
                                        </p:tgtEl>
                                        <p:attrNameLst>
                                          <p:attrName>ppt_x</p:attrName>
                                        </p:attrNameLst>
                                      </p:cBhvr>
                                      <p:tavLst>
                                        <p:tav tm="0">
                                          <p:val>
                                            <p:strVal val="#ppt_x"/>
                                          </p:val>
                                        </p:tav>
                                        <p:tav tm="100000">
                                          <p:val>
                                            <p:strVal val="#ppt_x"/>
                                          </p:val>
                                        </p:tav>
                                      </p:tavLst>
                                    </p:anim>
                                    <p:anim calcmode="lin" valueType="num">
                                      <p:cBhvr>
                                        <p:cTn id="16" dur="650" decel="100000" fill="hold"/>
                                        <p:tgtEl>
                                          <p:spTgt spid="4"/>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48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p:cTn id="20" dur="650" decel="100000" fill="hold"/>
                                        <p:tgtEl>
                                          <p:spTgt spid="5"/>
                                        </p:tgtEl>
                                        <p:attrNameLst>
                                          <p:attrName>ppt_x</p:attrName>
                                        </p:attrNameLst>
                                      </p:cBhvr>
                                      <p:tavLst>
                                        <p:tav tm="0">
                                          <p:val>
                                            <p:strVal val="#ppt_x"/>
                                          </p:val>
                                        </p:tav>
                                        <p:tav tm="100000">
                                          <p:val>
                                            <p:strVal val="#ppt_x"/>
                                          </p:val>
                                        </p:tav>
                                      </p:tavLst>
                                    </p:anim>
                                    <p:anim calcmode="lin" valueType="num">
                                      <p:cBhvr>
                                        <p:cTn id="21" dur="650" decel="100000" fill="hold"/>
                                        <p:tgtEl>
                                          <p:spTgt spid="5"/>
                                        </p:tgtEl>
                                        <p:attrNameLst>
                                          <p:attrName>ppt_y</p:attrName>
                                        </p:attrNameLst>
                                      </p:cBhvr>
                                      <p:tavLst>
                                        <p:tav tm="0">
                                          <p:val>
                                            <p:strVal val="#ppt_y+.05"/>
                                          </p:val>
                                        </p:tav>
                                        <p:tav tm="100000">
                                          <p:val>
                                            <p:strVal val="#ppt_y"/>
                                          </p:val>
                                        </p:tav>
                                      </p:tavLst>
                                    </p:anim>
                                  </p:childTnLst>
                                </p:cTn>
                              </p:par>
                              <p:par>
                                <p:cTn id="27" presetID="42" presetClass="entr" presetSubtype="0" fill="hold" grpId="0" nodeType="withEffect">
                                  <p:stCondLst>
                                    <p:cond delay="61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50"/>
                                        <p:tgtEl>
                                          <p:spTgt spid="6"/>
                                        </p:tgtEl>
                                      </p:cBhvr>
                                    </p:animEffect>
                                    <p:anim calcmode="lin" valueType="num">
                                      <p:cBhvr>
                                        <p:cTn id="25" dur="650" decel="100000" fill="hold"/>
                                        <p:tgtEl>
                                          <p:spTgt spid="6"/>
                                        </p:tgtEl>
                                        <p:attrNameLst>
                                          <p:attrName>ppt_x</p:attrName>
                                        </p:attrNameLst>
                                      </p:cBhvr>
                                      <p:tavLst>
                                        <p:tav tm="0">
                                          <p:val>
                                            <p:strVal val="#ppt_x"/>
                                          </p:val>
                                        </p:tav>
                                        <p:tav tm="100000">
                                          <p:val>
                                            <p:strVal val="#ppt_x"/>
                                          </p:val>
                                        </p:tav>
                                      </p:tavLst>
                                    </p:anim>
                                    <p:anim calcmode="lin" valueType="num">
                                      <p:cBhvr>
                                        <p:cTn id="26" dur="650" decel="100000" fill="hold"/>
                                        <p:tgtEl>
                                          <p:spTgt spid="6"/>
                                        </p:tgtEl>
                                        <p:attrNameLst>
                                          <p:attrName>ppt_y</p:attrName>
                                        </p:attrNameLst>
                                      </p:cBhvr>
                                      <p:tavLst>
                                        <p:tav tm="0">
                                          <p:val>
                                            <p:strVal val="#ppt_y+.05"/>
                                          </p:val>
                                        </p:tav>
                                        <p:tav tm="100000">
                                          <p:val>
                                            <p:strVal val="#ppt_y"/>
                                          </p:val>
                                        </p:tav>
                                      </p:tavLst>
                                    </p:anim>
                                  </p:childTnLst>
                                </p:cTn>
                              </p:par>
                              <p:par>
                                <p:cTn id="32" presetID="42" presetClass="entr" presetSubtype="0" fill="hold" grpId="0" nodeType="withEffect">
                                  <p:stCondLst>
                                    <p:cond delay="74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650"/>
                                        <p:tgtEl>
                                          <p:spTgt spid="7"/>
                                        </p:tgtEl>
                                      </p:cBhvr>
                                    </p:animEffect>
                                    <p:anim calcmode="lin" valueType="num">
                                      <p:cBhvr>
                                        <p:cTn id="30" dur="650" decel="100000" fill="hold"/>
                                        <p:tgtEl>
                                          <p:spTgt spid="7"/>
                                        </p:tgtEl>
                                        <p:attrNameLst>
                                          <p:attrName>ppt_x</p:attrName>
                                        </p:attrNameLst>
                                      </p:cBhvr>
                                      <p:tavLst>
                                        <p:tav tm="0">
                                          <p:val>
                                            <p:strVal val="#ppt_x"/>
                                          </p:val>
                                        </p:tav>
                                        <p:tav tm="100000">
                                          <p:val>
                                            <p:strVal val="#ppt_x"/>
                                          </p:val>
                                        </p:tav>
                                      </p:tavLst>
                                    </p:anim>
                                    <p:anim calcmode="lin" valueType="num">
                                      <p:cBhvr>
                                        <p:cTn id="31" dur="650" decel="100000" fill="hold"/>
                                        <p:tgtEl>
                                          <p:spTgt spid="7"/>
                                        </p:tgtEl>
                                        <p:attrNameLst>
                                          <p:attrName>ppt_y</p:attrName>
                                        </p:attrNameLst>
                                      </p:cBhvr>
                                      <p:tavLst>
                                        <p:tav tm="0">
                                          <p:val>
                                            <p:strVal val="#ppt_y+.05"/>
                                          </p:val>
                                        </p:tav>
                                        <p:tav tm="100000">
                                          <p:val>
                                            <p:strVal val="#ppt_y"/>
                                          </p:val>
                                        </p:tav>
                                      </p:tavLst>
                                    </p:anim>
                                  </p:childTnLst>
                                </p:cTn>
                              </p:par>
                              <p:par>
                                <p:cTn id="37" presetID="42" presetClass="entr" presetSubtype="0" fill="hold" grpId="0" nodeType="withEffect">
                                  <p:stCondLst>
                                    <p:cond delay="87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650"/>
                                        <p:tgtEl>
                                          <p:spTgt spid="8"/>
                                        </p:tgtEl>
                                      </p:cBhvr>
                                    </p:animEffect>
                                    <p:anim calcmode="lin" valueType="num">
                                      <p:cBhvr>
                                        <p:cTn id="35" dur="650" decel="100000" fill="hold"/>
                                        <p:tgtEl>
                                          <p:spTgt spid="8"/>
                                        </p:tgtEl>
                                        <p:attrNameLst>
                                          <p:attrName>ppt_x</p:attrName>
                                        </p:attrNameLst>
                                      </p:cBhvr>
                                      <p:tavLst>
                                        <p:tav tm="0">
                                          <p:val>
                                            <p:strVal val="#ppt_x"/>
                                          </p:val>
                                        </p:tav>
                                        <p:tav tm="100000">
                                          <p:val>
                                            <p:strVal val="#ppt_x"/>
                                          </p:val>
                                        </p:tav>
                                      </p:tavLst>
                                    </p:anim>
                                    <p:anim calcmode="lin" valueType="num">
                                      <p:cBhvr>
                                        <p:cTn id="36" dur="650" decel="100000" fill="hold"/>
                                        <p:tgtEl>
                                          <p:spTgt spid="8"/>
                                        </p:tgtEl>
                                        <p:attrNameLst>
                                          <p:attrName>ppt_y</p:attrName>
                                        </p:attrNameLst>
                                      </p:cBhvr>
                                      <p:tavLst>
                                        <p:tav tm="0">
                                          <p:val>
                                            <p:strVal val="#ppt_y+.05"/>
                                          </p:val>
                                        </p:tav>
                                        <p:tav tm="100000">
                                          <p:val>
                                            <p:strVal val="#ppt_y"/>
                                          </p:val>
                                        </p:tav>
                                      </p:tavLst>
                                    </p:anim>
                                  </p:childTnLst>
                                </p:cTn>
                              </p:par>
                              <p:par>
                                <p:cTn id="42" presetID="42" presetClass="entr" presetSubtype="0" fill="hold" grpId="0" nodeType="withEffect">
                                  <p:stCondLst>
                                    <p:cond delay="100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50"/>
                                        <p:tgtEl>
                                          <p:spTgt spid="9"/>
                                        </p:tgtEl>
                                      </p:cBhvr>
                                    </p:animEffect>
                                    <p:anim calcmode="lin" valueType="num">
                                      <p:cBhvr>
                                        <p:cTn id="40" dur="650" decel="100000" fill="hold"/>
                                        <p:tgtEl>
                                          <p:spTgt spid="9"/>
                                        </p:tgtEl>
                                        <p:attrNameLst>
                                          <p:attrName>ppt_x</p:attrName>
                                        </p:attrNameLst>
                                      </p:cBhvr>
                                      <p:tavLst>
                                        <p:tav tm="0">
                                          <p:val>
                                            <p:strVal val="#ppt_x"/>
                                          </p:val>
                                        </p:tav>
                                        <p:tav tm="100000">
                                          <p:val>
                                            <p:strVal val="#ppt_x"/>
                                          </p:val>
                                        </p:tav>
                                      </p:tavLst>
                                    </p:anim>
                                    <p:anim calcmode="lin" valueType="num">
                                      <p:cBhvr>
                                        <p:cTn id="41" dur="650" decel="100000" fill="hold"/>
                                        <p:tgtEl>
                                          <p:spTgt spid="9"/>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P spid="7" grpId="0" animBg="1"/>
      <p:bldP spid="8" grpId="0" animBg="1"/>
      <p:bldP spid="9"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201B"/>
        </a:solidFill>
        <a:effectLst/>
      </p:bgPr>
    </p:bg>
    <p:spTree>
      <p:nvGrpSpPr>
        <p:cNvPr id="1" name=""/>
        <p:cNvGrpSpPr/>
        <p:nvPr/>
      </p:nvGrpSpPr>
      <p:grpSpPr/>
      <p:sp>
        <p:nvSpPr>
          <p:cNvPr id="2" name="Überzeile"/>
          <p:cNvSpPr txBox="1"/>
          <p:nvPr/>
        </p:nvSpPr>
        <p:spPr>
          <a:xfrm>
            <a:off x="762000" y="580834"/>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3DDC84"/>
                </a:solidFill>
                <a:latin typeface="Segoe UI"/>
              </a:rPr>
              <a:t>TECHNISCHE UMSETZUNG</a:t>
            </a:r>
          </a:p>
        </p:txBody>
      </p:sp>
      <p:sp>
        <p:nvSpPr>
          <p:cNvPr id="3" name="Titel"/>
          <p:cNvSpPr txBox="1"/>
          <p:nvPr/>
        </p:nvSpPr>
        <p:spPr>
          <a:xfrm>
            <a:off x="762000" y="879919"/>
            <a:ext cx="10668000" cy="62865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EEF3EC"/>
                </a:solidFill>
                <a:latin typeface="Segoe UI"/>
              </a:rPr>
              <a:t>Gebaut für den echten Einsatz</a:t>
            </a:r>
          </a:p>
        </p:txBody>
      </p:sp>
      <p:sp>
        <p:nvSpPr>
          <p:cNvPr id="4" name="Karte: Entprellte Sensoren"/>
          <p:cNvSpPr/>
          <p:nvPr/>
        </p:nvSpPr>
        <p:spPr>
          <a:xfrm>
            <a:off x="762000" y="1813369"/>
            <a:ext cx="3416300" cy="2473452"/>
          </a:xfrm>
          <a:prstGeom prst="roundRect">
            <a:avLst>
              <a:gd name="adj" fmla="val 6161"/>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Entprellte Sensoren</a:t>
            </a:r>
          </a:p>
          <a:p>
            <a:pPr algn="l">
              <a:lnSpc>
                <a:spcPct val="120000"/>
              </a:lnSpc>
              <a:spcBef>
                <a:spcPts val="0"/>
              </a:spcBef>
              <a:spcAft>
                <a:spcPts val="0"/>
              </a:spcAft>
            </a:pPr>
            <a:r>
              <a:rPr sz="1725" b="0" lang="de-DE">
                <a:solidFill>
                  <a:srgbClr val="C9D6CE"/>
                </a:solidFill>
                <a:latin typeface="Segoe UI"/>
              </a:rPr>
              <a:t>Medianfilter auf dem ESP, 5 gleiche Messungen in Node-RED.</a:t>
            </a:r>
          </a:p>
        </p:txBody>
      </p:sp>
      <p:sp>
        <p:nvSpPr>
          <p:cNvPr id="5" name="Karte: Kein Echo ≠ leer"/>
          <p:cNvSpPr/>
          <p:nvPr/>
        </p:nvSpPr>
        <p:spPr>
          <a:xfrm>
            <a:off x="4387850" y="1813369"/>
            <a:ext cx="3416300" cy="2473452"/>
          </a:xfrm>
          <a:prstGeom prst="roundRect">
            <a:avLst>
              <a:gd name="adj" fmla="val 6161"/>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Kein Echo ≠ leer</a:t>
            </a:r>
          </a:p>
          <a:p>
            <a:pPr algn="l">
              <a:lnSpc>
                <a:spcPct val="120000"/>
              </a:lnSpc>
              <a:spcBef>
                <a:spcPts val="0"/>
              </a:spcBef>
              <a:spcAft>
                <a:spcPts val="0"/>
              </a:spcAft>
            </a:pPr>
            <a:r>
              <a:rPr sz="1725" b="0" lang="de-DE">
                <a:solidFill>
                  <a:srgbClr val="C9D6CE"/>
                </a:solidFill>
                <a:latin typeface="Segoe UI"/>
              </a:rPr>
              <a:t>Ein defekter Sensor meldet 999 und wird ignoriert, nie „Rad weg“.</a:t>
            </a:r>
          </a:p>
        </p:txBody>
      </p:sp>
      <p:sp>
        <p:nvSpPr>
          <p:cNvPr id="6" name="Karte: Übersteht Neustarts"/>
          <p:cNvSpPr/>
          <p:nvPr/>
        </p:nvSpPr>
        <p:spPr>
          <a:xfrm>
            <a:off x="8013700" y="1813369"/>
            <a:ext cx="3416300" cy="2473452"/>
          </a:xfrm>
          <a:prstGeom prst="roundRect">
            <a:avLst>
              <a:gd name="adj" fmla="val 6161"/>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Übersteht Neustarts</a:t>
            </a:r>
          </a:p>
          <a:p>
            <a:pPr algn="l">
              <a:lnSpc>
                <a:spcPct val="120000"/>
              </a:lnSpc>
              <a:spcBef>
                <a:spcPts val="0"/>
              </a:spcBef>
              <a:spcAft>
                <a:spcPts val="0"/>
              </a:spcAft>
            </a:pPr>
            <a:r>
              <a:rPr sz="1725" b="0" lang="de-DE">
                <a:solidFill>
                  <a:srgbClr val="C9D6CE"/>
                </a:solidFill>
                <a:latin typeface="Segoe UI"/>
              </a:rPr>
              <a:t>Alarme und Reservierungen liegen auf der Festplatte; ein Neustart entsperrt nichts.</a:t>
            </a:r>
          </a:p>
        </p:txBody>
      </p:sp>
      <p:sp>
        <p:nvSpPr>
          <p:cNvPr id="7" name="Karte: Ehrliche App"/>
          <p:cNvSpPr/>
          <p:nvPr/>
        </p:nvSpPr>
        <p:spPr>
          <a:xfrm>
            <a:off x="762000" y="4496371"/>
            <a:ext cx="3416300" cy="1780794"/>
          </a:xfrm>
          <a:prstGeom prst="roundRect">
            <a:avLst>
              <a:gd name="adj" fmla="val 8557"/>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Ehrliche App</a:t>
            </a:r>
          </a:p>
          <a:p>
            <a:pPr algn="l">
              <a:lnSpc>
                <a:spcPct val="120000"/>
              </a:lnSpc>
              <a:spcBef>
                <a:spcPts val="0"/>
              </a:spcBef>
              <a:spcAft>
                <a:spcPts val="0"/>
              </a:spcAft>
            </a:pPr>
            <a:r>
              <a:rPr sz="1725" b="0" lang="de-DE">
                <a:solidFill>
                  <a:srgbClr val="C9D6CE"/>
                </a:solidFill>
                <a:latin typeface="Segoe UI"/>
              </a:rPr>
              <a:t>Die App wartet auf die Antwort der Station, bevor sie „offen“ meldet.</a:t>
            </a:r>
          </a:p>
        </p:txBody>
      </p:sp>
      <p:sp>
        <p:nvSpPr>
          <p:cNvPr id="8" name="Karte: Getrenntes Netz"/>
          <p:cNvSpPr/>
          <p:nvPr/>
        </p:nvSpPr>
        <p:spPr>
          <a:xfrm>
            <a:off x="4387850" y="4496371"/>
            <a:ext cx="3416300" cy="1780794"/>
          </a:xfrm>
          <a:prstGeom prst="roundRect">
            <a:avLst>
              <a:gd name="adj" fmla="val 8557"/>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Getrenntes Netz</a:t>
            </a:r>
          </a:p>
          <a:p>
            <a:pPr algn="l">
              <a:lnSpc>
                <a:spcPct val="120000"/>
              </a:lnSpc>
              <a:spcBef>
                <a:spcPts val="0"/>
              </a:spcBef>
              <a:spcAft>
                <a:spcPts val="0"/>
              </a:spcAft>
            </a:pPr>
            <a:r>
              <a:rPr sz="1725" b="0" lang="de-DE">
                <a:solidFill>
                  <a:srgbClr val="C9D6CE"/>
                </a:solidFill>
                <a:latin typeface="Segoe UI"/>
              </a:rPr>
              <a:t>Die ESPs erreichen den Broker und sonst nichts.</a:t>
            </a:r>
          </a:p>
        </p:txBody>
      </p:sp>
      <p:sp>
        <p:nvSpPr>
          <p:cNvPr id="9" name="Karte: Lastverteilung"/>
          <p:cNvSpPr/>
          <p:nvPr/>
        </p:nvSpPr>
        <p:spPr>
          <a:xfrm>
            <a:off x="8013700" y="4496371"/>
            <a:ext cx="3416300" cy="1780794"/>
          </a:xfrm>
          <a:prstGeom prst="roundRect">
            <a:avLst>
              <a:gd name="adj" fmla="val 8557"/>
            </a:avLst>
          </a:prstGeom>
          <a:solidFill>
            <a:srgbClr val="1A2E26"/>
          </a:solidFill>
          <a:ln w="9525">
            <a:solidFill>
              <a:srgbClr val="2E5443"/>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3DDC84"/>
                </a:solidFill>
                <a:latin typeface="Segoe UI"/>
              </a:rPr>
              <a:t>Lastverteilung</a:t>
            </a:r>
          </a:p>
          <a:p>
            <a:pPr algn="l">
              <a:lnSpc>
                <a:spcPct val="120000"/>
              </a:lnSpc>
              <a:spcBef>
                <a:spcPts val="0"/>
              </a:spcBef>
              <a:spcAft>
                <a:spcPts val="0"/>
              </a:spcAft>
            </a:pPr>
            <a:r>
              <a:rPr sz="1725" b="0" lang="de-DE">
                <a:solidFill>
                  <a:srgbClr val="C9D6CE"/>
                </a:solidFill>
                <a:latin typeface="Segoe UI"/>
              </a:rPr>
              <a:t>Zwei ESPs: Jeder Slot meldet sich alle 200 ms statt nur jede Sekunde.</a:t>
            </a:r>
          </a:p>
        </p:txBody>
      </p:sp>
      <p:sp>
        <p:nvSpPr>
          <p:cNvPr id="10"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8FA89A"/>
                </a:solidFill>
                <a:latin typeface="Segoe UI"/>
              </a:rPr>
              <a:t>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50"/>
                                        <p:tgtEl>
                                          <p:spTgt spid="4"/>
                                        </p:tgtEl>
                                      </p:cBhvr>
                                    </p:animEffect>
                                    <p:anim calcmode="lin" valueType="num">
                                      <p:cBhvr>
                                        <p:cTn id="15" dur="650" decel="100000" fill="hold"/>
                                        <p:tgtEl>
                                          <p:spTgt spid="4"/>
                                        </p:tgtEl>
                                        <p:attrNameLst>
                                          <p:attrName>ppt_x</p:attrName>
                                        </p:attrNameLst>
                                      </p:cBhvr>
                                      <p:tavLst>
                                        <p:tav tm="0">
                                          <p:val>
                                            <p:strVal val="#ppt_x"/>
                                          </p:val>
                                        </p:tav>
                                        <p:tav tm="100000">
                                          <p:val>
                                            <p:strVal val="#ppt_x"/>
                                          </p:val>
                                        </p:tav>
                                      </p:tavLst>
                                    </p:anim>
                                    <p:anim calcmode="lin" valueType="num">
                                      <p:cBhvr>
                                        <p:cTn id="16" dur="650" decel="100000" fill="hold"/>
                                        <p:tgtEl>
                                          <p:spTgt spid="4"/>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48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p:cTn id="20" dur="650" decel="100000" fill="hold"/>
                                        <p:tgtEl>
                                          <p:spTgt spid="5"/>
                                        </p:tgtEl>
                                        <p:attrNameLst>
                                          <p:attrName>ppt_x</p:attrName>
                                        </p:attrNameLst>
                                      </p:cBhvr>
                                      <p:tavLst>
                                        <p:tav tm="0">
                                          <p:val>
                                            <p:strVal val="#ppt_x"/>
                                          </p:val>
                                        </p:tav>
                                        <p:tav tm="100000">
                                          <p:val>
                                            <p:strVal val="#ppt_x"/>
                                          </p:val>
                                        </p:tav>
                                      </p:tavLst>
                                    </p:anim>
                                    <p:anim calcmode="lin" valueType="num">
                                      <p:cBhvr>
                                        <p:cTn id="21" dur="650" decel="100000" fill="hold"/>
                                        <p:tgtEl>
                                          <p:spTgt spid="5"/>
                                        </p:tgtEl>
                                        <p:attrNameLst>
                                          <p:attrName>ppt_y</p:attrName>
                                        </p:attrNameLst>
                                      </p:cBhvr>
                                      <p:tavLst>
                                        <p:tav tm="0">
                                          <p:val>
                                            <p:strVal val="#ppt_y+.05"/>
                                          </p:val>
                                        </p:tav>
                                        <p:tav tm="100000">
                                          <p:val>
                                            <p:strVal val="#ppt_y"/>
                                          </p:val>
                                        </p:tav>
                                      </p:tavLst>
                                    </p:anim>
                                  </p:childTnLst>
                                </p:cTn>
                              </p:par>
                              <p:par>
                                <p:cTn id="27" presetID="42" presetClass="entr" presetSubtype="0" fill="hold" grpId="0" nodeType="withEffect">
                                  <p:stCondLst>
                                    <p:cond delay="61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50"/>
                                        <p:tgtEl>
                                          <p:spTgt spid="6"/>
                                        </p:tgtEl>
                                      </p:cBhvr>
                                    </p:animEffect>
                                    <p:anim calcmode="lin" valueType="num">
                                      <p:cBhvr>
                                        <p:cTn id="25" dur="650" decel="100000" fill="hold"/>
                                        <p:tgtEl>
                                          <p:spTgt spid="6"/>
                                        </p:tgtEl>
                                        <p:attrNameLst>
                                          <p:attrName>ppt_x</p:attrName>
                                        </p:attrNameLst>
                                      </p:cBhvr>
                                      <p:tavLst>
                                        <p:tav tm="0">
                                          <p:val>
                                            <p:strVal val="#ppt_x"/>
                                          </p:val>
                                        </p:tav>
                                        <p:tav tm="100000">
                                          <p:val>
                                            <p:strVal val="#ppt_x"/>
                                          </p:val>
                                        </p:tav>
                                      </p:tavLst>
                                    </p:anim>
                                    <p:anim calcmode="lin" valueType="num">
                                      <p:cBhvr>
                                        <p:cTn id="26" dur="650" decel="100000" fill="hold"/>
                                        <p:tgtEl>
                                          <p:spTgt spid="6"/>
                                        </p:tgtEl>
                                        <p:attrNameLst>
                                          <p:attrName>ppt_y</p:attrName>
                                        </p:attrNameLst>
                                      </p:cBhvr>
                                      <p:tavLst>
                                        <p:tav tm="0">
                                          <p:val>
                                            <p:strVal val="#ppt_y+.05"/>
                                          </p:val>
                                        </p:tav>
                                        <p:tav tm="100000">
                                          <p:val>
                                            <p:strVal val="#ppt_y"/>
                                          </p:val>
                                        </p:tav>
                                      </p:tavLst>
                                    </p:anim>
                                  </p:childTnLst>
                                </p:cTn>
                              </p:par>
                              <p:par>
                                <p:cTn id="32" presetID="42" presetClass="entr" presetSubtype="0" fill="hold" grpId="0" nodeType="withEffect">
                                  <p:stCondLst>
                                    <p:cond delay="74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650"/>
                                        <p:tgtEl>
                                          <p:spTgt spid="7"/>
                                        </p:tgtEl>
                                      </p:cBhvr>
                                    </p:animEffect>
                                    <p:anim calcmode="lin" valueType="num">
                                      <p:cBhvr>
                                        <p:cTn id="30" dur="650" decel="100000" fill="hold"/>
                                        <p:tgtEl>
                                          <p:spTgt spid="7"/>
                                        </p:tgtEl>
                                        <p:attrNameLst>
                                          <p:attrName>ppt_x</p:attrName>
                                        </p:attrNameLst>
                                      </p:cBhvr>
                                      <p:tavLst>
                                        <p:tav tm="0">
                                          <p:val>
                                            <p:strVal val="#ppt_x"/>
                                          </p:val>
                                        </p:tav>
                                        <p:tav tm="100000">
                                          <p:val>
                                            <p:strVal val="#ppt_x"/>
                                          </p:val>
                                        </p:tav>
                                      </p:tavLst>
                                    </p:anim>
                                    <p:anim calcmode="lin" valueType="num">
                                      <p:cBhvr>
                                        <p:cTn id="31" dur="650" decel="100000" fill="hold"/>
                                        <p:tgtEl>
                                          <p:spTgt spid="7"/>
                                        </p:tgtEl>
                                        <p:attrNameLst>
                                          <p:attrName>ppt_y</p:attrName>
                                        </p:attrNameLst>
                                      </p:cBhvr>
                                      <p:tavLst>
                                        <p:tav tm="0">
                                          <p:val>
                                            <p:strVal val="#ppt_y+.05"/>
                                          </p:val>
                                        </p:tav>
                                        <p:tav tm="100000">
                                          <p:val>
                                            <p:strVal val="#ppt_y"/>
                                          </p:val>
                                        </p:tav>
                                      </p:tavLst>
                                    </p:anim>
                                  </p:childTnLst>
                                </p:cTn>
                              </p:par>
                              <p:par>
                                <p:cTn id="37" presetID="42" presetClass="entr" presetSubtype="0" fill="hold" grpId="0" nodeType="withEffect">
                                  <p:stCondLst>
                                    <p:cond delay="87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650"/>
                                        <p:tgtEl>
                                          <p:spTgt spid="8"/>
                                        </p:tgtEl>
                                      </p:cBhvr>
                                    </p:animEffect>
                                    <p:anim calcmode="lin" valueType="num">
                                      <p:cBhvr>
                                        <p:cTn id="35" dur="650" decel="100000" fill="hold"/>
                                        <p:tgtEl>
                                          <p:spTgt spid="8"/>
                                        </p:tgtEl>
                                        <p:attrNameLst>
                                          <p:attrName>ppt_x</p:attrName>
                                        </p:attrNameLst>
                                      </p:cBhvr>
                                      <p:tavLst>
                                        <p:tav tm="0">
                                          <p:val>
                                            <p:strVal val="#ppt_x"/>
                                          </p:val>
                                        </p:tav>
                                        <p:tav tm="100000">
                                          <p:val>
                                            <p:strVal val="#ppt_x"/>
                                          </p:val>
                                        </p:tav>
                                      </p:tavLst>
                                    </p:anim>
                                    <p:anim calcmode="lin" valueType="num">
                                      <p:cBhvr>
                                        <p:cTn id="36" dur="650" decel="100000" fill="hold"/>
                                        <p:tgtEl>
                                          <p:spTgt spid="8"/>
                                        </p:tgtEl>
                                        <p:attrNameLst>
                                          <p:attrName>ppt_y</p:attrName>
                                        </p:attrNameLst>
                                      </p:cBhvr>
                                      <p:tavLst>
                                        <p:tav tm="0">
                                          <p:val>
                                            <p:strVal val="#ppt_y+.05"/>
                                          </p:val>
                                        </p:tav>
                                        <p:tav tm="100000">
                                          <p:val>
                                            <p:strVal val="#ppt_y"/>
                                          </p:val>
                                        </p:tav>
                                      </p:tavLst>
                                    </p:anim>
                                  </p:childTnLst>
                                </p:cTn>
                              </p:par>
                              <p:par>
                                <p:cTn id="42" presetID="42" presetClass="entr" presetSubtype="0" fill="hold" grpId="0" nodeType="withEffect">
                                  <p:stCondLst>
                                    <p:cond delay="100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50"/>
                                        <p:tgtEl>
                                          <p:spTgt spid="9"/>
                                        </p:tgtEl>
                                      </p:cBhvr>
                                    </p:animEffect>
                                    <p:anim calcmode="lin" valueType="num">
                                      <p:cBhvr>
                                        <p:cTn id="40" dur="650" decel="100000" fill="hold"/>
                                        <p:tgtEl>
                                          <p:spTgt spid="9"/>
                                        </p:tgtEl>
                                        <p:attrNameLst>
                                          <p:attrName>ppt_x</p:attrName>
                                        </p:attrNameLst>
                                      </p:cBhvr>
                                      <p:tavLst>
                                        <p:tav tm="0">
                                          <p:val>
                                            <p:strVal val="#ppt_x"/>
                                          </p:val>
                                        </p:tav>
                                        <p:tav tm="100000">
                                          <p:val>
                                            <p:strVal val="#ppt_x"/>
                                          </p:val>
                                        </p:tav>
                                      </p:tavLst>
                                    </p:anim>
                                    <p:anim calcmode="lin" valueType="num">
                                      <p:cBhvr>
                                        <p:cTn id="41" dur="650" decel="100000" fill="hold"/>
                                        <p:tgtEl>
                                          <p:spTgt spid="9"/>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P spid="7" grpId="0" animBg="1"/>
      <p:bldP spid="8" grpId="0" animBg="1"/>
      <p:bldP spid="9"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3DDC84"/>
        </a:solidFill>
        <a:effectLst/>
      </p:bgPr>
    </p:bg>
    <p:spTree>
      <p:nvGrpSpPr>
        <p:cNvPr id="1" name=""/>
        <p:cNvGrpSpPr/>
        <p:nvPr/>
      </p:nvGrpSpPr>
      <p:grpSpPr/>
      <p:sp>
        <p:nvSpPr>
          <p:cNvPr id="2" name="Überzeile"/>
          <p:cNvSpPr txBox="1"/>
          <p:nvPr/>
        </p:nvSpPr>
        <p:spPr>
          <a:xfrm>
            <a:off x="762000" y="1912429"/>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0E1A15"/>
                </a:solidFill>
                <a:latin typeface="Segoe UI"/>
              </a:rPr>
              <a:t>LIVE-DATEN DER STATION</a:t>
            </a:r>
          </a:p>
        </p:txBody>
      </p:sp>
      <p:sp>
        <p:nvSpPr>
          <p:cNvPr id="3" name="Titel"/>
          <p:cNvSpPr txBox="1"/>
          <p:nvPr/>
        </p:nvSpPr>
        <p:spPr>
          <a:xfrm>
            <a:off x="762000" y="2211514"/>
            <a:ext cx="10668000" cy="62865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0E1A15"/>
                </a:solidFill>
                <a:latin typeface="Segoe UI"/>
              </a:rPr>
              <a:t>Sie läuft, und sie zeichnet alles auf</a:t>
            </a:r>
          </a:p>
        </p:txBody>
      </p:sp>
      <p:sp>
        <p:nvSpPr>
          <p:cNvPr id="4" name="Kennzahl: 483.000"/>
          <p:cNvSpPr txBox="1"/>
          <p:nvPr/>
        </p:nvSpPr>
        <p:spPr>
          <a:xfrm>
            <a:off x="762000" y="3144964"/>
            <a:ext cx="2509837" cy="1800606"/>
          </a:xfrm>
          <a:prstGeom prst="rect">
            <a:avLst/>
          </a:prstGeom>
          <a:noFill/>
        </p:spPr>
        <p:txBody>
          <a:bodyPr wrap="square" lIns="0" tIns="0" rIns="0" bIns="0" anchor="t"/>
          <a:lstStyle/>
          <a:p>
            <a:pPr>
              <a:lnSpc>
                <a:spcPct val="100000"/>
              </a:lnSpc>
              <a:spcBef>
                <a:spcPts val="0"/>
              </a:spcBef>
              <a:spcAft>
                <a:spcPts val="600"/>
              </a:spcAft>
            </a:pPr>
            <a:r>
              <a:rPr sz="4200" b="1" lang="de-DE">
                <a:solidFill>
                  <a:srgbClr val="0E1A15"/>
                </a:solidFill>
                <a:latin typeface="Segoe UI"/>
              </a:rPr>
              <a:t>483.000</a:t>
            </a:r>
          </a:p>
          <a:p>
            <a:pPr>
              <a:lnSpc>
                <a:spcPct val="135000"/>
              </a:lnSpc>
              <a:spcBef>
                <a:spcPts val="0"/>
              </a:spcBef>
              <a:spcAft>
                <a:spcPts val="0"/>
              </a:spcAft>
            </a:pPr>
            <a:r>
              <a:rPr sz="1800" b="0" lang="de-DE">
                <a:solidFill>
                  <a:srgbClr val="0E1A15"/>
                </a:solidFill>
                <a:latin typeface="Segoe UI"/>
              </a:rPr>
              <a:t>gespeicherte Sensormesswerte</a:t>
            </a:r>
          </a:p>
        </p:txBody>
      </p:sp>
      <p:sp>
        <p:nvSpPr>
          <p:cNvPr id="5" name="Kennzahl: 33"/>
          <p:cNvSpPr txBox="1"/>
          <p:nvPr/>
        </p:nvSpPr>
        <p:spPr>
          <a:xfrm>
            <a:off x="3481387" y="3144964"/>
            <a:ext cx="2509837" cy="1800606"/>
          </a:xfrm>
          <a:prstGeom prst="rect">
            <a:avLst/>
          </a:prstGeom>
          <a:noFill/>
        </p:spPr>
        <p:txBody>
          <a:bodyPr wrap="square" lIns="0" tIns="0" rIns="0" bIns="0" anchor="t"/>
          <a:lstStyle/>
          <a:p>
            <a:pPr>
              <a:lnSpc>
                <a:spcPct val="100000"/>
              </a:lnSpc>
              <a:spcBef>
                <a:spcPts val="0"/>
              </a:spcBef>
              <a:spcAft>
                <a:spcPts val="600"/>
              </a:spcAft>
            </a:pPr>
            <a:r>
              <a:rPr sz="4200" b="1" lang="de-DE">
                <a:solidFill>
                  <a:srgbClr val="0E1A15"/>
                </a:solidFill>
                <a:latin typeface="Segoe UI"/>
              </a:rPr>
              <a:t>33</a:t>
            </a:r>
          </a:p>
          <a:p>
            <a:pPr>
              <a:lnSpc>
                <a:spcPct val="135000"/>
              </a:lnSpc>
              <a:spcBef>
                <a:spcPts val="0"/>
              </a:spcBef>
              <a:spcAft>
                <a:spcPts val="0"/>
              </a:spcAft>
            </a:pPr>
            <a:r>
              <a:rPr sz="1800" b="0" lang="de-DE">
                <a:solidFill>
                  <a:srgbClr val="0E1A15"/>
                </a:solidFill>
                <a:latin typeface="Segoe UI"/>
              </a:rPr>
              <a:t>Parkvorgänge, 31 davon abgeschlossen</a:t>
            </a:r>
          </a:p>
        </p:txBody>
      </p:sp>
      <p:sp>
        <p:nvSpPr>
          <p:cNvPr id="6" name="Kennzahl: 84"/>
          <p:cNvSpPr txBox="1"/>
          <p:nvPr/>
        </p:nvSpPr>
        <p:spPr>
          <a:xfrm>
            <a:off x="6200775" y="3144964"/>
            <a:ext cx="2509837" cy="1800606"/>
          </a:xfrm>
          <a:prstGeom prst="rect">
            <a:avLst/>
          </a:prstGeom>
          <a:noFill/>
        </p:spPr>
        <p:txBody>
          <a:bodyPr wrap="square" lIns="0" tIns="0" rIns="0" bIns="0" anchor="t"/>
          <a:lstStyle/>
          <a:p>
            <a:pPr>
              <a:lnSpc>
                <a:spcPct val="100000"/>
              </a:lnSpc>
              <a:spcBef>
                <a:spcPts val="0"/>
              </a:spcBef>
              <a:spcAft>
                <a:spcPts val="600"/>
              </a:spcAft>
            </a:pPr>
            <a:r>
              <a:rPr sz="4200" b="1" lang="de-DE">
                <a:solidFill>
                  <a:srgbClr val="0E1A15"/>
                </a:solidFill>
                <a:latin typeface="Segoe UI"/>
              </a:rPr>
              <a:t>84</a:t>
            </a:r>
          </a:p>
          <a:p>
            <a:pPr>
              <a:lnSpc>
                <a:spcPct val="135000"/>
              </a:lnSpc>
              <a:spcBef>
                <a:spcPts val="0"/>
              </a:spcBef>
              <a:spcAft>
                <a:spcPts val="0"/>
              </a:spcAft>
            </a:pPr>
            <a:r>
              <a:rPr sz="1800" b="0" lang="de-DE">
                <a:solidFill>
                  <a:srgbClr val="0E1A15"/>
                </a:solidFill>
                <a:latin typeface="Segoe UI"/>
              </a:rPr>
              <a:t>Anmeldungen, 17 davon per App</a:t>
            </a:r>
          </a:p>
        </p:txBody>
      </p:sp>
      <p:sp>
        <p:nvSpPr>
          <p:cNvPr id="7" name="Kennzahl: 8,5 s"/>
          <p:cNvSpPr txBox="1"/>
          <p:nvPr/>
        </p:nvSpPr>
        <p:spPr>
          <a:xfrm>
            <a:off x="8920162" y="3144964"/>
            <a:ext cx="2509837" cy="1800606"/>
          </a:xfrm>
          <a:prstGeom prst="rect">
            <a:avLst/>
          </a:prstGeom>
          <a:noFill/>
        </p:spPr>
        <p:txBody>
          <a:bodyPr wrap="square" lIns="0" tIns="0" rIns="0" bIns="0" anchor="t"/>
          <a:lstStyle/>
          <a:p>
            <a:pPr>
              <a:lnSpc>
                <a:spcPct val="100000"/>
              </a:lnSpc>
              <a:spcBef>
                <a:spcPts val="0"/>
              </a:spcBef>
              <a:spcAft>
                <a:spcPts val="600"/>
              </a:spcAft>
            </a:pPr>
            <a:r>
              <a:rPr sz="4200" b="1" lang="de-DE">
                <a:solidFill>
                  <a:srgbClr val="0E1A15"/>
                </a:solidFill>
                <a:latin typeface="Segoe UI"/>
              </a:rPr>
              <a:t>8,5 s</a:t>
            </a:r>
          </a:p>
          <a:p>
            <a:pPr>
              <a:lnSpc>
                <a:spcPct val="135000"/>
              </a:lnSpc>
              <a:spcBef>
                <a:spcPts val="0"/>
              </a:spcBef>
              <a:spcAft>
                <a:spcPts val="0"/>
              </a:spcAft>
            </a:pPr>
            <a:r>
              <a:rPr sz="1800" b="0" lang="de-DE">
                <a:solidFill>
                  <a:srgbClr val="0E1A15"/>
                </a:solidFill>
                <a:latin typeface="Segoe UI"/>
              </a:rPr>
              <a:t>im Schnitt vom Anmelden bis „Secured“</a:t>
            </a:r>
          </a:p>
        </p:txBody>
      </p:sp>
      <p:sp>
        <p:nvSpPr>
          <p:cNvPr id="8" name="Fußzeile"/>
          <p:cNvSpPr txBox="1"/>
          <p:nvPr/>
        </p:nvSpPr>
        <p:spPr>
          <a:xfrm>
            <a:off x="254000" y="6477000"/>
            <a:ext cx="8890000" cy="203200"/>
          </a:xfrm>
          <a:prstGeom prst="rect">
            <a:avLst/>
          </a:prstGeom>
          <a:noFill/>
        </p:spPr>
        <p:txBody>
          <a:bodyPr wrap="square" lIns="0" tIns="0" rIns="0" bIns="0" anchor="t"/>
          <a:lstStyle/>
          <a:p>
            <a:r>
              <a:rPr sz="1200" b="0" lang="de-DE">
                <a:solidFill>
                  <a:srgbClr val="1D3B2E"/>
                </a:solidFill>
                <a:latin typeface="Segoe UI"/>
              </a:rPr>
              <a:t>Quelle: PostgreSQL-Datenbank der Station, 29.09.2026, Daten seit 01:18 Uhr</a:t>
            </a:r>
          </a:p>
        </p:txBody>
      </p:sp>
      <p:sp>
        <p:nvSpPr>
          <p:cNvPr id="9"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1D3B2E"/>
                </a:solidFill>
                <a:latin typeface="Segoe UI"/>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700"/>
                                        <p:tgtEl>
                                          <p:spTgt spid="4"/>
                                        </p:tgtEl>
                                      </p:cBhvr>
                                    </p:animEffect>
                                    <p:anim calcmode="lin" valueType="num">
                                      <p:cBhvr>
                                        <p:cTn id="15" dur="700" decel="100000" fill="hold"/>
                                        <p:tgtEl>
                                          <p:spTgt spid="4"/>
                                        </p:tgtEl>
                                        <p:attrNameLst>
                                          <p:attrName>ppt_x</p:attrName>
                                        </p:attrNameLst>
                                      </p:cBhvr>
                                      <p:tavLst>
                                        <p:tav tm="0">
                                          <p:val>
                                            <p:strVal val="#ppt_x"/>
                                          </p:val>
                                        </p:tav>
                                        <p:tav tm="100000">
                                          <p:val>
                                            <p:strVal val="#ppt_x"/>
                                          </p:val>
                                        </p:tav>
                                      </p:tavLst>
                                    </p:anim>
                                    <p:anim calcmode="lin" valueType="num">
                                      <p:cBhvr>
                                        <p:cTn id="16" dur="700" decel="100000" fill="hold"/>
                                        <p:tgtEl>
                                          <p:spTgt spid="4"/>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61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700"/>
                                        <p:tgtEl>
                                          <p:spTgt spid="5"/>
                                        </p:tgtEl>
                                      </p:cBhvr>
                                    </p:animEffect>
                                    <p:anim calcmode="lin" valueType="num">
                                      <p:cBhvr>
                                        <p:cTn id="20" dur="700" decel="100000" fill="hold"/>
                                        <p:tgtEl>
                                          <p:spTgt spid="5"/>
                                        </p:tgtEl>
                                        <p:attrNameLst>
                                          <p:attrName>ppt_x</p:attrName>
                                        </p:attrNameLst>
                                      </p:cBhvr>
                                      <p:tavLst>
                                        <p:tav tm="0">
                                          <p:val>
                                            <p:strVal val="#ppt_x"/>
                                          </p:val>
                                        </p:tav>
                                        <p:tav tm="100000">
                                          <p:val>
                                            <p:strVal val="#ppt_x"/>
                                          </p:val>
                                        </p:tav>
                                      </p:tavLst>
                                    </p:anim>
                                    <p:anim calcmode="lin" valueType="num">
                                      <p:cBhvr>
                                        <p:cTn id="21" dur="700" decel="100000" fill="hold"/>
                                        <p:tgtEl>
                                          <p:spTgt spid="5"/>
                                        </p:tgtEl>
                                        <p:attrNameLst>
                                          <p:attrName>ppt_y</p:attrName>
                                        </p:attrNameLst>
                                      </p:cBhvr>
                                      <p:tavLst>
                                        <p:tav tm="0">
                                          <p:val>
                                            <p:strVal val="#ppt_y+.05"/>
                                          </p:val>
                                        </p:tav>
                                        <p:tav tm="100000">
                                          <p:val>
                                            <p:strVal val="#ppt_y"/>
                                          </p:val>
                                        </p:tav>
                                      </p:tavLst>
                                    </p:anim>
                                  </p:childTnLst>
                                </p:cTn>
                              </p:par>
                              <p:par>
                                <p:cTn id="27" presetID="42" presetClass="entr" presetSubtype="0" fill="hold" grpId="0" nodeType="withEffect">
                                  <p:stCondLst>
                                    <p:cond delay="87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700"/>
                                        <p:tgtEl>
                                          <p:spTgt spid="6"/>
                                        </p:tgtEl>
                                      </p:cBhvr>
                                    </p:animEffect>
                                    <p:anim calcmode="lin" valueType="num">
                                      <p:cBhvr>
                                        <p:cTn id="25" dur="700" decel="100000" fill="hold"/>
                                        <p:tgtEl>
                                          <p:spTgt spid="6"/>
                                        </p:tgtEl>
                                        <p:attrNameLst>
                                          <p:attrName>ppt_x</p:attrName>
                                        </p:attrNameLst>
                                      </p:cBhvr>
                                      <p:tavLst>
                                        <p:tav tm="0">
                                          <p:val>
                                            <p:strVal val="#ppt_x"/>
                                          </p:val>
                                        </p:tav>
                                        <p:tav tm="100000">
                                          <p:val>
                                            <p:strVal val="#ppt_x"/>
                                          </p:val>
                                        </p:tav>
                                      </p:tavLst>
                                    </p:anim>
                                    <p:anim calcmode="lin" valueType="num">
                                      <p:cBhvr>
                                        <p:cTn id="26" dur="700" decel="100000" fill="hold"/>
                                        <p:tgtEl>
                                          <p:spTgt spid="6"/>
                                        </p:tgtEl>
                                        <p:attrNameLst>
                                          <p:attrName>ppt_y</p:attrName>
                                        </p:attrNameLst>
                                      </p:cBhvr>
                                      <p:tavLst>
                                        <p:tav tm="0">
                                          <p:val>
                                            <p:strVal val="#ppt_y+.05"/>
                                          </p:val>
                                        </p:tav>
                                        <p:tav tm="100000">
                                          <p:val>
                                            <p:strVal val="#ppt_y"/>
                                          </p:val>
                                        </p:tav>
                                      </p:tavLst>
                                    </p:anim>
                                  </p:childTnLst>
                                </p:cTn>
                              </p:par>
                              <p:par>
                                <p:cTn id="32" presetID="42" presetClass="entr" presetSubtype="0" fill="hold" grpId="0" nodeType="withEffect">
                                  <p:stCondLst>
                                    <p:cond delay="113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700"/>
                                        <p:tgtEl>
                                          <p:spTgt spid="7"/>
                                        </p:tgtEl>
                                      </p:cBhvr>
                                    </p:animEffect>
                                    <p:anim calcmode="lin" valueType="num">
                                      <p:cBhvr>
                                        <p:cTn id="30" dur="700" decel="100000" fill="hold"/>
                                        <p:tgtEl>
                                          <p:spTgt spid="7"/>
                                        </p:tgtEl>
                                        <p:attrNameLst>
                                          <p:attrName>ppt_x</p:attrName>
                                        </p:attrNameLst>
                                      </p:cBhvr>
                                      <p:tavLst>
                                        <p:tav tm="0">
                                          <p:val>
                                            <p:strVal val="#ppt_x"/>
                                          </p:val>
                                        </p:tav>
                                        <p:tav tm="100000">
                                          <p:val>
                                            <p:strVal val="#ppt_x"/>
                                          </p:val>
                                        </p:tav>
                                      </p:tavLst>
                                    </p:anim>
                                    <p:anim calcmode="lin" valueType="num">
                                      <p:cBhvr>
                                        <p:cTn id="31" dur="700" decel="100000" fill="hold"/>
                                        <p:tgtEl>
                                          <p:spTgt spid="7"/>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5EF"/>
        </a:solidFill>
        <a:effectLst/>
      </p:bgPr>
    </p:bg>
    <p:spTree>
      <p:nvGrpSpPr>
        <p:cNvPr id="1" name=""/>
        <p:cNvGrpSpPr/>
        <p:nvPr/>
      </p:nvGrpSpPr>
      <p:grpSpPr/>
      <p:sp>
        <p:nvSpPr>
          <p:cNvPr id="2" name="Überzeile"/>
          <p:cNvSpPr txBox="1"/>
          <p:nvPr/>
        </p:nvSpPr>
        <p:spPr>
          <a:xfrm>
            <a:off x="762000" y="942403"/>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1B7F4B"/>
                </a:solidFill>
                <a:latin typeface="Segoe UI"/>
              </a:rPr>
              <a:t>TESTS &amp; QUALITÄT</a:t>
            </a:r>
          </a:p>
        </p:txBody>
      </p:sp>
      <p:sp>
        <p:nvSpPr>
          <p:cNvPr id="3" name="Titel"/>
          <p:cNvSpPr txBox="1"/>
          <p:nvPr/>
        </p:nvSpPr>
        <p:spPr>
          <a:xfrm>
            <a:off x="762000" y="1241488"/>
            <a:ext cx="10668000" cy="62865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17241F"/>
                </a:solidFill>
                <a:latin typeface="Segoe UI"/>
              </a:rPr>
              <a:t>Getestet im Code und an der Station</a:t>
            </a:r>
          </a:p>
        </p:txBody>
      </p:sp>
      <p:sp>
        <p:nvSpPr>
          <p:cNvPr id="4" name="Karte: 14 Logik-Szenarien, alle bestanden"/>
          <p:cNvSpPr/>
          <p:nvPr/>
        </p:nvSpPr>
        <p:spPr>
          <a:xfrm>
            <a:off x="762000" y="2174938"/>
            <a:ext cx="5229225" cy="3740658"/>
          </a:xfrm>
          <a:prstGeom prst="roundRect">
            <a:avLst>
              <a:gd name="adj" fmla="val 4074"/>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14 Logik-Szenarien, alle bestanden</a:t>
            </a:r>
          </a:p>
          <a:p>
            <a:pPr algn="l" marL="228600" indent="-203200">
              <a:lnSpc>
                <a:spcPct val="120000"/>
              </a:lnSpc>
              <a:spcBef>
                <a:spcPts val="300"/>
              </a:spcBef>
              <a:spcAft>
                <a:spcPts val="0"/>
              </a:spcAft>
              <a:buClr>
                <a:srgbClr val="4A5A52"/>
              </a:buClr>
              <a:buFont typeface="Arial"/>
              <a:buChar char="◦"/>
            </a:pPr>
            <a:r>
              <a:rPr sz="1650" b="0" lang="de-DE">
                <a:solidFill>
                  <a:srgbClr val="4A5A52"/>
                </a:solidFill>
                <a:latin typeface="Segoe UI"/>
              </a:rPr>
              <a:t>unbekannter Chip wird abgewiesen</a:t>
            </a:r>
          </a:p>
          <a:p>
            <a:pPr algn="l" marL="228600" indent="-203200">
              <a:lnSpc>
                <a:spcPct val="120000"/>
              </a:lnSpc>
              <a:spcBef>
                <a:spcPts val="300"/>
              </a:spcBef>
              <a:spcAft>
                <a:spcPts val="0"/>
              </a:spcAft>
              <a:buClr>
                <a:srgbClr val="4A5A52"/>
              </a:buClr>
              <a:buFont typeface="Arial"/>
              <a:buChar char="◦"/>
            </a:pPr>
            <a:r>
              <a:rPr sz="1650" b="0" lang="de-DE">
                <a:solidFill>
                  <a:srgbClr val="4A5A52"/>
                </a:solidFill>
                <a:latin typeface="Segoe UI"/>
              </a:rPr>
              <a:t>parken, sichern, abholen, Ausgangstor 5 s</a:t>
            </a:r>
          </a:p>
          <a:p>
            <a:pPr algn="l" marL="228600" indent="-203200">
              <a:lnSpc>
                <a:spcPct val="120000"/>
              </a:lnSpc>
              <a:spcBef>
                <a:spcPts val="300"/>
              </a:spcBef>
              <a:spcAft>
                <a:spcPts val="0"/>
              </a:spcAft>
              <a:buClr>
                <a:srgbClr val="4A5A52"/>
              </a:buClr>
              <a:buFont typeface="Arial"/>
              <a:buChar char="◦"/>
            </a:pPr>
            <a:r>
              <a:rPr sz="1650" b="0" lang="de-DE">
                <a:solidFill>
                  <a:srgbClr val="4A5A52"/>
                </a:solidFill>
                <a:latin typeface="Segoe UI"/>
              </a:rPr>
              <a:t>zweites Rad pro Konto wird abgewiesen</a:t>
            </a:r>
          </a:p>
          <a:p>
            <a:pPr algn="l" marL="228600" indent="-203200">
              <a:lnSpc>
                <a:spcPct val="120000"/>
              </a:lnSpc>
              <a:spcBef>
                <a:spcPts val="300"/>
              </a:spcBef>
              <a:spcAft>
                <a:spcPts val="0"/>
              </a:spcAft>
              <a:buClr>
                <a:srgbClr val="4A5A52"/>
              </a:buClr>
              <a:buFont typeface="Arial"/>
              <a:buChar char="◦"/>
            </a:pPr>
            <a:r>
              <a:rPr sz="1650" b="0" lang="de-DE">
                <a:solidFill>
                  <a:srgbClr val="4A5A52"/>
                </a:solidFill>
                <a:latin typeface="Segoe UI"/>
              </a:rPr>
              <a:t>Sensor ohne Echo: kein Alarm</a:t>
            </a:r>
          </a:p>
          <a:p>
            <a:pPr algn="l" marL="228600" indent="-203200">
              <a:lnSpc>
                <a:spcPct val="120000"/>
              </a:lnSpc>
              <a:spcBef>
                <a:spcPts val="300"/>
              </a:spcBef>
              <a:spcAft>
                <a:spcPts val="0"/>
              </a:spcAft>
              <a:buClr>
                <a:srgbClr val="4A5A52"/>
              </a:buClr>
              <a:buFont typeface="Arial"/>
              <a:buChar char="◦"/>
            </a:pPr>
            <a:r>
              <a:rPr sz="1650" b="0" lang="de-DE">
                <a:solidFill>
                  <a:srgbClr val="4A5A52"/>
                </a:solidFill>
                <a:latin typeface="Segoe UI"/>
              </a:rPr>
              <a:t>Diebstahl: Alarm, Tor zu, jede Anmeldung abgewiesen</a:t>
            </a:r>
          </a:p>
          <a:p>
            <a:pPr algn="l" marL="228600" indent="-203200">
              <a:lnSpc>
                <a:spcPct val="120000"/>
              </a:lnSpc>
              <a:spcBef>
                <a:spcPts val="300"/>
              </a:spcBef>
              <a:spcAft>
                <a:spcPts val="0"/>
              </a:spcAft>
              <a:buClr>
                <a:srgbClr val="4A5A52"/>
              </a:buClr>
              <a:buFont typeface="Arial"/>
              <a:buChar char="◦"/>
            </a:pPr>
            <a:r>
              <a:rPr sz="1650" b="0" lang="de-DE">
                <a:solidFill>
                  <a:srgbClr val="4A5A52"/>
                </a:solidFill>
                <a:latin typeface="Segoe UI"/>
              </a:rPr>
              <a:t>Admin-Reset gibt die Station frei</a:t>
            </a:r>
          </a:p>
        </p:txBody>
      </p:sp>
      <p:sp>
        <p:nvSpPr>
          <p:cNvPr id="5" name="Karte: An der echten Hardware"/>
          <p:cNvSpPr/>
          <p:nvPr/>
        </p:nvSpPr>
        <p:spPr>
          <a:xfrm>
            <a:off x="6200775" y="2174938"/>
            <a:ext cx="5229225" cy="3740658"/>
          </a:xfrm>
          <a:prstGeom prst="roundRect">
            <a:avLst>
              <a:gd name="adj" fmla="val 4074"/>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An der echten Hardware</a:t>
            </a:r>
          </a:p>
          <a:p>
            <a:pPr algn="l" marL="228600" indent="-203200">
              <a:lnSpc>
                <a:spcPct val="120000"/>
              </a:lnSpc>
              <a:spcBef>
                <a:spcPts val="300"/>
              </a:spcBef>
              <a:spcAft>
                <a:spcPts val="0"/>
              </a:spcAft>
              <a:buClr>
                <a:srgbClr val="4A5A52"/>
              </a:buClr>
              <a:buFont typeface="Arial"/>
              <a:buChar char="◦"/>
            </a:pPr>
            <a:r>
              <a:rPr sz="1650" b="0" lang="de-DE">
                <a:solidFill>
                  <a:srgbClr val="4A5A52"/>
                </a:solidFill>
                <a:latin typeface="Segoe UI"/>
              </a:rPr>
              <a:t>jede Firmware mit ESPHome validiert</a:t>
            </a:r>
          </a:p>
          <a:p>
            <a:pPr algn="l" marL="228600" indent="-203200">
              <a:lnSpc>
                <a:spcPct val="120000"/>
              </a:lnSpc>
              <a:spcBef>
                <a:spcPts val="300"/>
              </a:spcBef>
              <a:spcAft>
                <a:spcPts val="0"/>
              </a:spcAft>
              <a:buClr>
                <a:srgbClr val="4A5A52"/>
              </a:buClr>
              <a:buFont typeface="Arial"/>
              <a:buChar char="◦"/>
            </a:pPr>
            <a:r>
              <a:rPr sz="1650" b="0" lang="de-DE">
                <a:solidFill>
                  <a:srgbClr val="4A5A52"/>
                </a:solidFill>
                <a:latin typeface="Segoe UI"/>
              </a:rPr>
              <a:t>unbekannter Chip und Servo 90° → 0° live getestet</a:t>
            </a:r>
          </a:p>
          <a:p>
            <a:pPr algn="l" marL="228600" indent="-203200">
              <a:lnSpc>
                <a:spcPct val="120000"/>
              </a:lnSpc>
              <a:spcBef>
                <a:spcPts val="300"/>
              </a:spcBef>
              <a:spcAft>
                <a:spcPts val="0"/>
              </a:spcAft>
              <a:buClr>
                <a:srgbClr val="4A5A52"/>
              </a:buClr>
              <a:buFont typeface="Arial"/>
              <a:buChar char="◦"/>
            </a:pPr>
            <a:r>
              <a:rPr sz="1650" b="0" lang="de-DE">
                <a:solidFill>
                  <a:srgbClr val="4A5A52"/>
                </a:solidFill>
                <a:latin typeface="Segoe UI"/>
              </a:rPr>
              <a:t>Pi-Neustart: nach etwa einer Minute alles wieder da</a:t>
            </a:r>
          </a:p>
          <a:p>
            <a:pPr algn="l" marL="228600" indent="-203200">
              <a:lnSpc>
                <a:spcPct val="120000"/>
              </a:lnSpc>
              <a:spcBef>
                <a:spcPts val="300"/>
              </a:spcBef>
              <a:spcAft>
                <a:spcPts val="0"/>
              </a:spcAft>
              <a:buClr>
                <a:srgbClr val="4A5A52"/>
              </a:buClr>
              <a:buFont typeface="Arial"/>
              <a:buChar char="◦"/>
            </a:pPr>
            <a:r>
              <a:rPr sz="1650" b="0" lang="de-DE">
                <a:solidFill>
                  <a:srgbClr val="4A5A52"/>
                </a:solidFill>
                <a:latin typeface="Segoe UI"/>
              </a:rPr>
              <a:t>jedes Deployment: Prüfsumme checken, vorher Backup</a:t>
            </a:r>
          </a:p>
          <a:p>
            <a:pPr algn="l" marL="228600" indent="-203200">
              <a:lnSpc>
                <a:spcPct val="120000"/>
              </a:lnSpc>
              <a:spcBef>
                <a:spcPts val="300"/>
              </a:spcBef>
              <a:spcAft>
                <a:spcPts val="0"/>
              </a:spcAft>
              <a:buClr>
                <a:srgbClr val="4A5A52"/>
              </a:buClr>
              <a:buFont typeface="Arial"/>
              <a:buChar char="◦"/>
            </a:pPr>
            <a:r>
              <a:rPr sz="1650" b="0" lang="de-DE">
                <a:solidFill>
                  <a:srgbClr val="4A5A52"/>
                </a:solidFill>
                <a:latin typeface="Segoe UI"/>
              </a:rPr>
              <a:t>Fehler über das Anmelde-Log in der Datenbank gefunden</a:t>
            </a:r>
          </a:p>
        </p:txBody>
      </p:sp>
      <p:sp>
        <p:nvSpPr>
          <p:cNvPr id="6"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6B7C73"/>
                </a:solidFill>
                <a:latin typeface="Segoe UI"/>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50"/>
                                        <p:tgtEl>
                                          <p:spTgt spid="4"/>
                                        </p:tgtEl>
                                      </p:cBhvr>
                                    </p:animEffect>
                                    <p:anim calcmode="lin" valueType="num">
                                      <p:cBhvr>
                                        <p:cTn id="15" dur="650" decel="100000" fill="hold"/>
                                        <p:tgtEl>
                                          <p:spTgt spid="4"/>
                                        </p:tgtEl>
                                        <p:attrNameLst>
                                          <p:attrName>ppt_x</p:attrName>
                                        </p:attrNameLst>
                                      </p:cBhvr>
                                      <p:tavLst>
                                        <p:tav tm="0">
                                          <p:val>
                                            <p:strVal val="#ppt_x"/>
                                          </p:val>
                                        </p:tav>
                                        <p:tav tm="100000">
                                          <p:val>
                                            <p:strVal val="#ppt_x"/>
                                          </p:val>
                                        </p:tav>
                                      </p:tavLst>
                                    </p:anim>
                                    <p:anim calcmode="lin" valueType="num">
                                      <p:cBhvr>
                                        <p:cTn id="16" dur="650" decel="100000" fill="hold"/>
                                        <p:tgtEl>
                                          <p:spTgt spid="4"/>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48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p:cTn id="20" dur="650" decel="100000" fill="hold"/>
                                        <p:tgtEl>
                                          <p:spTgt spid="5"/>
                                        </p:tgtEl>
                                        <p:attrNameLst>
                                          <p:attrName>ppt_x</p:attrName>
                                        </p:attrNameLst>
                                      </p:cBhvr>
                                      <p:tavLst>
                                        <p:tav tm="0">
                                          <p:val>
                                            <p:strVal val="#ppt_x"/>
                                          </p:val>
                                        </p:tav>
                                        <p:tav tm="100000">
                                          <p:val>
                                            <p:strVal val="#ppt_x"/>
                                          </p:val>
                                        </p:tav>
                                      </p:tavLst>
                                    </p:anim>
                                    <p:anim calcmode="lin" valueType="num">
                                      <p:cBhvr>
                                        <p:cTn id="21" dur="650" decel="100000" fill="hold"/>
                                        <p:tgtEl>
                                          <p:spTgt spid="5"/>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201B"/>
        </a:solidFill>
        <a:effectLst/>
      </p:bgPr>
    </p:bg>
    <p:spTree>
      <p:nvGrpSpPr>
        <p:cNvPr id="1" name=""/>
        <p:cNvGrpSpPr/>
        <p:nvPr/>
      </p:nvGrpSpPr>
      <p:grpSpPr/>
      <p:sp>
        <p:nvSpPr>
          <p:cNvPr id="2" name="Überzeile"/>
          <p:cNvSpPr txBox="1"/>
          <p:nvPr/>
        </p:nvSpPr>
        <p:spPr>
          <a:xfrm>
            <a:off x="762000" y="1716214"/>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3DDC84"/>
                </a:solidFill>
                <a:latin typeface="Segoe UI"/>
              </a:rPr>
              <a:t>OPEN SOURCE &amp; DOKUMENTATION</a:t>
            </a:r>
          </a:p>
        </p:txBody>
      </p:sp>
      <p:sp>
        <p:nvSpPr>
          <p:cNvPr id="3" name="Titel"/>
          <p:cNvSpPr txBox="1"/>
          <p:nvPr/>
        </p:nvSpPr>
        <p:spPr>
          <a:xfrm>
            <a:off x="762000" y="2015299"/>
            <a:ext cx="10668000" cy="62865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EEF3EC"/>
                </a:solidFill>
                <a:latin typeface="Segoe UI"/>
              </a:rPr>
              <a:t>Auf Open Source gebaut, offen dokumentiert</a:t>
            </a:r>
          </a:p>
        </p:txBody>
      </p:sp>
      <p:sp>
        <p:nvSpPr>
          <p:cNvPr id="4" name="Text"/>
          <p:cNvSpPr txBox="1"/>
          <p:nvPr/>
        </p:nvSpPr>
        <p:spPr>
          <a:xfrm>
            <a:off x="762000" y="2948749"/>
            <a:ext cx="10668000" cy="740664"/>
          </a:xfrm>
          <a:prstGeom prst="rect">
            <a:avLst/>
          </a:prstGeom>
          <a:noFill/>
        </p:spPr>
        <p:txBody>
          <a:bodyPr wrap="square" lIns="0" tIns="0" rIns="0" bIns="0" anchor="t"/>
          <a:lstStyle/>
          <a:p>
            <a:pPr>
              <a:lnSpc>
                <a:spcPct val="135000"/>
              </a:lnSpc>
              <a:spcBef>
                <a:spcPts val="0"/>
              </a:spcBef>
              <a:spcAft>
                <a:spcPts val="0"/>
              </a:spcAft>
            </a:pPr>
            <a:r>
              <a:rPr sz="1800" b="0" lang="de-DE">
                <a:solidFill>
                  <a:srgbClr val="C9D6CE"/>
                </a:solidFill>
                <a:latin typeface="Segoe UI"/>
              </a:rPr>
              <a:t>ESPHome · Node-RED · Eclipse Mosquitto · PostgreSQL · Docker Compose · Node.js / Express · FlowFuse Dashboard</a:t>
            </a:r>
          </a:p>
        </p:txBody>
      </p:sp>
      <p:sp>
        <p:nvSpPr>
          <p:cNvPr id="5" name="Kennzahl: 56"/>
          <p:cNvSpPr txBox="1"/>
          <p:nvPr/>
        </p:nvSpPr>
        <p:spPr>
          <a:xfrm>
            <a:off x="762000" y="3994213"/>
            <a:ext cx="2509837" cy="1147572"/>
          </a:xfrm>
          <a:prstGeom prst="rect">
            <a:avLst/>
          </a:prstGeom>
          <a:noFill/>
        </p:spPr>
        <p:txBody>
          <a:bodyPr wrap="square" lIns="0" tIns="0" rIns="0" bIns="0" anchor="t"/>
          <a:lstStyle/>
          <a:p>
            <a:pPr>
              <a:lnSpc>
                <a:spcPct val="100000"/>
              </a:lnSpc>
              <a:spcBef>
                <a:spcPts val="0"/>
              </a:spcBef>
              <a:spcAft>
                <a:spcPts val="600"/>
              </a:spcAft>
            </a:pPr>
            <a:r>
              <a:rPr sz="4800" b="1" lang="de-DE">
                <a:solidFill>
                  <a:srgbClr val="3DDC84"/>
                </a:solidFill>
                <a:latin typeface="Segoe UI"/>
              </a:rPr>
              <a:t>56</a:t>
            </a:r>
          </a:p>
          <a:p>
            <a:pPr>
              <a:lnSpc>
                <a:spcPct val="135000"/>
              </a:lnSpc>
              <a:spcBef>
                <a:spcPts val="0"/>
              </a:spcBef>
              <a:spcAft>
                <a:spcPts val="0"/>
              </a:spcAft>
            </a:pPr>
            <a:r>
              <a:rPr sz="1800" b="0" lang="de-DE">
                <a:solidFill>
                  <a:srgbClr val="EEF3EC"/>
                </a:solidFill>
                <a:latin typeface="Segoe UI"/>
              </a:rPr>
              <a:t>Commits</a:t>
            </a:r>
          </a:p>
        </p:txBody>
      </p:sp>
      <p:sp>
        <p:nvSpPr>
          <p:cNvPr id="6" name="Kennzahl: 4"/>
          <p:cNvSpPr txBox="1"/>
          <p:nvPr/>
        </p:nvSpPr>
        <p:spPr>
          <a:xfrm>
            <a:off x="3481387" y="3994213"/>
            <a:ext cx="2509837" cy="1147572"/>
          </a:xfrm>
          <a:prstGeom prst="rect">
            <a:avLst/>
          </a:prstGeom>
          <a:noFill/>
        </p:spPr>
        <p:txBody>
          <a:bodyPr wrap="square" lIns="0" tIns="0" rIns="0" bIns="0" anchor="t"/>
          <a:lstStyle/>
          <a:p>
            <a:pPr>
              <a:lnSpc>
                <a:spcPct val="100000"/>
              </a:lnSpc>
              <a:spcBef>
                <a:spcPts val="0"/>
              </a:spcBef>
              <a:spcAft>
                <a:spcPts val="600"/>
              </a:spcAft>
            </a:pPr>
            <a:r>
              <a:rPr sz="4800" b="1" lang="de-DE">
                <a:solidFill>
                  <a:srgbClr val="3DDC84"/>
                </a:solidFill>
                <a:latin typeface="Segoe UI"/>
              </a:rPr>
              <a:t>4</a:t>
            </a:r>
          </a:p>
          <a:p>
            <a:pPr>
              <a:lnSpc>
                <a:spcPct val="135000"/>
              </a:lnSpc>
              <a:spcBef>
                <a:spcPts val="0"/>
              </a:spcBef>
              <a:spcAft>
                <a:spcPts val="0"/>
              </a:spcAft>
            </a:pPr>
            <a:r>
              <a:rPr sz="1800" b="0" lang="de-DE">
                <a:solidFill>
                  <a:srgbClr val="EEF3EC"/>
                </a:solidFill>
                <a:latin typeface="Segoe UI"/>
              </a:rPr>
              <a:t>Mitwirkende</a:t>
            </a:r>
          </a:p>
        </p:txBody>
      </p:sp>
      <p:sp>
        <p:nvSpPr>
          <p:cNvPr id="7" name="Kennzahl: 8"/>
          <p:cNvSpPr txBox="1"/>
          <p:nvPr/>
        </p:nvSpPr>
        <p:spPr>
          <a:xfrm>
            <a:off x="6200775" y="3994213"/>
            <a:ext cx="2509837" cy="1147572"/>
          </a:xfrm>
          <a:prstGeom prst="rect">
            <a:avLst/>
          </a:prstGeom>
          <a:noFill/>
        </p:spPr>
        <p:txBody>
          <a:bodyPr wrap="square" lIns="0" tIns="0" rIns="0" bIns="0" anchor="t"/>
          <a:lstStyle/>
          <a:p>
            <a:pPr>
              <a:lnSpc>
                <a:spcPct val="100000"/>
              </a:lnSpc>
              <a:spcBef>
                <a:spcPts val="0"/>
              </a:spcBef>
              <a:spcAft>
                <a:spcPts val="600"/>
              </a:spcAft>
            </a:pPr>
            <a:r>
              <a:rPr sz="4800" b="1" lang="de-DE">
                <a:solidFill>
                  <a:srgbClr val="3DDC84"/>
                </a:solidFill>
                <a:latin typeface="Segoe UI"/>
              </a:rPr>
              <a:t>8</a:t>
            </a:r>
          </a:p>
          <a:p>
            <a:pPr>
              <a:lnSpc>
                <a:spcPct val="135000"/>
              </a:lnSpc>
              <a:spcBef>
                <a:spcPts val="0"/>
              </a:spcBef>
              <a:spcAft>
                <a:spcPts val="0"/>
              </a:spcAft>
            </a:pPr>
            <a:r>
              <a:rPr sz="1800" b="0" lang="de-DE">
                <a:solidFill>
                  <a:srgbClr val="EEF3EC"/>
                </a:solidFill>
                <a:latin typeface="Segoe UI"/>
              </a:rPr>
              <a:t>READMEs</a:t>
            </a:r>
          </a:p>
        </p:txBody>
      </p:sp>
      <p:sp>
        <p:nvSpPr>
          <p:cNvPr id="8" name="Kennzahl: 1.200+"/>
          <p:cNvSpPr txBox="1"/>
          <p:nvPr/>
        </p:nvSpPr>
        <p:spPr>
          <a:xfrm>
            <a:off x="8920162" y="3994213"/>
            <a:ext cx="2509837" cy="1147572"/>
          </a:xfrm>
          <a:prstGeom prst="rect">
            <a:avLst/>
          </a:prstGeom>
          <a:noFill/>
        </p:spPr>
        <p:txBody>
          <a:bodyPr wrap="square" lIns="0" tIns="0" rIns="0" bIns="0" anchor="t"/>
          <a:lstStyle/>
          <a:p>
            <a:pPr>
              <a:lnSpc>
                <a:spcPct val="100000"/>
              </a:lnSpc>
              <a:spcBef>
                <a:spcPts val="0"/>
              </a:spcBef>
              <a:spcAft>
                <a:spcPts val="600"/>
              </a:spcAft>
            </a:pPr>
            <a:r>
              <a:rPr sz="4800" b="1" lang="de-DE">
                <a:solidFill>
                  <a:srgbClr val="3DDC84"/>
                </a:solidFill>
                <a:latin typeface="Segoe UI"/>
              </a:rPr>
              <a:t>1.200+</a:t>
            </a:r>
          </a:p>
          <a:p>
            <a:pPr>
              <a:lnSpc>
                <a:spcPct val="135000"/>
              </a:lnSpc>
              <a:spcBef>
                <a:spcPts val="0"/>
              </a:spcBef>
              <a:spcAft>
                <a:spcPts val="0"/>
              </a:spcAft>
            </a:pPr>
            <a:r>
              <a:rPr sz="1800" b="0" lang="de-DE">
                <a:solidFill>
                  <a:srgbClr val="EEF3EC"/>
                </a:solidFill>
                <a:latin typeface="Segoe UI"/>
              </a:rPr>
              <a:t>Zeilen Dokumentation</a:t>
            </a:r>
          </a:p>
        </p:txBody>
      </p:sp>
      <p:sp>
        <p:nvSpPr>
          <p:cNvPr id="9" name="Fußzeile"/>
          <p:cNvSpPr txBox="1"/>
          <p:nvPr/>
        </p:nvSpPr>
        <p:spPr>
          <a:xfrm>
            <a:off x="254000" y="6477000"/>
            <a:ext cx="8890000" cy="203200"/>
          </a:xfrm>
          <a:prstGeom prst="rect">
            <a:avLst/>
          </a:prstGeom>
          <a:noFill/>
        </p:spPr>
        <p:txBody>
          <a:bodyPr wrap="square" lIns="0" tIns="0" rIns="0" bIns="0" anchor="t"/>
          <a:lstStyle/>
          <a:p>
            <a:r>
              <a:rPr sz="1200" b="0" lang="de-DE">
                <a:solidFill>
                  <a:srgbClr val="8FA89A"/>
                </a:solidFill>
                <a:latin typeface="Segoe UI"/>
              </a:rPr>
              <a:t>github.com/LX-Chrome/Hackabike-system</a:t>
            </a:r>
          </a:p>
        </p:txBody>
      </p:sp>
      <p:sp>
        <p:nvSpPr>
          <p:cNvPr id="10"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8FA89A"/>
                </a:solidFill>
                <a:latin typeface="Segoe UI"/>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700"/>
                                        <p:tgtEl>
                                          <p:spTgt spid="4"/>
                                        </p:tgtEl>
                                      </p:cBhvr>
                                    </p:animEffect>
                                    <p:anim calcmode="lin" valueType="num">
                                      <p:cBhvr>
                                        <p:cTn id="15" dur="700" decel="100000" fill="hold"/>
                                        <p:tgtEl>
                                          <p:spTgt spid="4"/>
                                        </p:tgtEl>
                                        <p:attrNameLst>
                                          <p:attrName>ppt_x</p:attrName>
                                        </p:attrNameLst>
                                      </p:cBhvr>
                                      <p:tavLst>
                                        <p:tav tm="0">
                                          <p:val>
                                            <p:strVal val="#ppt_x"/>
                                          </p:val>
                                        </p:tav>
                                        <p:tav tm="100000">
                                          <p:val>
                                            <p:strVal val="#ppt_x"/>
                                          </p:val>
                                        </p:tav>
                                      </p:tavLst>
                                    </p:anim>
                                    <p:anim calcmode="lin" valueType="num">
                                      <p:cBhvr>
                                        <p:cTn id="16" dur="700" decel="100000" fill="hold"/>
                                        <p:tgtEl>
                                          <p:spTgt spid="4"/>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55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700"/>
                                        <p:tgtEl>
                                          <p:spTgt spid="5"/>
                                        </p:tgtEl>
                                      </p:cBhvr>
                                    </p:animEffect>
                                    <p:anim calcmode="lin" valueType="num">
                                      <p:cBhvr>
                                        <p:cTn id="20" dur="700" decel="100000" fill="hold"/>
                                        <p:tgtEl>
                                          <p:spTgt spid="5"/>
                                        </p:tgtEl>
                                        <p:attrNameLst>
                                          <p:attrName>ppt_x</p:attrName>
                                        </p:attrNameLst>
                                      </p:cBhvr>
                                      <p:tavLst>
                                        <p:tav tm="0">
                                          <p:val>
                                            <p:strVal val="#ppt_x"/>
                                          </p:val>
                                        </p:tav>
                                        <p:tav tm="100000">
                                          <p:val>
                                            <p:strVal val="#ppt_x"/>
                                          </p:val>
                                        </p:tav>
                                      </p:tavLst>
                                    </p:anim>
                                    <p:anim calcmode="lin" valueType="num">
                                      <p:cBhvr>
                                        <p:cTn id="21" dur="700" decel="100000" fill="hold"/>
                                        <p:tgtEl>
                                          <p:spTgt spid="5"/>
                                        </p:tgtEl>
                                        <p:attrNameLst>
                                          <p:attrName>ppt_y</p:attrName>
                                        </p:attrNameLst>
                                      </p:cBhvr>
                                      <p:tavLst>
                                        <p:tav tm="0">
                                          <p:val>
                                            <p:strVal val="#ppt_y+.05"/>
                                          </p:val>
                                        </p:tav>
                                        <p:tav tm="100000">
                                          <p:val>
                                            <p:strVal val="#ppt_y"/>
                                          </p:val>
                                        </p:tav>
                                      </p:tavLst>
                                    </p:anim>
                                  </p:childTnLst>
                                </p:cTn>
                              </p:par>
                              <p:par>
                                <p:cTn id="27" presetID="42" presetClass="entr" presetSubtype="0" fill="hold" grpId="0" nodeType="withEffect">
                                  <p:stCondLst>
                                    <p:cond delay="81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700"/>
                                        <p:tgtEl>
                                          <p:spTgt spid="6"/>
                                        </p:tgtEl>
                                      </p:cBhvr>
                                    </p:animEffect>
                                    <p:anim calcmode="lin" valueType="num">
                                      <p:cBhvr>
                                        <p:cTn id="25" dur="700" decel="100000" fill="hold"/>
                                        <p:tgtEl>
                                          <p:spTgt spid="6"/>
                                        </p:tgtEl>
                                        <p:attrNameLst>
                                          <p:attrName>ppt_x</p:attrName>
                                        </p:attrNameLst>
                                      </p:cBhvr>
                                      <p:tavLst>
                                        <p:tav tm="0">
                                          <p:val>
                                            <p:strVal val="#ppt_x"/>
                                          </p:val>
                                        </p:tav>
                                        <p:tav tm="100000">
                                          <p:val>
                                            <p:strVal val="#ppt_x"/>
                                          </p:val>
                                        </p:tav>
                                      </p:tavLst>
                                    </p:anim>
                                    <p:anim calcmode="lin" valueType="num">
                                      <p:cBhvr>
                                        <p:cTn id="26" dur="700" decel="100000" fill="hold"/>
                                        <p:tgtEl>
                                          <p:spTgt spid="6"/>
                                        </p:tgtEl>
                                        <p:attrNameLst>
                                          <p:attrName>ppt_y</p:attrName>
                                        </p:attrNameLst>
                                      </p:cBhvr>
                                      <p:tavLst>
                                        <p:tav tm="0">
                                          <p:val>
                                            <p:strVal val="#ppt_y+.05"/>
                                          </p:val>
                                        </p:tav>
                                        <p:tav tm="100000">
                                          <p:val>
                                            <p:strVal val="#ppt_y"/>
                                          </p:val>
                                        </p:tav>
                                      </p:tavLst>
                                    </p:anim>
                                  </p:childTnLst>
                                </p:cTn>
                              </p:par>
                              <p:par>
                                <p:cTn id="32" presetID="42" presetClass="entr" presetSubtype="0" fill="hold" grpId="0" nodeType="withEffect">
                                  <p:stCondLst>
                                    <p:cond delay="107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700"/>
                                        <p:tgtEl>
                                          <p:spTgt spid="7"/>
                                        </p:tgtEl>
                                      </p:cBhvr>
                                    </p:animEffect>
                                    <p:anim calcmode="lin" valueType="num">
                                      <p:cBhvr>
                                        <p:cTn id="30" dur="700" decel="100000" fill="hold"/>
                                        <p:tgtEl>
                                          <p:spTgt spid="7"/>
                                        </p:tgtEl>
                                        <p:attrNameLst>
                                          <p:attrName>ppt_x</p:attrName>
                                        </p:attrNameLst>
                                      </p:cBhvr>
                                      <p:tavLst>
                                        <p:tav tm="0">
                                          <p:val>
                                            <p:strVal val="#ppt_x"/>
                                          </p:val>
                                        </p:tav>
                                        <p:tav tm="100000">
                                          <p:val>
                                            <p:strVal val="#ppt_x"/>
                                          </p:val>
                                        </p:tav>
                                      </p:tavLst>
                                    </p:anim>
                                    <p:anim calcmode="lin" valueType="num">
                                      <p:cBhvr>
                                        <p:cTn id="31" dur="700" decel="100000" fill="hold"/>
                                        <p:tgtEl>
                                          <p:spTgt spid="7"/>
                                        </p:tgtEl>
                                        <p:attrNameLst>
                                          <p:attrName>ppt_y</p:attrName>
                                        </p:attrNameLst>
                                      </p:cBhvr>
                                      <p:tavLst>
                                        <p:tav tm="0">
                                          <p:val>
                                            <p:strVal val="#ppt_y+.05"/>
                                          </p:val>
                                        </p:tav>
                                        <p:tav tm="100000">
                                          <p:val>
                                            <p:strVal val="#ppt_y"/>
                                          </p:val>
                                        </p:tav>
                                      </p:tavLst>
                                    </p:anim>
                                  </p:childTnLst>
                                </p:cTn>
                              </p:par>
                              <p:par>
                                <p:cTn id="37" presetID="42" presetClass="entr" presetSubtype="0" fill="hold" grpId="0" nodeType="withEffect">
                                  <p:stCondLst>
                                    <p:cond delay="133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700"/>
                                        <p:tgtEl>
                                          <p:spTgt spid="8"/>
                                        </p:tgtEl>
                                      </p:cBhvr>
                                    </p:animEffect>
                                    <p:anim calcmode="lin" valueType="num">
                                      <p:cBhvr>
                                        <p:cTn id="35" dur="700" decel="100000" fill="hold"/>
                                        <p:tgtEl>
                                          <p:spTgt spid="8"/>
                                        </p:tgtEl>
                                        <p:attrNameLst>
                                          <p:attrName>ppt_x</p:attrName>
                                        </p:attrNameLst>
                                      </p:cBhvr>
                                      <p:tavLst>
                                        <p:tav tm="0">
                                          <p:val>
                                            <p:strVal val="#ppt_x"/>
                                          </p:val>
                                        </p:tav>
                                        <p:tav tm="100000">
                                          <p:val>
                                            <p:strVal val="#ppt_x"/>
                                          </p:val>
                                        </p:tav>
                                      </p:tavLst>
                                    </p:anim>
                                    <p:anim calcmode="lin" valueType="num">
                                      <p:cBhvr>
                                        <p:cTn id="36" dur="700" decel="100000" fill="hold"/>
                                        <p:tgtEl>
                                          <p:spTgt spid="8"/>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5EF"/>
        </a:solidFill>
        <a:effectLst/>
      </p:bgPr>
    </p:bg>
    <p:spTree>
      <p:nvGrpSpPr>
        <p:cNvPr id="1" name=""/>
        <p:cNvGrpSpPr/>
        <p:nvPr/>
      </p:nvGrpSpPr>
      <p:grpSpPr/>
      <p:sp>
        <p:nvSpPr>
          <p:cNvPr id="2" name="Überzeile"/>
          <p:cNvSpPr txBox="1"/>
          <p:nvPr/>
        </p:nvSpPr>
        <p:spPr>
          <a:xfrm>
            <a:off x="762000" y="625411"/>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1B7F4B"/>
                </a:solidFill>
                <a:latin typeface="Segoe UI"/>
              </a:rPr>
              <a:t>EHRLICHE GRENZEN</a:t>
            </a:r>
          </a:p>
        </p:txBody>
      </p:sp>
      <p:sp>
        <p:nvSpPr>
          <p:cNvPr id="3" name="Titel"/>
          <p:cNvSpPr txBox="1"/>
          <p:nvPr/>
        </p:nvSpPr>
        <p:spPr>
          <a:xfrm>
            <a:off x="762000" y="924496"/>
            <a:ext cx="10668000" cy="62865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17241F"/>
                </a:solidFill>
                <a:latin typeface="Segoe UI"/>
              </a:rPr>
              <a:t>Was einem Hackathon-Prototyp noch fehlt</a:t>
            </a:r>
          </a:p>
        </p:txBody>
      </p:sp>
      <p:sp>
        <p:nvSpPr>
          <p:cNvPr id="4" name="Karte: Demo-Sicherheit"/>
          <p:cNvSpPr/>
          <p:nvPr/>
        </p:nvSpPr>
        <p:spPr>
          <a:xfrm>
            <a:off x="762000" y="1857946"/>
            <a:ext cx="5229225" cy="2260854"/>
          </a:xfrm>
          <a:prstGeom prst="roundRect">
            <a:avLst>
              <a:gd name="adj" fmla="val 6740"/>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Demo-Sicherheit</a:t>
            </a:r>
          </a:p>
          <a:p>
            <a:pPr algn="l">
              <a:lnSpc>
                <a:spcPct val="120000"/>
              </a:lnSpc>
              <a:spcBef>
                <a:spcPts val="0"/>
              </a:spcBef>
              <a:spcAft>
                <a:spcPts val="0"/>
              </a:spcAft>
            </a:pPr>
            <a:r>
              <a:rPr sz="1950" b="0" lang="de-DE">
                <a:solidFill>
                  <a:srgbClr val="4A5A52"/>
                </a:solidFill>
                <a:latin typeface="Segoe UI"/>
              </a:rPr>
              <a:t>Broker und Node-RED-Editor haben noch kein Login. Wie man sie absichert, ist dokumentiert.</a:t>
            </a:r>
          </a:p>
        </p:txBody>
      </p:sp>
      <p:sp>
        <p:nvSpPr>
          <p:cNvPr id="5" name="Karte: NFC-Leser nach einem Reset"/>
          <p:cNvSpPr/>
          <p:nvPr/>
        </p:nvSpPr>
        <p:spPr>
          <a:xfrm>
            <a:off x="6200775" y="1857946"/>
            <a:ext cx="5229225" cy="2260854"/>
          </a:xfrm>
          <a:prstGeom prst="roundRect">
            <a:avLst>
              <a:gd name="adj" fmla="val 6740"/>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NFC-Leser nach einem Reset</a:t>
            </a:r>
          </a:p>
          <a:p>
            <a:pPr algn="l">
              <a:lnSpc>
                <a:spcPct val="120000"/>
              </a:lnSpc>
              <a:spcBef>
                <a:spcPts val="0"/>
              </a:spcBef>
              <a:spcAft>
                <a:spcPts val="0"/>
              </a:spcAft>
            </a:pPr>
            <a:r>
              <a:rPr sz="1950" b="0" lang="de-DE">
                <a:solidFill>
                  <a:srgbClr val="4A5A52"/>
                </a:solidFill>
                <a:latin typeface="Segoe UI"/>
              </a:rPr>
              <a:t>Er läuft erst nach einem Neustart der Stromversorgung wieder. Beim Einschalten kein Problem, nach einem Update lästig.</a:t>
            </a:r>
          </a:p>
        </p:txBody>
      </p:sp>
      <p:sp>
        <p:nvSpPr>
          <p:cNvPr id="6" name="Karte: Sound: geplant, nicht gebaut"/>
          <p:cNvSpPr/>
          <p:nvPr/>
        </p:nvSpPr>
        <p:spPr>
          <a:xfrm>
            <a:off x="762000" y="4328350"/>
            <a:ext cx="5229225" cy="1904238"/>
          </a:xfrm>
          <a:prstGeom prst="roundRect">
            <a:avLst>
              <a:gd name="adj" fmla="val 8003"/>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Sound: geplant, nicht gebaut</a:t>
            </a:r>
          </a:p>
          <a:p>
            <a:pPr algn="l">
              <a:lnSpc>
                <a:spcPct val="120000"/>
              </a:lnSpc>
              <a:spcBef>
                <a:spcPts val="0"/>
              </a:spcBef>
              <a:spcAft>
                <a:spcPts val="0"/>
              </a:spcAft>
            </a:pPr>
            <a:r>
              <a:rPr sz="1950" b="0" lang="de-DE">
                <a:solidFill>
                  <a:srgbClr val="4A5A52"/>
                </a:solidFill>
                <a:latin typeface="Segoe UI"/>
              </a:rPr>
              <a:t>Melodie und Alarmton sind entworfen, aber wir konnten keinen Verstärker besorgen.</a:t>
            </a:r>
          </a:p>
        </p:txBody>
      </p:sp>
      <p:sp>
        <p:nvSpPr>
          <p:cNvPr id="7" name="Karte: Vier Slots"/>
          <p:cNvSpPr/>
          <p:nvPr/>
        </p:nvSpPr>
        <p:spPr>
          <a:xfrm>
            <a:off x="6200775" y="4328350"/>
            <a:ext cx="5229225" cy="1904238"/>
          </a:xfrm>
          <a:prstGeom prst="roundRect">
            <a:avLst>
              <a:gd name="adj" fmla="val 8003"/>
            </a:avLst>
          </a:prstGeom>
          <a:solidFill>
            <a:srgbClr val="FFFFFF"/>
          </a:solidFill>
          <a:ln w="9525">
            <a:solidFill>
              <a:srgbClr val="D9E2DB"/>
            </a:solidFill>
          </a:ln>
          <a:effectLst/>
        </p:spPr>
        <p:style>
          <a:lnRef idx="1">
            <a:schemeClr val="accent1"/>
          </a:lnRef>
          <a:fillRef idx="3">
            <a:schemeClr val="accent1"/>
          </a:fillRef>
          <a:effectRef idx="2">
            <a:schemeClr val="accent1"/>
          </a:effectRef>
          <a:fontRef idx="minor">
            <a:schemeClr val="lt1"/>
          </a:fontRef>
        </p:style>
        <p:txBody>
          <a:bodyPr rtlCol="0" anchor="t" wrap="square" lIns="247650" tIns="190500" rIns="247650" bIns="190500"/>
          <a:lstStyle/>
          <a:p>
            <a:pPr algn="l">
              <a:lnSpc>
                <a:spcPct val="110000"/>
              </a:lnSpc>
              <a:spcBef>
                <a:spcPts val="0"/>
              </a:spcBef>
              <a:spcAft>
                <a:spcPts val="600"/>
              </a:spcAft>
            </a:pPr>
            <a:r>
              <a:rPr sz="2250" b="1" lang="de-DE">
                <a:solidFill>
                  <a:srgbClr val="17241F"/>
                </a:solidFill>
                <a:latin typeface="Segoe UI"/>
              </a:rPr>
              <a:t>Vier Slots</a:t>
            </a:r>
          </a:p>
          <a:p>
            <a:pPr algn="l">
              <a:lnSpc>
                <a:spcPct val="120000"/>
              </a:lnSpc>
              <a:spcBef>
                <a:spcPts val="0"/>
              </a:spcBef>
              <a:spcAft>
                <a:spcPts val="0"/>
              </a:spcAft>
            </a:pPr>
            <a:r>
              <a:rPr sz="1950" b="0" lang="de-DE">
                <a:solidFill>
                  <a:srgbClr val="4A5A52"/>
                </a:solidFill>
                <a:latin typeface="Segoe UI"/>
              </a:rPr>
              <a:t>Eine Prototyp-Größe. Mehr Slots heißen mehr Sensoren und LEDs, kein neues Design.</a:t>
            </a:r>
          </a:p>
        </p:txBody>
      </p:sp>
      <p:sp>
        <p:nvSpPr>
          <p:cNvPr id="8"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6B7C73"/>
                </a:solidFill>
                <a:latin typeface="Segoe UI"/>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50"/>
                                        <p:tgtEl>
                                          <p:spTgt spid="4"/>
                                        </p:tgtEl>
                                      </p:cBhvr>
                                    </p:animEffect>
                                    <p:anim calcmode="lin" valueType="num">
                                      <p:cBhvr>
                                        <p:cTn id="15" dur="650" decel="100000" fill="hold"/>
                                        <p:tgtEl>
                                          <p:spTgt spid="4"/>
                                        </p:tgtEl>
                                        <p:attrNameLst>
                                          <p:attrName>ppt_x</p:attrName>
                                        </p:attrNameLst>
                                      </p:cBhvr>
                                      <p:tavLst>
                                        <p:tav tm="0">
                                          <p:val>
                                            <p:strVal val="#ppt_x"/>
                                          </p:val>
                                        </p:tav>
                                        <p:tav tm="100000">
                                          <p:val>
                                            <p:strVal val="#ppt_x"/>
                                          </p:val>
                                        </p:tav>
                                      </p:tavLst>
                                    </p:anim>
                                    <p:anim calcmode="lin" valueType="num">
                                      <p:cBhvr>
                                        <p:cTn id="16" dur="650" decel="100000" fill="hold"/>
                                        <p:tgtEl>
                                          <p:spTgt spid="4"/>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48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p:cTn id="20" dur="650" decel="100000" fill="hold"/>
                                        <p:tgtEl>
                                          <p:spTgt spid="5"/>
                                        </p:tgtEl>
                                        <p:attrNameLst>
                                          <p:attrName>ppt_x</p:attrName>
                                        </p:attrNameLst>
                                      </p:cBhvr>
                                      <p:tavLst>
                                        <p:tav tm="0">
                                          <p:val>
                                            <p:strVal val="#ppt_x"/>
                                          </p:val>
                                        </p:tav>
                                        <p:tav tm="100000">
                                          <p:val>
                                            <p:strVal val="#ppt_x"/>
                                          </p:val>
                                        </p:tav>
                                      </p:tavLst>
                                    </p:anim>
                                    <p:anim calcmode="lin" valueType="num">
                                      <p:cBhvr>
                                        <p:cTn id="21" dur="650" decel="100000" fill="hold"/>
                                        <p:tgtEl>
                                          <p:spTgt spid="5"/>
                                        </p:tgtEl>
                                        <p:attrNameLst>
                                          <p:attrName>ppt_y</p:attrName>
                                        </p:attrNameLst>
                                      </p:cBhvr>
                                      <p:tavLst>
                                        <p:tav tm="0">
                                          <p:val>
                                            <p:strVal val="#ppt_y+.05"/>
                                          </p:val>
                                        </p:tav>
                                        <p:tav tm="100000">
                                          <p:val>
                                            <p:strVal val="#ppt_y"/>
                                          </p:val>
                                        </p:tav>
                                      </p:tavLst>
                                    </p:anim>
                                  </p:childTnLst>
                                </p:cTn>
                              </p:par>
                              <p:par>
                                <p:cTn id="27" presetID="42" presetClass="entr" presetSubtype="0" fill="hold" grpId="0" nodeType="withEffect">
                                  <p:stCondLst>
                                    <p:cond delay="61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50"/>
                                        <p:tgtEl>
                                          <p:spTgt spid="6"/>
                                        </p:tgtEl>
                                      </p:cBhvr>
                                    </p:animEffect>
                                    <p:anim calcmode="lin" valueType="num">
                                      <p:cBhvr>
                                        <p:cTn id="25" dur="650" decel="100000" fill="hold"/>
                                        <p:tgtEl>
                                          <p:spTgt spid="6"/>
                                        </p:tgtEl>
                                        <p:attrNameLst>
                                          <p:attrName>ppt_x</p:attrName>
                                        </p:attrNameLst>
                                      </p:cBhvr>
                                      <p:tavLst>
                                        <p:tav tm="0">
                                          <p:val>
                                            <p:strVal val="#ppt_x"/>
                                          </p:val>
                                        </p:tav>
                                        <p:tav tm="100000">
                                          <p:val>
                                            <p:strVal val="#ppt_x"/>
                                          </p:val>
                                        </p:tav>
                                      </p:tavLst>
                                    </p:anim>
                                    <p:anim calcmode="lin" valueType="num">
                                      <p:cBhvr>
                                        <p:cTn id="26" dur="650" decel="100000" fill="hold"/>
                                        <p:tgtEl>
                                          <p:spTgt spid="6"/>
                                        </p:tgtEl>
                                        <p:attrNameLst>
                                          <p:attrName>ppt_y</p:attrName>
                                        </p:attrNameLst>
                                      </p:cBhvr>
                                      <p:tavLst>
                                        <p:tav tm="0">
                                          <p:val>
                                            <p:strVal val="#ppt_y+.05"/>
                                          </p:val>
                                        </p:tav>
                                        <p:tav tm="100000">
                                          <p:val>
                                            <p:strVal val="#ppt_y"/>
                                          </p:val>
                                        </p:tav>
                                      </p:tavLst>
                                    </p:anim>
                                  </p:childTnLst>
                                </p:cTn>
                              </p:par>
                              <p:par>
                                <p:cTn id="32" presetID="42" presetClass="entr" presetSubtype="0" fill="hold" grpId="0" nodeType="withEffect">
                                  <p:stCondLst>
                                    <p:cond delay="74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650"/>
                                        <p:tgtEl>
                                          <p:spTgt spid="7"/>
                                        </p:tgtEl>
                                      </p:cBhvr>
                                    </p:animEffect>
                                    <p:anim calcmode="lin" valueType="num">
                                      <p:cBhvr>
                                        <p:cTn id="30" dur="650" decel="100000" fill="hold"/>
                                        <p:tgtEl>
                                          <p:spTgt spid="7"/>
                                        </p:tgtEl>
                                        <p:attrNameLst>
                                          <p:attrName>ppt_x</p:attrName>
                                        </p:attrNameLst>
                                      </p:cBhvr>
                                      <p:tavLst>
                                        <p:tav tm="0">
                                          <p:val>
                                            <p:strVal val="#ppt_x"/>
                                          </p:val>
                                        </p:tav>
                                        <p:tav tm="100000">
                                          <p:val>
                                            <p:strVal val="#ppt_x"/>
                                          </p:val>
                                        </p:tav>
                                      </p:tavLst>
                                    </p:anim>
                                    <p:anim calcmode="lin" valueType="num">
                                      <p:cBhvr>
                                        <p:cTn id="31" dur="650" decel="100000" fill="hold"/>
                                        <p:tgtEl>
                                          <p:spTgt spid="7"/>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P spid="7"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201B"/>
        </a:solidFill>
        <a:effectLst/>
      </p:bgPr>
    </p:bg>
    <p:spTree>
      <p:nvGrpSpPr>
        <p:cNvPr id="1" name=""/>
        <p:cNvGrpSpPr/>
        <p:nvPr/>
      </p:nvGrpSpPr>
      <p:grpSpPr/>
      <p:sp>
        <p:nvSpPr>
          <p:cNvPr id="2" name="Überzeile"/>
          <p:cNvSpPr txBox="1"/>
          <p:nvPr/>
        </p:nvSpPr>
        <p:spPr>
          <a:xfrm>
            <a:off x="762000" y="1887664"/>
            <a:ext cx="10668000" cy="222885"/>
          </a:xfrm>
          <a:prstGeom prst="rect">
            <a:avLst/>
          </a:prstGeom>
          <a:noFill/>
        </p:spPr>
        <p:txBody>
          <a:bodyPr wrap="square" lIns="0" tIns="0" rIns="0" bIns="0" anchor="t"/>
          <a:lstStyle/>
          <a:p>
            <a:pPr>
              <a:lnSpc>
                <a:spcPct val="100000"/>
              </a:lnSpc>
              <a:spcBef>
                <a:spcPts val="0"/>
              </a:spcBef>
              <a:spcAft>
                <a:spcPts val="0"/>
              </a:spcAft>
            </a:pPr>
            <a:r>
              <a:rPr sz="1350" b="1" lang="de-DE" spc="225">
                <a:solidFill>
                  <a:srgbClr val="3DDC84"/>
                </a:solidFill>
                <a:latin typeface="Segoe UI"/>
              </a:rPr>
              <a:t>NÄCHSTE SCHRITTE</a:t>
            </a:r>
          </a:p>
        </p:txBody>
      </p:sp>
      <p:sp>
        <p:nvSpPr>
          <p:cNvPr id="3" name="Titel"/>
          <p:cNvSpPr txBox="1"/>
          <p:nvPr/>
        </p:nvSpPr>
        <p:spPr>
          <a:xfrm>
            <a:off x="762000" y="2186749"/>
            <a:ext cx="10668000" cy="628650"/>
          </a:xfrm>
          <a:prstGeom prst="rect">
            <a:avLst/>
          </a:prstGeom>
          <a:noFill/>
        </p:spPr>
        <p:txBody>
          <a:bodyPr wrap="square" lIns="0" tIns="0" rIns="0" bIns="0" anchor="t"/>
          <a:lstStyle/>
          <a:p>
            <a:pPr>
              <a:lnSpc>
                <a:spcPct val="110000"/>
              </a:lnSpc>
              <a:spcBef>
                <a:spcPts val="0"/>
              </a:spcBef>
              <a:spcAft>
                <a:spcPts val="0"/>
              </a:spcAft>
            </a:pPr>
            <a:r>
              <a:rPr sz="3750" b="1" lang="de-DE">
                <a:solidFill>
                  <a:srgbClr val="EEF3EC"/>
                </a:solidFill>
                <a:latin typeface="Segoe UI"/>
              </a:rPr>
              <a:t>Vom Prototyp zum Produkt</a:t>
            </a:r>
          </a:p>
        </p:txBody>
      </p:sp>
      <p:sp>
        <p:nvSpPr>
          <p:cNvPr id="4" name="Liste"/>
          <p:cNvSpPr txBox="1"/>
          <p:nvPr/>
        </p:nvSpPr>
        <p:spPr>
          <a:xfrm>
            <a:off x="762000" y="3120199"/>
            <a:ext cx="10668000" cy="1850136"/>
          </a:xfrm>
          <a:prstGeom prst="rect">
            <a:avLst/>
          </a:prstGeom>
          <a:noFill/>
        </p:spPr>
        <p:txBody>
          <a:bodyPr wrap="square" lIns="0" tIns="0" rIns="0" bIns="0" anchor="t"/>
          <a:lstStyle/>
          <a:p>
            <a:pPr marL="304800" indent="-304800">
              <a:lnSpc>
                <a:spcPct val="130000"/>
              </a:lnSpc>
              <a:spcBef>
                <a:spcPts val="0"/>
              </a:spcBef>
              <a:spcAft>
                <a:spcPts val="0"/>
              </a:spcAft>
              <a:buClr>
                <a:srgbClr val="EEF3EC"/>
              </a:buClr>
              <a:buFont typeface="+mj-lt"/>
              <a:buAutoNum type="arabicPeriod"/>
            </a:pPr>
            <a:r>
              <a:rPr sz="1950" b="0" lang="de-DE">
                <a:solidFill>
                  <a:srgbClr val="EEF3EC"/>
                </a:solidFill>
                <a:latin typeface="Segoe UI"/>
              </a:rPr>
              <a:t>Logins für Broker und Node-RED, Zugangsdaten raus aus dem Repository</a:t>
            </a:r>
          </a:p>
          <a:p>
            <a:pPr marL="304800" indent="-304800">
              <a:lnSpc>
                <a:spcPct val="130000"/>
              </a:lnSpc>
              <a:spcBef>
                <a:spcPts val="600"/>
              </a:spcBef>
              <a:spcAft>
                <a:spcPts val="0"/>
              </a:spcAft>
              <a:buClr>
                <a:srgbClr val="EEF3EC"/>
              </a:buClr>
              <a:buFont typeface="+mj-lt"/>
              <a:buAutoNum type="arabicPeriod"/>
            </a:pPr>
            <a:r>
              <a:rPr sz="1950" b="0" lang="de-DE">
                <a:solidFill>
                  <a:srgbClr val="EEF3EC"/>
                </a:solidFill>
                <a:latin typeface="Segoe UI"/>
              </a:rPr>
              <a:t>Ein Transistor, der den NFC-Leser beim Start kurz stromlos schaltet</a:t>
            </a:r>
          </a:p>
          <a:p>
            <a:pPr marL="304800" indent="-304800">
              <a:lnSpc>
                <a:spcPct val="130000"/>
              </a:lnSpc>
              <a:spcBef>
                <a:spcPts val="600"/>
              </a:spcBef>
              <a:spcAft>
                <a:spcPts val="0"/>
              </a:spcAft>
              <a:buClr>
                <a:srgbClr val="EEF3EC"/>
              </a:buClr>
              <a:buFont typeface="+mj-lt"/>
              <a:buAutoNum type="arabicPeriod"/>
            </a:pPr>
            <a:r>
              <a:rPr sz="1950" b="0" lang="de-DE">
                <a:solidFill>
                  <a:srgbClr val="EEF3EC"/>
                </a:solidFill>
                <a:latin typeface="Segoe UI"/>
              </a:rPr>
              <a:t>Sound am Eingang: Begrüßungsmelodie und Alarmton</a:t>
            </a:r>
          </a:p>
          <a:p>
            <a:pPr marL="304800" indent="-304800">
              <a:lnSpc>
                <a:spcPct val="130000"/>
              </a:lnSpc>
              <a:spcBef>
                <a:spcPts val="600"/>
              </a:spcBef>
              <a:spcAft>
                <a:spcPts val="0"/>
              </a:spcAft>
              <a:buClr>
                <a:srgbClr val="EEF3EC"/>
              </a:buClr>
              <a:buFont typeface="+mj-lt"/>
              <a:buAutoNum type="arabicPeriod"/>
            </a:pPr>
            <a:r>
              <a:rPr sz="1950" b="0" lang="de-DE">
                <a:solidFill>
                  <a:srgbClr val="EEF3EC"/>
                </a:solidFill>
                <a:latin typeface="Segoe UI"/>
              </a:rPr>
              <a:t>Mehr Slots: ein weiterer ESP pro zwei Slots, gleiche Logik</a:t>
            </a:r>
          </a:p>
        </p:txBody>
      </p:sp>
      <p:sp>
        <p:nvSpPr>
          <p:cNvPr id="5" name="Foliennummer"/>
          <p:cNvSpPr txBox="1"/>
          <p:nvPr/>
        </p:nvSpPr>
        <p:spPr>
          <a:xfrm>
            <a:off x="10668000" y="6477000"/>
            <a:ext cx="762000" cy="203200"/>
          </a:xfrm>
          <a:prstGeom prst="rect">
            <a:avLst/>
          </a:prstGeom>
          <a:noFill/>
        </p:spPr>
        <p:txBody>
          <a:bodyPr wrap="square" lIns="0" tIns="0" rIns="0" bIns="0" anchor="t"/>
          <a:lstStyle/>
          <a:p>
            <a:pPr algn="r"/>
            <a:fld id="{B6F15528-21DE-4FAA-801E-634DDDAF4B2B}" type="slidenum">
              <a:rPr lang="de-DE" sz="1200">
                <a:solidFill>
                  <a:srgbClr val="8FA89A"/>
                </a:solidFill>
                <a:latin typeface="Segoe UI"/>
              </a:rPr>
              <a:t>14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12" presetID="42" presetClass="entr" presetSubtype="0" fill="hold" grpId="0" nodeType="withEffect">
                                  <p:stCondLst>
                                    <p:cond delay="1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anim calcmode="lin" valueType="num">
                                      <p:cBhvr>
                                        <p:cTn id="10" dur="700" decel="100000" fill="hold"/>
                                        <p:tgtEl>
                                          <p:spTgt spid="3"/>
                                        </p:tgtEl>
                                        <p:attrNameLst>
                                          <p:attrName>ppt_x</p:attrName>
                                        </p:attrNameLst>
                                      </p:cBhvr>
                                      <p:tavLst>
                                        <p:tav tm="0">
                                          <p:val>
                                            <p:strVal val="#ppt_x"/>
                                          </p:val>
                                        </p:tav>
                                        <p:tav tm="100000">
                                          <p:val>
                                            <p:strVal val="#ppt_x"/>
                                          </p:val>
                                        </p:tav>
                                      </p:tavLst>
                                    </p:anim>
                                    <p:anim calcmode="lin" valueType="num">
                                      <p:cBhvr>
                                        <p:cTn id="11" dur="700" decel="100000" fill="hold"/>
                                        <p:tgtEl>
                                          <p:spTgt spid="3"/>
                                        </p:tgtEl>
                                        <p:attrNameLst>
                                          <p:attrName>ppt_y</p:attrName>
                                        </p:attrNameLst>
                                      </p:cBhvr>
                                      <p:tavLst>
                                        <p:tav tm="0">
                                          <p:val>
                                            <p:strVal val="#ppt_y+.05"/>
                                          </p:val>
                                        </p:tav>
                                        <p:tav tm="100000">
                                          <p:val>
                                            <p:strVal val="#ppt_y"/>
                                          </p:val>
                                        </p:tav>
                                      </p:tavLst>
                                    </p:anim>
                                  </p:childTnLst>
                                </p:cTn>
                              </p:par>
                              <p:par>
                                <p:cTn id="17" presetID="42" presetClass="entr" presetSubtype="0" fill="hold" grpId="0" nodeType="withEffect">
                                  <p:stCondLst>
                                    <p:cond delay="35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600"/>
                                        <p:tgtEl>
                                          <p:spTgt spid="4">
                                            <p:txEl>
                                              <p:pRg st="0" end="0"/>
                                            </p:txEl>
                                          </p:spTgt>
                                        </p:tgtEl>
                                      </p:cBhvr>
                                    </p:animEffect>
                                    <p:anim calcmode="lin" valueType="num">
                                      <p:cBhvr>
                                        <p:cTn id="15" dur="600" decel="100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600" decel="100000" fill="hold"/>
                                        <p:tgtEl>
                                          <p:spTgt spid="4">
                                            <p:txEl>
                                              <p:pRg st="0" end="0"/>
                                            </p:txEl>
                                          </p:spTgt>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61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600"/>
                                        <p:tgtEl>
                                          <p:spTgt spid="4">
                                            <p:txEl>
                                              <p:pRg st="1" end="1"/>
                                            </p:txEl>
                                          </p:spTgt>
                                        </p:tgtEl>
                                      </p:cBhvr>
                                    </p:animEffect>
                                    <p:anim calcmode="lin" valueType="num">
                                      <p:cBhvr>
                                        <p:cTn id="20" dur="600" decel="100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1" dur="600" decel="100000" fill="hold"/>
                                        <p:tgtEl>
                                          <p:spTgt spid="4">
                                            <p:txEl>
                                              <p:pRg st="1" end="1"/>
                                            </p:txEl>
                                          </p:spTgt>
                                        </p:tgtEl>
                                        <p:attrNameLst>
                                          <p:attrName>ppt_y</p:attrName>
                                        </p:attrNameLst>
                                      </p:cBhvr>
                                      <p:tavLst>
                                        <p:tav tm="0">
                                          <p:val>
                                            <p:strVal val="#ppt_y+.05"/>
                                          </p:val>
                                        </p:tav>
                                        <p:tav tm="100000">
                                          <p:val>
                                            <p:strVal val="#ppt_y"/>
                                          </p:val>
                                        </p:tav>
                                      </p:tavLst>
                                    </p:anim>
                                  </p:childTnLst>
                                </p:cTn>
                              </p:par>
                              <p:par>
                                <p:cTn id="27" presetID="42" presetClass="entr" presetSubtype="0" fill="hold" grpId="0" nodeType="withEffect">
                                  <p:stCondLst>
                                    <p:cond delay="87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fade">
                                      <p:cBhvr>
                                        <p:cTn id="24" dur="600"/>
                                        <p:tgtEl>
                                          <p:spTgt spid="4">
                                            <p:txEl>
                                              <p:pRg st="2" end="2"/>
                                            </p:txEl>
                                          </p:spTgt>
                                        </p:tgtEl>
                                      </p:cBhvr>
                                    </p:animEffect>
                                    <p:anim calcmode="lin" valueType="num">
                                      <p:cBhvr>
                                        <p:cTn id="25" dur="600" decel="100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6" dur="600" decel="100000" fill="hold"/>
                                        <p:tgtEl>
                                          <p:spTgt spid="4">
                                            <p:txEl>
                                              <p:pRg st="2" end="2"/>
                                            </p:txEl>
                                          </p:spTgt>
                                        </p:tgtEl>
                                        <p:attrNameLst>
                                          <p:attrName>ppt_y</p:attrName>
                                        </p:attrNameLst>
                                      </p:cBhvr>
                                      <p:tavLst>
                                        <p:tav tm="0">
                                          <p:val>
                                            <p:strVal val="#ppt_y+.05"/>
                                          </p:val>
                                        </p:tav>
                                        <p:tav tm="100000">
                                          <p:val>
                                            <p:strVal val="#ppt_y"/>
                                          </p:val>
                                        </p:tav>
                                      </p:tavLst>
                                    </p:anim>
                                  </p:childTnLst>
                                </p:cTn>
                              </p:par>
                              <p:par>
                                <p:cTn id="32" presetID="42" presetClass="entr" presetSubtype="0" fill="hold" grpId="0" nodeType="withEffect">
                                  <p:stCondLst>
                                    <p:cond delay="113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fade">
                                      <p:cBhvr>
                                        <p:cTn id="29" dur="600"/>
                                        <p:tgtEl>
                                          <p:spTgt spid="4">
                                            <p:txEl>
                                              <p:pRg st="3" end="3"/>
                                            </p:txEl>
                                          </p:spTgt>
                                        </p:tgtEl>
                                      </p:cBhvr>
                                    </p:animEffect>
                                    <p:anim calcmode="lin" valueType="num">
                                      <p:cBhvr>
                                        <p:cTn id="30" dur="600" decel="100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1" dur="600" decel="100000" fill="hold"/>
                                        <p:tgtEl>
                                          <p:spTgt spid="4">
                                            <p:txEl>
                                              <p:pRg st="3" end="3"/>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bg>
      <p:bgPr>
        <a:gradFill rotWithShape="1">
          <a:gsLst>
            <a:gs pos="62000">
              <a:srgbClr val="12201B"/>
            </a:gs>
            <a:gs pos="100000">
              <a:srgbClr val="1C3A2E"/>
            </a:gs>
          </a:gsLst>
          <a:lin scaled="0" ang="1200000"/>
        </a:gradFill>
        <a:effectLst/>
      </p:bgPr>
    </p:bg>
    <p:spTree>
      <p:nvGrpSpPr>
        <p:cNvPr id="1" name=""/>
        <p:cNvGrpSpPr/>
        <p:nvPr/>
      </p:nvGrpSpPr>
      <p:grpSpPr/>
      <p:sp>
        <p:nvSpPr>
          <p:cNvPr id="2" name="Titel"/>
          <p:cNvSpPr txBox="1"/>
          <p:nvPr/>
        </p:nvSpPr>
        <p:spPr>
          <a:xfrm>
            <a:off x="762000" y="2151634"/>
            <a:ext cx="10668000" cy="1188720"/>
          </a:xfrm>
          <a:prstGeom prst="rect">
            <a:avLst/>
          </a:prstGeom>
          <a:noFill/>
        </p:spPr>
        <p:txBody>
          <a:bodyPr wrap="square" lIns="0" tIns="0" rIns="0" bIns="0" anchor="t"/>
          <a:lstStyle/>
          <a:p>
            <a:pPr>
              <a:lnSpc>
                <a:spcPct val="100000"/>
              </a:lnSpc>
              <a:spcBef>
                <a:spcPts val="0"/>
              </a:spcBef>
              <a:spcAft>
                <a:spcPts val="0"/>
              </a:spcAft>
            </a:pPr>
            <a:r>
              <a:rPr sz="7800" b="1" lang="de-DE">
                <a:solidFill>
                  <a:srgbClr val="EEF3EC"/>
                </a:solidFill>
                <a:latin typeface="Segoe UI"/>
              </a:rPr>
              <a:t>Vielen Dank!</a:t>
            </a:r>
          </a:p>
        </p:txBody>
      </p:sp>
      <p:sp>
        <p:nvSpPr>
          <p:cNvPr id="3" name="Text"/>
          <p:cNvSpPr txBox="1"/>
          <p:nvPr/>
        </p:nvSpPr>
        <p:spPr>
          <a:xfrm>
            <a:off x="762000" y="3695954"/>
            <a:ext cx="10668000" cy="1010411"/>
          </a:xfrm>
          <a:prstGeom prst="rect">
            <a:avLst/>
          </a:prstGeom>
          <a:noFill/>
        </p:spPr>
        <p:txBody>
          <a:bodyPr wrap="square" lIns="0" tIns="0" rIns="0" bIns="0" anchor="t"/>
          <a:lstStyle/>
          <a:p>
            <a:pPr>
              <a:lnSpc>
                <a:spcPct val="130000"/>
              </a:lnSpc>
              <a:spcBef>
                <a:spcPts val="0"/>
              </a:spcBef>
              <a:spcAft>
                <a:spcPts val="0"/>
              </a:spcAft>
            </a:pPr>
            <a:r>
              <a:rPr sz="2550" b="0" lang="de-DE">
                <a:solidFill>
                  <a:srgbClr val="C9D6CE"/>
                </a:solidFill>
                <a:latin typeface="Segoe UI"/>
              </a:rPr>
              <a:t>Fragen? Probieren Sie es selbst aus: einfach einen Chip an der Station auflegen.</a:t>
            </a:r>
          </a:p>
        </p:txBody>
      </p:sp>
      <p:sp>
        <p:nvSpPr>
          <p:cNvPr id="4" name="Fußzeile"/>
          <p:cNvSpPr txBox="1"/>
          <p:nvPr/>
        </p:nvSpPr>
        <p:spPr>
          <a:xfrm>
            <a:off x="254000" y="6477000"/>
            <a:ext cx="8890000" cy="203200"/>
          </a:xfrm>
          <a:prstGeom prst="rect">
            <a:avLst/>
          </a:prstGeom>
          <a:noFill/>
        </p:spPr>
        <p:txBody>
          <a:bodyPr wrap="square" lIns="0" tIns="0" rIns="0" bIns="0" anchor="t"/>
          <a:lstStyle/>
          <a:p>
            <a:r>
              <a:rPr sz="1200" b="0" lang="de-DE">
                <a:solidFill>
                  <a:srgbClr val="8FA89A"/>
                </a:solidFill>
                <a:latin typeface="Segoe UI"/>
              </a:rPr>
              <a:t>github.com/LX-Chrome/Hackabike-system · Luca · Tobias · Gruppe 12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42" presetClass="entr" presetSubtype="0" fill="hold" grpId="0"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700"/>
                                        <p:tgtEl>
                                          <p:spTgt spid="2"/>
                                        </p:tgtEl>
                                      </p:cBhvr>
                                    </p:animEffect>
                                    <p:anim calcmode="lin" valueType="num">
                                      <p:cBhvr>
                                        <p:cTn id="7" dur="700" decel="100000" fill="hold"/>
                                        <p:tgtEl>
                                          <p:spTgt spid="2"/>
                                        </p:tgtEl>
                                        <p:attrNameLst>
                                          <p:attrName>ppt_x</p:attrName>
                                        </p:attrNameLst>
                                      </p:cBhvr>
                                      <p:tavLst>
                                        <p:tav tm="0">
                                          <p:val>
                                            <p:strVal val="#ppt_x"/>
                                          </p:val>
                                        </p:tav>
                                        <p:tav tm="100000">
                                          <p:val>
                                            <p:strVal val="#ppt_x"/>
                                          </p:val>
                                        </p:tav>
                                      </p:tavLst>
                                    </p:anim>
                                    <p:anim calcmode="lin" valueType="num">
                                      <p:cBhvr>
                                        <p:cTn id="8" dur="700" decel="100000" fill="hold"/>
                                        <p:tgtEl>
                                          <p:spTgt spid="2"/>
                                        </p:tgtEl>
                                        <p:attrNameLst>
                                          <p:attrName>ppt_y</p:attrName>
                                        </p:attrNameLst>
                                      </p:cBhvr>
                                      <p:tavLst>
                                        <p:tav tm="0">
                                          <p:val>
                                            <p:strVal val="#ppt_y+.05"/>
                                          </p:val>
                                        </p:tav>
                                        <p:tav tm="100000">
                                          <p:val>
                                            <p:strVal val="#ppt_y"/>
                                          </p:val>
                                        </p:tav>
                                      </p:tavLst>
                                    </p:anim>
                                  </p:childTnLst>
                                </p:cTn>
                              </p:par>
                              <p:par>
                                <p:cTn id="14" presetID="42" presetClass="entr" presetSubtype="0" fill="hold" grpId="0" nodeType="withEffect">
                                  <p:stCondLst>
                                    <p:cond delay="2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700"/>
                                        <p:tgtEl>
                                          <p:spTgt spid="3"/>
                                        </p:tgtEl>
                                      </p:cBhvr>
                                    </p:animEffect>
                                    <p:anim calcmode="lin" valueType="num">
                                      <p:cBhvr>
                                        <p:cTn id="12" dur="700" decel="100000" fill="hold"/>
                                        <p:tgtEl>
                                          <p:spTgt spid="3"/>
                                        </p:tgtEl>
                                        <p:attrNameLst>
                                          <p:attrName>ppt_x</p:attrName>
                                        </p:attrNameLst>
                                      </p:cBhvr>
                                      <p:tavLst>
                                        <p:tav tm="0">
                                          <p:val>
                                            <p:strVal val="#ppt_x"/>
                                          </p:val>
                                        </p:tav>
                                        <p:tav tm="100000">
                                          <p:val>
                                            <p:strVal val="#ppt_x"/>
                                          </p:val>
                                        </p:tav>
                                      </p:tavLst>
                                    </p:anim>
                                    <p:anim calcmode="lin" valueType="num">
                                      <p:cBhvr>
                                        <p:cTn id="13" dur="700" decel="100000" fill="hold"/>
                                        <p:tgtEl>
                                          <p:spTgt spid="3"/>
                                        </p:tgtEl>
                                        <p:attrNameLst>
                                          <p:attrName>ppt_y</p:attrName>
                                        </p:attrNameLst>
                                      </p:cBhvr>
                                      <p:tavLst>
                                        <p:tav tm="0">
                                          <p:val>
                                            <p:strVal val="#ppt_y+.05"/>
                                          </p:val>
                                        </p:tav>
                                        <p:tav tm="100000">
                                          <p:val>
                                            <p:strVal val="#ppt_y"/>
                                          </p:val>
                                        </p:tav>
                                      </p:tavLst>
                                    </p:anim>
                                  </p:childTnLst>
                                </p:cTn>
                              </p:par>
                              <p:par>
                                <p:cTn id="17" presetID="10" presetClass="entr" presetSubtype="0" fill="hold" grpId="0" nodeType="withEffect">
                                  <p:stCondLst>
                                    <p:cond delay="65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Hackabike – Smarte Fahrradstation</dc:title>
  <dc:subject/>
  <dc:creator>Luca, Tobias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de-DE</dc:language>
</cp:coreProperties>
</file>