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one-sentence promise: we guide you to a free slot and guard your bike until you come back. Introduce yourselves: Luca and Tobias. Replace [Team name] with the official team name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short. Three questions every cyclist knows: where can I park, is my bike still there, and who does this bike belong to. A normal rack answers none of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pillars: access, guidance, protection. Everything that follows is how these three work and how we made them reliable.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station now. Demo in this order: park with the chip, show the LCD and the blue slot, push the bike in and watch the gate close. Then pick it up. Finally put a second bike in, take it out without tapping, show the alarm, a refused tap, and clear it on /dashboard/admin. Keep the phone app ready to show that the same rules apply there.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Innovation is 20 points. Stress the ideas, not the parts: one logic path for chip and app, alarms that only guard real parked bikes, a station that locks itself after a theft, and a forecast built from our own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implementation is the biggest block, 40 points. The Pi runs four containers. Node-RED holds all decisions; the ESPs only measure and execute. The ESPs sit on their own Wi-Fi network with no route to the school LAN, so a compromised ESP can only reach the broker. We split the work across two ESPs so the entrance hardware does not slow down the sensors.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parts are cheap and off the shelf. Firmware is ESPHome, so every ESP is described in one readable YAML file instead of custom C code.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reservation is one row in Postgres and moves through these states. The Node-RED logic only counts a slot as changed after five equal readings, so a flickering sensor never ends a session or raises an alarm.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"professional and stable" means for us. Each card is a problem we actually hit and fixed: flickering sensors, a sensor without echo, a lost tap during a restart, and slow updates with one ESP.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numbers come straight from our database during testing today. Refresh them right before the pitch with the queries in postgres/README.md. The 483 thousand readings are about eleven hours of four sensors at five readings per second. 8.5 seconds is the average from the reservation to the bike being secured.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Testing is 10 points. The station logic runs in a test harness that replays sensor readings and taps and checks the LEDs, gate and LCD for 14 scenarios, and it ran before every deploy. On the hardware we tested each feature live and used the telemetry table to find a lost tap during a restart, which led to the app waiting for the station's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part of the station is open source. The repository has a README for the stack, the ESP firmware, the Wi-Fi access point, the web app, the broker and the database: setup, wiring, MQTT topics, troubleshooting and a security checklist. Anyone can rebuild the station from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open about limits shows we understand the system. Each of these is known, documented in the repository, and has a clear fix.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technical part with a realistic roadmap. None of these needs a redesign: the architecture already separates decisions (Node-RED) from hardware (ESPs).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the jury to the station and hand them a chip. Keep /dashboard/admin open on a laptop in case a demo alarm needs clearing.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62000">
              <a:srgbClr val="12201B"/>
            </a:gs>
            <a:gs pos="100000">
              <a:srgbClr val="1C3A2E"/>
            </a:gs>
          </a:gsLst>
          <a:lin scaled="0" ang="1200000"/>
        </a:gradFill>
        <a:effectLst/>
      </p:bgPr>
    </p:bg>
    <p:spTree>
      <p:nvGrpSpPr>
        <p:cNvPr id="1" name=""/>
        <p:cNvGrpSpPr/>
        <p:nvPr/>
      </p:nvGrpSpPr>
      <p:grpSpPr/>
      <p:sp>
        <p:nvSpPr>
          <p:cNvPr id="2" name="Eyebrow"/>
          <p:cNvSpPr txBox="1"/>
          <p:nvPr/>
        </p:nvSpPr>
        <p:spPr>
          <a:xfrm>
            <a:off x="762000" y="2002091"/>
            <a:ext cx="10668000" cy="222885"/>
          </a:xfrm>
          <a:prstGeom prst="rect">
            <a:avLst/>
          </a:prstGeom>
          <a:noFill/>
        </p:spPr>
        <p:txBody>
          <a:bodyPr wrap="square" lIns="0" tIns="0" rIns="0" bIns="0" anchor="t"/>
          <a:lstStyle/>
          <a:p>
            <a:pPr>
              <a:lnSpc>
                <a:spcPct val="100000"/>
              </a:lnSpc>
              <a:spcBef>
                <a:spcPts val="0"/>
              </a:spcBef>
              <a:spcAft>
                <a:spcPts val="0"/>
              </a:spcAft>
            </a:pPr>
            <a:r>
              <a:rPr sz="1350" b="1" spc="225">
                <a:solidFill>
                  <a:srgbClr val="3DDC84"/>
                </a:solidFill>
                <a:latin typeface="Segoe UI"/>
              </a:rPr>
              <a:t>KALKAR HACKATHON 2026</a:t>
            </a:r>
          </a:p>
        </p:txBody>
      </p:sp>
      <p:sp>
        <p:nvSpPr>
          <p:cNvPr id="3" name="Title"/>
          <p:cNvSpPr txBox="1"/>
          <p:nvPr/>
        </p:nvSpPr>
        <p:spPr>
          <a:xfrm>
            <a:off x="762000" y="2301176"/>
            <a:ext cx="10668000" cy="1188720"/>
          </a:xfrm>
          <a:prstGeom prst="rect">
            <a:avLst/>
          </a:prstGeom>
          <a:noFill/>
        </p:spPr>
        <p:txBody>
          <a:bodyPr wrap="square" lIns="0" tIns="0" rIns="0" bIns="0" anchor="t"/>
          <a:lstStyle/>
          <a:p>
            <a:pPr>
              <a:lnSpc>
                <a:spcPct val="100000"/>
              </a:lnSpc>
              <a:spcBef>
                <a:spcPts val="0"/>
              </a:spcBef>
              <a:spcAft>
                <a:spcPts val="0"/>
              </a:spcAft>
            </a:pPr>
            <a:r>
              <a:rPr sz="7800" b="1">
                <a:solidFill>
                  <a:srgbClr val="EEF3EC"/>
                </a:solidFill>
                <a:latin typeface="Segoe UI"/>
              </a:rPr>
              <a:t>Hackabike</a:t>
            </a:r>
          </a:p>
        </p:txBody>
      </p:sp>
      <p:sp>
        <p:nvSpPr>
          <p:cNvPr id="4" name="Text"/>
          <p:cNvSpPr txBox="1"/>
          <p:nvPr/>
        </p:nvSpPr>
        <p:spPr>
          <a:xfrm>
            <a:off x="762000" y="3845496"/>
            <a:ext cx="7810500" cy="1010411"/>
          </a:xfrm>
          <a:prstGeom prst="rect">
            <a:avLst/>
          </a:prstGeom>
          <a:noFill/>
        </p:spPr>
        <p:txBody>
          <a:bodyPr wrap="square" lIns="0" tIns="0" rIns="0" bIns="0" anchor="t"/>
          <a:lstStyle/>
          <a:p>
            <a:pPr>
              <a:lnSpc>
                <a:spcPct val="130000"/>
              </a:lnSpc>
              <a:spcBef>
                <a:spcPts val="0"/>
              </a:spcBef>
              <a:spcAft>
                <a:spcPts val="0"/>
              </a:spcAft>
            </a:pPr>
            <a:r>
              <a:rPr sz="2550" b="0">
                <a:solidFill>
                  <a:srgbClr val="C9D6CE"/>
                </a:solidFill>
                <a:latin typeface="Segoe UI"/>
              </a:rPr>
              <a:t>The smart bike station that guides you to a free slot and guards your bike until you come back.</a:t>
            </a:r>
          </a:p>
        </p:txBody>
      </p:sp>
      <p:sp>
        <p:nvSpPr>
          <p:cNvPr id="5" name="Footer"/>
          <p:cNvSpPr txBox="1"/>
          <p:nvPr/>
        </p:nvSpPr>
        <p:spPr>
          <a:xfrm>
            <a:off x="254000" y="6477000"/>
            <a:ext cx="8890000" cy="203200"/>
          </a:xfrm>
          <a:prstGeom prst="rect">
            <a:avLst/>
          </a:prstGeom>
          <a:noFill/>
        </p:spPr>
        <p:txBody>
          <a:bodyPr wrap="square" lIns="0" tIns="0" rIns="0" bIns="0" anchor="t"/>
          <a:lstStyle/>
          <a:p>
            <a:r>
              <a:rPr sz="1200" b="0">
                <a:solidFill>
                  <a:srgbClr val="8FA89A"/>
                </a:solidFill>
                <a:latin typeface="Segoe UI"/>
              </a:rPr>
              <a:t>[Team name] · Group 12 · Luca · Tobias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5EF"/>
        </a:solidFill>
        <a:effectLst/>
      </p:bgPr>
    </p:bg>
    <p:spTree>
      <p:nvGrpSpPr>
        <p:cNvPr id="1" name=""/>
        <p:cNvGrpSpPr/>
        <p:nvPr/>
      </p:nvGrpSpPr>
      <p:grpSpPr/>
      <p:sp>
        <p:nvSpPr>
          <p:cNvPr id="2" name="Eyebrow"/>
          <p:cNvSpPr txBox="1"/>
          <p:nvPr/>
        </p:nvSpPr>
        <p:spPr>
          <a:xfrm>
            <a:off x="762000" y="1357693"/>
            <a:ext cx="10668000" cy="222885"/>
          </a:xfrm>
          <a:prstGeom prst="rect">
            <a:avLst/>
          </a:prstGeom>
          <a:noFill/>
        </p:spPr>
        <p:txBody>
          <a:bodyPr wrap="square" lIns="0" tIns="0" rIns="0" bIns="0" anchor="t"/>
          <a:lstStyle/>
          <a:p>
            <a:pPr>
              <a:lnSpc>
                <a:spcPct val="100000"/>
              </a:lnSpc>
              <a:spcBef>
                <a:spcPts val="0"/>
              </a:spcBef>
              <a:spcAft>
                <a:spcPts val="0"/>
              </a:spcAft>
            </a:pPr>
            <a:r>
              <a:rPr sz="1350" b="1" spc="225">
                <a:solidFill>
                  <a:srgbClr val="1B7F4B"/>
                </a:solidFill>
                <a:latin typeface="Segoe UI"/>
              </a:rPr>
              <a:t>THE PROBLEM</a:t>
            </a:r>
          </a:p>
        </p:txBody>
      </p:sp>
      <p:sp>
        <p:nvSpPr>
          <p:cNvPr id="3" name="Title"/>
          <p:cNvSpPr txBox="1"/>
          <p:nvPr/>
        </p:nvSpPr>
        <p:spPr>
          <a:xfrm>
            <a:off x="762000" y="1656778"/>
            <a:ext cx="10668000" cy="1257300"/>
          </a:xfrm>
          <a:prstGeom prst="rect">
            <a:avLst/>
          </a:prstGeom>
          <a:noFill/>
        </p:spPr>
        <p:txBody>
          <a:bodyPr wrap="square" lIns="0" tIns="0" rIns="0" bIns="0" anchor="t"/>
          <a:lstStyle/>
          <a:p>
            <a:pPr>
              <a:lnSpc>
                <a:spcPct val="110000"/>
              </a:lnSpc>
              <a:spcBef>
                <a:spcPts val="0"/>
              </a:spcBef>
              <a:spcAft>
                <a:spcPts val="0"/>
              </a:spcAft>
            </a:pPr>
            <a:r>
              <a:rPr sz="3750" b="1">
                <a:solidFill>
                  <a:srgbClr val="17241F"/>
                </a:solidFill>
                <a:latin typeface="Segoe UI"/>
              </a:rPr>
              <a:t>A bike rack tells you nothing and protects nothing.</a:t>
            </a:r>
          </a:p>
        </p:txBody>
      </p:sp>
      <p:sp>
        <p:nvSpPr>
          <p:cNvPr id="4" name="Card: Where is a free spot?"/>
          <p:cNvSpPr/>
          <p:nvPr/>
        </p:nvSpPr>
        <p:spPr>
          <a:xfrm>
            <a:off x="762000" y="3218878"/>
            <a:ext cx="3416300" cy="2281428"/>
          </a:xfrm>
          <a:prstGeom prst="roundRect">
            <a:avLst>
              <a:gd name="adj" fmla="val 6680"/>
            </a:avLst>
          </a:prstGeom>
          <a:solidFill>
            <a:srgbClr val="FFFFFF"/>
          </a:solidFill>
          <a:ln w="9525">
            <a:solidFill>
              <a:srgbClr val="D9E2DB"/>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17241F"/>
                </a:solidFill>
                <a:latin typeface="Segoe UI"/>
              </a:rPr>
              <a:t>Where is a free spot?</a:t>
            </a:r>
          </a:p>
          <a:p>
            <a:pPr algn="l">
              <a:lnSpc>
                <a:spcPct val="120000"/>
              </a:lnSpc>
              <a:spcBef>
                <a:spcPts val="0"/>
              </a:spcBef>
              <a:spcAft>
                <a:spcPts val="0"/>
              </a:spcAft>
            </a:pPr>
            <a:r>
              <a:rPr sz="1950" b="0">
                <a:solidFill>
                  <a:srgbClr val="4A5A52"/>
                </a:solidFill>
                <a:latin typeface="Segoe UI"/>
              </a:rPr>
              <a:t>You only find out when you are standing in front of it.</a:t>
            </a:r>
          </a:p>
        </p:txBody>
      </p:sp>
      <p:sp>
        <p:nvSpPr>
          <p:cNvPr id="5" name="Card: Is my bike still safe?"/>
          <p:cNvSpPr/>
          <p:nvPr/>
        </p:nvSpPr>
        <p:spPr>
          <a:xfrm>
            <a:off x="4387850" y="3218878"/>
            <a:ext cx="3416300" cy="2281428"/>
          </a:xfrm>
          <a:prstGeom prst="roundRect">
            <a:avLst>
              <a:gd name="adj" fmla="val 6680"/>
            </a:avLst>
          </a:prstGeom>
          <a:solidFill>
            <a:srgbClr val="FFFFFF"/>
          </a:solidFill>
          <a:ln w="9525">
            <a:solidFill>
              <a:srgbClr val="D9E2DB"/>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17241F"/>
                </a:solidFill>
                <a:latin typeface="Segoe UI"/>
              </a:rPr>
              <a:t>Is my bike still safe?</a:t>
            </a:r>
          </a:p>
          <a:p>
            <a:pPr algn="l">
              <a:lnSpc>
                <a:spcPct val="120000"/>
              </a:lnSpc>
              <a:spcBef>
                <a:spcPts val="0"/>
              </a:spcBef>
              <a:spcAft>
                <a:spcPts val="0"/>
              </a:spcAft>
            </a:pPr>
            <a:r>
              <a:rPr sz="1950" b="0">
                <a:solidFill>
                  <a:srgbClr val="4A5A52"/>
                </a:solidFill>
                <a:latin typeface="Segoe UI"/>
              </a:rPr>
              <a:t>A lock slows a thief down, but nobody notices.</a:t>
            </a:r>
          </a:p>
        </p:txBody>
      </p:sp>
      <p:sp>
        <p:nvSpPr>
          <p:cNvPr id="6" name="Card: Who parked here?"/>
          <p:cNvSpPr/>
          <p:nvPr/>
        </p:nvSpPr>
        <p:spPr>
          <a:xfrm>
            <a:off x="8013700" y="3218878"/>
            <a:ext cx="3416300" cy="2281428"/>
          </a:xfrm>
          <a:prstGeom prst="roundRect">
            <a:avLst>
              <a:gd name="adj" fmla="val 6680"/>
            </a:avLst>
          </a:prstGeom>
          <a:solidFill>
            <a:srgbClr val="FFFFFF"/>
          </a:solidFill>
          <a:ln w="9525">
            <a:solidFill>
              <a:srgbClr val="D9E2DB"/>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17241F"/>
                </a:solidFill>
                <a:latin typeface="Segoe UI"/>
              </a:rPr>
              <a:t>Who parked here?</a:t>
            </a:r>
          </a:p>
          <a:p>
            <a:pPr algn="l">
              <a:lnSpc>
                <a:spcPct val="120000"/>
              </a:lnSpc>
              <a:spcBef>
                <a:spcPts val="0"/>
              </a:spcBef>
              <a:spcAft>
                <a:spcPts val="0"/>
              </a:spcAft>
            </a:pPr>
            <a:r>
              <a:rPr sz="1950" b="0">
                <a:solidFill>
                  <a:srgbClr val="4A5A52"/>
                </a:solidFill>
                <a:latin typeface="Segoe UI"/>
              </a:rPr>
              <a:t>There is no link between a bike and its owner.</a:t>
            </a:r>
          </a:p>
        </p:txBody>
      </p:sp>
      <p:sp>
        <p:nvSpPr>
          <p:cNvPr id="7" name="Slide number"/>
          <p:cNvSpPr txBox="1"/>
          <p:nvPr/>
        </p:nvSpPr>
        <p:spPr>
          <a:xfrm>
            <a:off x="10668000" y="6477000"/>
            <a:ext cx="762000" cy="203200"/>
          </a:xfrm>
          <a:prstGeom prst="rect">
            <a:avLst/>
          </a:prstGeom>
          <a:noFill/>
        </p:spPr>
        <p:txBody>
          <a:bodyPr wrap="square" lIns="0" tIns="0" rIns="0" bIns="0" anchor="t"/>
          <a:lstStyle/>
          <a:p>
            <a:pPr algn="r"/>
            <a:fld id="{B6F15528-21DE-4FAA-801E-634DDDAF4B2B}" type="slidenum">
              <a:rPr lang="en-US" sz="1200">
                <a:solidFill>
                  <a:srgbClr val="6B7C73"/>
                </a:solidFill>
                <a:latin typeface="Segoe UI"/>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201B"/>
        </a:solidFill>
        <a:effectLst/>
      </p:bgPr>
    </p:bg>
    <p:spTree>
      <p:nvGrpSpPr>
        <p:cNvPr id="1" name=""/>
        <p:cNvGrpSpPr/>
        <p:nvPr/>
      </p:nvGrpSpPr>
      <p:grpSpPr/>
      <p:sp>
        <p:nvSpPr>
          <p:cNvPr id="2" name="Eyebrow"/>
          <p:cNvSpPr txBox="1"/>
          <p:nvPr/>
        </p:nvSpPr>
        <p:spPr>
          <a:xfrm>
            <a:off x="762000" y="1546288"/>
            <a:ext cx="10668000" cy="222885"/>
          </a:xfrm>
          <a:prstGeom prst="rect">
            <a:avLst/>
          </a:prstGeom>
          <a:noFill/>
        </p:spPr>
        <p:txBody>
          <a:bodyPr wrap="square" lIns="0" tIns="0" rIns="0" bIns="0" anchor="t"/>
          <a:lstStyle/>
          <a:p>
            <a:pPr>
              <a:lnSpc>
                <a:spcPct val="100000"/>
              </a:lnSpc>
              <a:spcBef>
                <a:spcPts val="0"/>
              </a:spcBef>
              <a:spcAft>
                <a:spcPts val="0"/>
              </a:spcAft>
            </a:pPr>
            <a:r>
              <a:rPr sz="1350" b="1" spc="225">
                <a:solidFill>
                  <a:srgbClr val="3DDC84"/>
                </a:solidFill>
                <a:latin typeface="Segoe UI"/>
              </a:rPr>
              <a:t>OUR SOLUTION</a:t>
            </a:r>
          </a:p>
        </p:txBody>
      </p:sp>
      <p:sp>
        <p:nvSpPr>
          <p:cNvPr id="3" name="Title"/>
          <p:cNvSpPr txBox="1"/>
          <p:nvPr/>
        </p:nvSpPr>
        <p:spPr>
          <a:xfrm>
            <a:off x="762000" y="1845373"/>
            <a:ext cx="10668000" cy="1257300"/>
          </a:xfrm>
          <a:prstGeom prst="rect">
            <a:avLst/>
          </a:prstGeom>
          <a:noFill/>
        </p:spPr>
        <p:txBody>
          <a:bodyPr wrap="square" lIns="0" tIns="0" rIns="0" bIns="0" anchor="t"/>
          <a:lstStyle/>
          <a:p>
            <a:pPr>
              <a:lnSpc>
                <a:spcPct val="110000"/>
              </a:lnSpc>
              <a:spcBef>
                <a:spcPts val="0"/>
              </a:spcBef>
              <a:spcAft>
                <a:spcPts val="0"/>
              </a:spcAft>
            </a:pPr>
            <a:r>
              <a:rPr sz="3750" b="1">
                <a:solidFill>
                  <a:srgbClr val="EEF3EC"/>
                </a:solidFill>
                <a:latin typeface="Segoe UI"/>
              </a:rPr>
              <a:t>One station that knows every slot and every owner.</a:t>
            </a:r>
          </a:p>
        </p:txBody>
      </p:sp>
      <p:sp>
        <p:nvSpPr>
          <p:cNvPr id="4" name="Card: 🔑 Access"/>
          <p:cNvSpPr/>
          <p:nvPr/>
        </p:nvSpPr>
        <p:spPr>
          <a:xfrm>
            <a:off x="762000" y="3407473"/>
            <a:ext cx="3416300" cy="1904238"/>
          </a:xfrm>
          <a:prstGeom prst="roundRect">
            <a:avLst>
              <a:gd name="adj" fmla="val 8003"/>
            </a:avLst>
          </a:prstGeom>
          <a:solidFill>
            <a:srgbClr val="1A2E26"/>
          </a:solidFill>
          <a:ln w="9525">
            <a:solidFill>
              <a:srgbClr val="2E5443"/>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3DDC84"/>
                </a:solidFill>
                <a:latin typeface="Segoe UI"/>
              </a:rPr>
              <a:t>🔑 Access</a:t>
            </a:r>
          </a:p>
          <a:p>
            <a:pPr algn="l">
              <a:lnSpc>
                <a:spcPct val="120000"/>
              </a:lnSpc>
              <a:spcBef>
                <a:spcPts val="0"/>
              </a:spcBef>
              <a:spcAft>
                <a:spcPts val="0"/>
              </a:spcAft>
            </a:pPr>
            <a:r>
              <a:rPr sz="1950" b="0">
                <a:solidFill>
                  <a:srgbClr val="C9D6CE"/>
                </a:solidFill>
                <a:latin typeface="Segoe UI"/>
              </a:rPr>
              <a:t>NFC chip or phone app. Only accounts get in, one bike each.</a:t>
            </a:r>
          </a:p>
        </p:txBody>
      </p:sp>
      <p:sp>
        <p:nvSpPr>
          <p:cNvPr id="5" name="Card: 💡 Guidance"/>
          <p:cNvSpPr/>
          <p:nvPr/>
        </p:nvSpPr>
        <p:spPr>
          <a:xfrm>
            <a:off x="4387850" y="3407473"/>
            <a:ext cx="3416300" cy="1904238"/>
          </a:xfrm>
          <a:prstGeom prst="roundRect">
            <a:avLst>
              <a:gd name="adj" fmla="val 8003"/>
            </a:avLst>
          </a:prstGeom>
          <a:solidFill>
            <a:srgbClr val="1A2E26"/>
          </a:solidFill>
          <a:ln w="9525">
            <a:solidFill>
              <a:srgbClr val="2E5443"/>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3DDC84"/>
                </a:solidFill>
                <a:latin typeface="Segoe UI"/>
              </a:rPr>
              <a:t>💡 Guidance</a:t>
            </a:r>
          </a:p>
          <a:p>
            <a:pPr algn="l">
              <a:lnSpc>
                <a:spcPct val="120000"/>
              </a:lnSpc>
              <a:spcBef>
                <a:spcPts val="0"/>
              </a:spcBef>
              <a:spcAft>
                <a:spcPts val="0"/>
              </a:spcAft>
            </a:pPr>
            <a:r>
              <a:rPr sz="1950" b="0">
                <a:solidFill>
                  <a:srgbClr val="C9D6CE"/>
                </a:solidFill>
                <a:latin typeface="Segoe UI"/>
              </a:rPr>
              <a:t>Your slot lights up, the LCD greets you, the gate opens.</a:t>
            </a:r>
          </a:p>
        </p:txBody>
      </p:sp>
      <p:sp>
        <p:nvSpPr>
          <p:cNvPr id="6" name="Card: 🚨 Protection"/>
          <p:cNvSpPr/>
          <p:nvPr/>
        </p:nvSpPr>
        <p:spPr>
          <a:xfrm>
            <a:off x="8013700" y="3407473"/>
            <a:ext cx="3416300" cy="1904238"/>
          </a:xfrm>
          <a:prstGeom prst="roundRect">
            <a:avLst>
              <a:gd name="adj" fmla="val 8003"/>
            </a:avLst>
          </a:prstGeom>
          <a:solidFill>
            <a:srgbClr val="1A2E26"/>
          </a:solidFill>
          <a:ln w="9525">
            <a:solidFill>
              <a:srgbClr val="2E5443"/>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3DDC84"/>
                </a:solidFill>
                <a:latin typeface="Segoe UI"/>
              </a:rPr>
              <a:t>🚨 Protection</a:t>
            </a:r>
          </a:p>
          <a:p>
            <a:pPr algn="l">
              <a:lnSpc>
                <a:spcPct val="120000"/>
              </a:lnSpc>
              <a:spcBef>
                <a:spcPts val="0"/>
              </a:spcBef>
              <a:spcAft>
                <a:spcPts val="0"/>
              </a:spcAft>
            </a:pPr>
            <a:r>
              <a:rPr sz="1950" b="0">
                <a:solidFill>
                  <a:srgbClr val="C9D6CE"/>
                </a:solidFill>
                <a:latin typeface="Segoe UI"/>
              </a:rPr>
              <a:t>A bike leaves without its owner? Alarm, and the station locks.</a:t>
            </a:r>
          </a:p>
        </p:txBody>
      </p:sp>
      <p:sp>
        <p:nvSpPr>
          <p:cNvPr id="7" name="Slide number"/>
          <p:cNvSpPr txBox="1"/>
          <p:nvPr/>
        </p:nvSpPr>
        <p:spPr>
          <a:xfrm>
            <a:off x="10668000" y="6477000"/>
            <a:ext cx="762000" cy="203200"/>
          </a:xfrm>
          <a:prstGeom prst="rect">
            <a:avLst/>
          </a:prstGeom>
          <a:noFill/>
        </p:spPr>
        <p:txBody>
          <a:bodyPr wrap="square" lIns="0" tIns="0" rIns="0" bIns="0" anchor="t"/>
          <a:lstStyle/>
          <a:p>
            <a:pPr algn="r"/>
            <a:fld id="{B6F15528-21DE-4FAA-801E-634DDDAF4B2B}" type="slidenum">
              <a:rPr lang="en-US" sz="1200">
                <a:solidFill>
                  <a:srgbClr val="8FA89A"/>
                </a:solidFill>
                <a:latin typeface="Segoe UI"/>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2F5EF"/>
        </a:solidFill>
        <a:effectLst/>
      </p:bgPr>
    </p:bg>
    <p:spTree>
      <p:nvGrpSpPr>
        <p:cNvPr id="1" name=""/>
        <p:cNvGrpSpPr/>
        <p:nvPr/>
      </p:nvGrpSpPr>
      <p:grpSpPr/>
      <p:sp>
        <p:nvSpPr>
          <p:cNvPr id="2" name="Eyebrow"/>
          <p:cNvSpPr txBox="1"/>
          <p:nvPr/>
        </p:nvSpPr>
        <p:spPr>
          <a:xfrm>
            <a:off x="762000" y="1263205"/>
            <a:ext cx="10668000" cy="222885"/>
          </a:xfrm>
          <a:prstGeom prst="rect">
            <a:avLst/>
          </a:prstGeom>
          <a:noFill/>
        </p:spPr>
        <p:txBody>
          <a:bodyPr wrap="square" lIns="0" tIns="0" rIns="0" bIns="0" anchor="t"/>
          <a:lstStyle/>
          <a:p>
            <a:pPr>
              <a:lnSpc>
                <a:spcPct val="100000"/>
              </a:lnSpc>
              <a:spcBef>
                <a:spcPts val="0"/>
              </a:spcBef>
              <a:spcAft>
                <a:spcPts val="0"/>
              </a:spcAft>
            </a:pPr>
            <a:r>
              <a:rPr sz="1350" b="1" spc="225">
                <a:solidFill>
                  <a:srgbClr val="1B7F4B"/>
                </a:solidFill>
                <a:latin typeface="Segoe UI"/>
              </a:rPr>
              <a:t>LIVE DEMO</a:t>
            </a:r>
          </a:p>
        </p:txBody>
      </p:sp>
      <p:sp>
        <p:nvSpPr>
          <p:cNvPr id="3" name="Title"/>
          <p:cNvSpPr txBox="1"/>
          <p:nvPr/>
        </p:nvSpPr>
        <p:spPr>
          <a:xfrm>
            <a:off x="762000" y="1562290"/>
            <a:ext cx="10668000" cy="628650"/>
          </a:xfrm>
          <a:prstGeom prst="rect">
            <a:avLst/>
          </a:prstGeom>
          <a:noFill/>
        </p:spPr>
        <p:txBody>
          <a:bodyPr wrap="square" lIns="0" tIns="0" rIns="0" bIns="0" anchor="t"/>
          <a:lstStyle/>
          <a:p>
            <a:pPr>
              <a:lnSpc>
                <a:spcPct val="110000"/>
              </a:lnSpc>
              <a:spcBef>
                <a:spcPts val="0"/>
              </a:spcBef>
              <a:spcAft>
                <a:spcPts val="0"/>
              </a:spcAft>
            </a:pPr>
            <a:r>
              <a:rPr sz="3750" b="1">
                <a:solidFill>
                  <a:srgbClr val="17241F"/>
                </a:solidFill>
                <a:latin typeface="Segoe UI"/>
              </a:rPr>
              <a:t>One rider, three moments</a:t>
            </a:r>
          </a:p>
        </p:txBody>
      </p:sp>
      <p:sp>
        <p:nvSpPr>
          <p:cNvPr id="4" name="Card: 1 · Park"/>
          <p:cNvSpPr/>
          <p:nvPr/>
        </p:nvSpPr>
        <p:spPr>
          <a:xfrm>
            <a:off x="762000" y="2495740"/>
            <a:ext cx="3416300" cy="3099054"/>
          </a:xfrm>
          <a:prstGeom prst="roundRect">
            <a:avLst>
              <a:gd name="adj" fmla="val 4917"/>
            </a:avLst>
          </a:prstGeom>
          <a:solidFill>
            <a:srgbClr val="FFFFFF"/>
          </a:solidFill>
          <a:ln w="9525">
            <a:solidFill>
              <a:srgbClr val="D9E2DB"/>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17241F"/>
                </a:solidFill>
                <a:latin typeface="Segoe UI"/>
              </a:rPr>
              <a:t>1 · Park</a:t>
            </a:r>
          </a:p>
          <a:p>
            <a:pPr algn="l" marL="228600" indent="-203200">
              <a:lnSpc>
                <a:spcPct val="120000"/>
              </a:lnSpc>
              <a:spcBef>
                <a:spcPts val="300"/>
              </a:spcBef>
              <a:spcAft>
                <a:spcPts val="0"/>
              </a:spcAft>
              <a:buClr>
                <a:srgbClr val="4A5A52"/>
              </a:buClr>
              <a:buFont typeface="+mj-lt"/>
              <a:buAutoNum type="arabicPeriod"/>
            </a:pPr>
            <a:r>
              <a:rPr sz="1650" b="0">
                <a:solidFill>
                  <a:srgbClr val="4A5A52"/>
                </a:solidFill>
                <a:latin typeface="Segoe UI"/>
              </a:rPr>
              <a:t>Tap chip or press </a:t>
            </a:r>
            <a:r>
              <a:rPr sz="1650" b="0" i="1">
                <a:solidFill>
                  <a:srgbClr val="4A5A52"/>
                </a:solidFill>
                <a:latin typeface="Segoe UI"/>
              </a:rPr>
              <a:t>Park</a:t>
            </a:r>
          </a:p>
          <a:p>
            <a:pPr algn="l" marL="228600" indent="-203200">
              <a:lnSpc>
                <a:spcPct val="120000"/>
              </a:lnSpc>
              <a:spcBef>
                <a:spcPts val="300"/>
              </a:spcBef>
              <a:spcAft>
                <a:spcPts val="0"/>
              </a:spcAft>
              <a:buClr>
                <a:srgbClr val="4A5A52"/>
              </a:buClr>
              <a:buFont typeface="+mj-lt"/>
              <a:buAutoNum type="arabicPeriod"/>
            </a:pPr>
            <a:r>
              <a:rPr sz="1650" b="0">
                <a:solidFill>
                  <a:srgbClr val="4A5A52"/>
                </a:solidFill>
                <a:latin typeface="Segoe UI"/>
              </a:rPr>
              <a:t>LCD "Park at Slot 2", slot blinks blue</a:t>
            </a:r>
          </a:p>
          <a:p>
            <a:pPr algn="l" marL="228600" indent="-203200">
              <a:lnSpc>
                <a:spcPct val="120000"/>
              </a:lnSpc>
              <a:spcBef>
                <a:spcPts val="300"/>
              </a:spcBef>
              <a:spcAft>
                <a:spcPts val="0"/>
              </a:spcAft>
              <a:buClr>
                <a:srgbClr val="4A5A52"/>
              </a:buClr>
              <a:buFont typeface="+mj-lt"/>
              <a:buAutoNum type="arabicPeriod"/>
            </a:pPr>
            <a:r>
              <a:rPr sz="1650" b="0">
                <a:solidFill>
                  <a:srgbClr val="4A5A52"/>
                </a:solidFill>
                <a:latin typeface="Segoe UI"/>
              </a:rPr>
              <a:t>Gate opens</a:t>
            </a:r>
          </a:p>
          <a:p>
            <a:pPr algn="l" marL="228600" indent="-203200">
              <a:lnSpc>
                <a:spcPct val="120000"/>
              </a:lnSpc>
              <a:spcBef>
                <a:spcPts val="300"/>
              </a:spcBef>
              <a:spcAft>
                <a:spcPts val="0"/>
              </a:spcAft>
              <a:buClr>
                <a:srgbClr val="4A5A52"/>
              </a:buClr>
              <a:buFont typeface="+mj-lt"/>
              <a:buAutoNum type="arabicPeriod"/>
            </a:pPr>
            <a:r>
              <a:rPr sz="1650" b="0">
                <a:solidFill>
                  <a:srgbClr val="4A5A52"/>
                </a:solidFill>
                <a:latin typeface="Segoe UI"/>
              </a:rPr>
              <a:t>Bike in: "Secured", gate closes</a:t>
            </a:r>
          </a:p>
        </p:txBody>
      </p:sp>
      <p:sp>
        <p:nvSpPr>
          <p:cNvPr id="5" name="Card: 2 · Pick up"/>
          <p:cNvSpPr/>
          <p:nvPr/>
        </p:nvSpPr>
        <p:spPr>
          <a:xfrm>
            <a:off x="4387850" y="2495740"/>
            <a:ext cx="3416300" cy="3099054"/>
          </a:xfrm>
          <a:prstGeom prst="roundRect">
            <a:avLst>
              <a:gd name="adj" fmla="val 4917"/>
            </a:avLst>
          </a:prstGeom>
          <a:solidFill>
            <a:srgbClr val="FFFFFF"/>
          </a:solidFill>
          <a:ln w="9525">
            <a:solidFill>
              <a:srgbClr val="D9E2DB"/>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17241F"/>
                </a:solidFill>
                <a:latin typeface="Segoe UI"/>
              </a:rPr>
              <a:t>2 · Pick up</a:t>
            </a:r>
          </a:p>
          <a:p>
            <a:pPr algn="l" marL="228600" indent="-203200">
              <a:lnSpc>
                <a:spcPct val="120000"/>
              </a:lnSpc>
              <a:spcBef>
                <a:spcPts val="300"/>
              </a:spcBef>
              <a:spcAft>
                <a:spcPts val="0"/>
              </a:spcAft>
              <a:buClr>
                <a:srgbClr val="4A5A52"/>
              </a:buClr>
              <a:buFont typeface="+mj-lt"/>
              <a:buAutoNum type="arabicPeriod"/>
            </a:pPr>
            <a:r>
              <a:rPr sz="1650" b="0">
                <a:solidFill>
                  <a:srgbClr val="4A5A52"/>
                </a:solidFill>
                <a:latin typeface="Segoe UI"/>
              </a:rPr>
              <a:t>Tap again</a:t>
            </a:r>
          </a:p>
          <a:p>
            <a:pPr algn="l" marL="228600" indent="-203200">
              <a:lnSpc>
                <a:spcPct val="120000"/>
              </a:lnSpc>
              <a:spcBef>
                <a:spcPts val="300"/>
              </a:spcBef>
              <a:spcAft>
                <a:spcPts val="0"/>
              </a:spcAft>
              <a:buClr>
                <a:srgbClr val="4A5A52"/>
              </a:buClr>
              <a:buFont typeface="+mj-lt"/>
              <a:buAutoNum type="arabicPeriod"/>
            </a:pPr>
            <a:r>
              <a:rPr sz="1650" b="0">
                <a:solidFill>
                  <a:srgbClr val="4A5A52"/>
                </a:solidFill>
                <a:latin typeface="Segoe UI"/>
              </a:rPr>
              <a:t>Your slot blinks blue</a:t>
            </a:r>
          </a:p>
          <a:p>
            <a:pPr algn="l" marL="228600" indent="-203200">
              <a:lnSpc>
                <a:spcPct val="120000"/>
              </a:lnSpc>
              <a:spcBef>
                <a:spcPts val="300"/>
              </a:spcBef>
              <a:spcAft>
                <a:spcPts val="0"/>
              </a:spcAft>
              <a:buClr>
                <a:srgbClr val="4A5A52"/>
              </a:buClr>
              <a:buFont typeface="+mj-lt"/>
              <a:buAutoNum type="arabicPeriod"/>
            </a:pPr>
            <a:r>
              <a:rPr sz="1650" b="0">
                <a:solidFill>
                  <a:srgbClr val="4A5A52"/>
                </a:solidFill>
                <a:latin typeface="Segoe UI"/>
              </a:rPr>
              <a:t>Gate opens, take your bike</a:t>
            </a:r>
          </a:p>
          <a:p>
            <a:pPr algn="l" marL="228600" indent="-203200">
              <a:lnSpc>
                <a:spcPct val="120000"/>
              </a:lnSpc>
              <a:spcBef>
                <a:spcPts val="300"/>
              </a:spcBef>
              <a:spcAft>
                <a:spcPts val="0"/>
              </a:spcAft>
              <a:buClr>
                <a:srgbClr val="4A5A52"/>
              </a:buClr>
              <a:buFont typeface="+mj-lt"/>
              <a:buAutoNum type="arabicPeriod"/>
            </a:pPr>
            <a:r>
              <a:rPr sz="1650" b="0">
                <a:solidFill>
                  <a:srgbClr val="4A5A52"/>
                </a:solidFill>
                <a:latin typeface="Segoe UI"/>
              </a:rPr>
              <a:t>Slot empty: gate opens 5 s to leave</a:t>
            </a:r>
          </a:p>
        </p:txBody>
      </p:sp>
      <p:sp>
        <p:nvSpPr>
          <p:cNvPr id="6" name="Card: 3 · Theft"/>
          <p:cNvSpPr/>
          <p:nvPr/>
        </p:nvSpPr>
        <p:spPr>
          <a:xfrm>
            <a:off x="8013700" y="2495740"/>
            <a:ext cx="3416300" cy="3099054"/>
          </a:xfrm>
          <a:prstGeom prst="roundRect">
            <a:avLst>
              <a:gd name="adj" fmla="val 4917"/>
            </a:avLst>
          </a:prstGeom>
          <a:solidFill>
            <a:srgbClr val="FFFFFF"/>
          </a:solidFill>
          <a:ln w="9525">
            <a:solidFill>
              <a:srgbClr val="D9E2DB"/>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17241F"/>
                </a:solidFill>
                <a:latin typeface="Segoe UI"/>
              </a:rPr>
              <a:t>3 · Theft</a:t>
            </a:r>
          </a:p>
          <a:p>
            <a:pPr algn="l" marL="228600" indent="-203200">
              <a:lnSpc>
                <a:spcPct val="120000"/>
              </a:lnSpc>
              <a:spcBef>
                <a:spcPts val="300"/>
              </a:spcBef>
              <a:spcAft>
                <a:spcPts val="0"/>
              </a:spcAft>
              <a:buClr>
                <a:srgbClr val="4A5A52"/>
              </a:buClr>
              <a:buFont typeface="+mj-lt"/>
              <a:buAutoNum type="arabicPeriod"/>
            </a:pPr>
            <a:r>
              <a:rPr sz="1650" b="0">
                <a:solidFill>
                  <a:srgbClr val="4A5A52"/>
                </a:solidFill>
                <a:latin typeface="Segoe UI"/>
              </a:rPr>
              <a:t>Secured bike leaves, no pickup</a:t>
            </a:r>
          </a:p>
          <a:p>
            <a:pPr algn="l" marL="228600" indent="-203200">
              <a:lnSpc>
                <a:spcPct val="120000"/>
              </a:lnSpc>
              <a:spcBef>
                <a:spcPts val="300"/>
              </a:spcBef>
              <a:spcAft>
                <a:spcPts val="0"/>
              </a:spcAft>
              <a:buClr>
                <a:srgbClr val="4A5A52"/>
              </a:buClr>
              <a:buFont typeface="+mj-lt"/>
              <a:buAutoNum type="arabicPeriod"/>
            </a:pPr>
            <a:r>
              <a:rPr sz="1650" b="0">
                <a:solidFill>
                  <a:srgbClr val="4A5A52"/>
                </a:solidFill>
                <a:latin typeface="Segoe UI"/>
              </a:rPr>
              <a:t>Slot blinks red, gate shuts</a:t>
            </a:r>
          </a:p>
          <a:p>
            <a:pPr algn="l" marL="228600" indent="-203200">
              <a:lnSpc>
                <a:spcPct val="120000"/>
              </a:lnSpc>
              <a:spcBef>
                <a:spcPts val="300"/>
              </a:spcBef>
              <a:spcAft>
                <a:spcPts val="0"/>
              </a:spcAft>
              <a:buClr>
                <a:srgbClr val="4A5A52"/>
              </a:buClr>
              <a:buFont typeface="+mj-lt"/>
              <a:buAutoNum type="arabicPeriod"/>
            </a:pPr>
            <a:r>
              <a:rPr sz="1650" b="0">
                <a:solidFill>
                  <a:srgbClr val="4A5A52"/>
                </a:solidFill>
                <a:latin typeface="Segoe UI"/>
              </a:rPr>
              <a:t>Every chip and app refused</a:t>
            </a:r>
          </a:p>
          <a:p>
            <a:pPr algn="l" marL="228600" indent="-203200">
              <a:lnSpc>
                <a:spcPct val="120000"/>
              </a:lnSpc>
              <a:spcBef>
                <a:spcPts val="300"/>
              </a:spcBef>
              <a:spcAft>
                <a:spcPts val="0"/>
              </a:spcAft>
              <a:buClr>
                <a:srgbClr val="4A5A52"/>
              </a:buClr>
              <a:buFont typeface="+mj-lt"/>
              <a:buAutoNum type="arabicPeriod"/>
            </a:pPr>
            <a:r>
              <a:rPr sz="1650" b="0">
                <a:solidFill>
                  <a:srgbClr val="4A5A52"/>
                </a:solidFill>
                <a:latin typeface="Segoe UI"/>
              </a:rPr>
              <a:t>Admin clears it on the dashboard</a:t>
            </a:r>
          </a:p>
        </p:txBody>
      </p:sp>
      <p:sp>
        <p:nvSpPr>
          <p:cNvPr id="7" name="Slide number"/>
          <p:cNvSpPr txBox="1"/>
          <p:nvPr/>
        </p:nvSpPr>
        <p:spPr>
          <a:xfrm>
            <a:off x="10668000" y="6477000"/>
            <a:ext cx="762000" cy="203200"/>
          </a:xfrm>
          <a:prstGeom prst="rect">
            <a:avLst/>
          </a:prstGeom>
          <a:noFill/>
        </p:spPr>
        <p:txBody>
          <a:bodyPr wrap="square" lIns="0" tIns="0" rIns="0" bIns="0" anchor="t"/>
          <a:lstStyle/>
          <a:p>
            <a:pPr algn="r"/>
            <a:fld id="{B6F15528-21DE-4FAA-801E-634DDDAF4B2B}" type="slidenum">
              <a:rPr lang="en-US" sz="1200">
                <a:solidFill>
                  <a:srgbClr val="6B7C73"/>
                </a:solidFill>
                <a:latin typeface="Segoe UI"/>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201B"/>
        </a:solidFill>
        <a:effectLst/>
      </p:bgPr>
    </p:bg>
    <p:spTree>
      <p:nvGrpSpPr>
        <p:cNvPr id="1" name=""/>
        <p:cNvGrpSpPr/>
        <p:nvPr/>
      </p:nvGrpSpPr>
      <p:grpSpPr/>
      <p:sp>
        <p:nvSpPr>
          <p:cNvPr id="2" name="Eyebrow"/>
          <p:cNvSpPr txBox="1"/>
          <p:nvPr/>
        </p:nvSpPr>
        <p:spPr>
          <a:xfrm>
            <a:off x="762000" y="803719"/>
            <a:ext cx="10668000" cy="222885"/>
          </a:xfrm>
          <a:prstGeom prst="rect">
            <a:avLst/>
          </a:prstGeom>
          <a:noFill/>
        </p:spPr>
        <p:txBody>
          <a:bodyPr wrap="square" lIns="0" tIns="0" rIns="0" bIns="0" anchor="t"/>
          <a:lstStyle/>
          <a:p>
            <a:pPr>
              <a:lnSpc>
                <a:spcPct val="100000"/>
              </a:lnSpc>
              <a:spcBef>
                <a:spcPts val="0"/>
              </a:spcBef>
              <a:spcAft>
                <a:spcPts val="0"/>
              </a:spcAft>
            </a:pPr>
            <a:r>
              <a:rPr sz="1350" b="1" spc="225">
                <a:solidFill>
                  <a:srgbClr val="3DDC84"/>
                </a:solidFill>
                <a:latin typeface="Segoe UI"/>
              </a:rPr>
              <a:t>INNOVATION</a:t>
            </a:r>
          </a:p>
        </p:txBody>
      </p:sp>
      <p:sp>
        <p:nvSpPr>
          <p:cNvPr id="3" name="Title"/>
          <p:cNvSpPr txBox="1"/>
          <p:nvPr/>
        </p:nvSpPr>
        <p:spPr>
          <a:xfrm>
            <a:off x="762000" y="1102804"/>
            <a:ext cx="10668000" cy="628650"/>
          </a:xfrm>
          <a:prstGeom prst="rect">
            <a:avLst/>
          </a:prstGeom>
          <a:noFill/>
        </p:spPr>
        <p:txBody>
          <a:bodyPr wrap="square" lIns="0" tIns="0" rIns="0" bIns="0" anchor="t"/>
          <a:lstStyle/>
          <a:p>
            <a:pPr>
              <a:lnSpc>
                <a:spcPct val="110000"/>
              </a:lnSpc>
              <a:spcBef>
                <a:spcPts val="0"/>
              </a:spcBef>
              <a:spcAft>
                <a:spcPts val="0"/>
              </a:spcAft>
            </a:pPr>
            <a:r>
              <a:rPr sz="3750" b="1">
                <a:solidFill>
                  <a:srgbClr val="EEF3EC"/>
                </a:solidFill>
                <a:latin typeface="Segoe UI"/>
              </a:rPr>
              <a:t>What makes it different</a:t>
            </a:r>
          </a:p>
        </p:txBody>
      </p:sp>
      <p:sp>
        <p:nvSpPr>
          <p:cNvPr id="4" name="Card: One path for chip and phone"/>
          <p:cNvSpPr/>
          <p:nvPr/>
        </p:nvSpPr>
        <p:spPr>
          <a:xfrm>
            <a:off x="762000" y="2036254"/>
            <a:ext cx="5229225" cy="1904238"/>
          </a:xfrm>
          <a:prstGeom prst="roundRect">
            <a:avLst>
              <a:gd name="adj" fmla="val 8003"/>
            </a:avLst>
          </a:prstGeom>
          <a:solidFill>
            <a:srgbClr val="1A2E26"/>
          </a:solidFill>
          <a:ln w="9525">
            <a:solidFill>
              <a:srgbClr val="2E5443"/>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3DDC84"/>
                </a:solidFill>
                <a:latin typeface="Segoe UI"/>
              </a:rPr>
              <a:t>One path for chip and phone</a:t>
            </a:r>
          </a:p>
          <a:p>
            <a:pPr algn="l">
              <a:lnSpc>
                <a:spcPct val="120000"/>
              </a:lnSpc>
              <a:spcBef>
                <a:spcPts val="0"/>
              </a:spcBef>
              <a:spcAft>
                <a:spcPts val="0"/>
              </a:spcAft>
            </a:pPr>
            <a:r>
              <a:rPr sz="1950" b="0">
                <a:solidFill>
                  <a:srgbClr val="C9D6CE"/>
                </a:solidFill>
                <a:latin typeface="Segoe UI"/>
              </a:rPr>
              <a:t>The app sends the same tap as a chip, so both follow exactly the same rules.</a:t>
            </a:r>
          </a:p>
        </p:txBody>
      </p:sp>
      <p:sp>
        <p:nvSpPr>
          <p:cNvPr id="5" name="Card: Alarms without false alarms"/>
          <p:cNvSpPr/>
          <p:nvPr/>
        </p:nvSpPr>
        <p:spPr>
          <a:xfrm>
            <a:off x="6200775" y="2036254"/>
            <a:ext cx="5229225" cy="1904238"/>
          </a:xfrm>
          <a:prstGeom prst="roundRect">
            <a:avLst>
              <a:gd name="adj" fmla="val 8003"/>
            </a:avLst>
          </a:prstGeom>
          <a:solidFill>
            <a:srgbClr val="1A2E26"/>
          </a:solidFill>
          <a:ln w="9525">
            <a:solidFill>
              <a:srgbClr val="2E5443"/>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3DDC84"/>
                </a:solidFill>
                <a:latin typeface="Segoe UI"/>
              </a:rPr>
              <a:t>Alarms without false alarms</a:t>
            </a:r>
          </a:p>
          <a:p>
            <a:pPr algn="l">
              <a:lnSpc>
                <a:spcPct val="120000"/>
              </a:lnSpc>
              <a:spcBef>
                <a:spcPts val="0"/>
              </a:spcBef>
              <a:spcAft>
                <a:spcPts val="0"/>
              </a:spcAft>
            </a:pPr>
            <a:r>
              <a:rPr sz="1950" b="0">
                <a:solidFill>
                  <a:srgbClr val="C9D6CE"/>
                </a:solidFill>
                <a:latin typeface="Segoe UI"/>
              </a:rPr>
              <a:t>Only bikes secured through a reservation are guarded. Test objects and broken sensors never trigger.</a:t>
            </a:r>
          </a:p>
        </p:txBody>
      </p:sp>
      <p:sp>
        <p:nvSpPr>
          <p:cNvPr id="6" name="Card: The station defends itself"/>
          <p:cNvSpPr/>
          <p:nvPr/>
        </p:nvSpPr>
        <p:spPr>
          <a:xfrm>
            <a:off x="762000" y="4150042"/>
            <a:ext cx="5229225" cy="1904238"/>
          </a:xfrm>
          <a:prstGeom prst="roundRect">
            <a:avLst>
              <a:gd name="adj" fmla="val 8003"/>
            </a:avLst>
          </a:prstGeom>
          <a:solidFill>
            <a:srgbClr val="1A2E26"/>
          </a:solidFill>
          <a:ln w="9525">
            <a:solidFill>
              <a:srgbClr val="2E5443"/>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3DDC84"/>
                </a:solidFill>
                <a:latin typeface="Segoe UI"/>
              </a:rPr>
              <a:t>The station defends itself</a:t>
            </a:r>
          </a:p>
          <a:p>
            <a:pPr algn="l">
              <a:lnSpc>
                <a:spcPct val="120000"/>
              </a:lnSpc>
              <a:spcBef>
                <a:spcPts val="0"/>
              </a:spcBef>
              <a:spcAft>
                <a:spcPts val="0"/>
              </a:spcAft>
            </a:pPr>
            <a:r>
              <a:rPr sz="1950" b="0">
                <a:solidFill>
                  <a:srgbClr val="C9D6CE"/>
                </a:solidFill>
                <a:latin typeface="Segoe UI"/>
              </a:rPr>
              <a:t>A theft locks every entrance until an admin clears it, even across restarts.</a:t>
            </a:r>
          </a:p>
        </p:txBody>
      </p:sp>
      <p:sp>
        <p:nvSpPr>
          <p:cNvPr id="7" name="Card: It learns when it gets busy"/>
          <p:cNvSpPr/>
          <p:nvPr/>
        </p:nvSpPr>
        <p:spPr>
          <a:xfrm>
            <a:off x="6200775" y="4150042"/>
            <a:ext cx="5229225" cy="1904238"/>
          </a:xfrm>
          <a:prstGeom prst="roundRect">
            <a:avLst>
              <a:gd name="adj" fmla="val 8003"/>
            </a:avLst>
          </a:prstGeom>
          <a:solidFill>
            <a:srgbClr val="1A2E26"/>
          </a:solidFill>
          <a:ln w="9525">
            <a:solidFill>
              <a:srgbClr val="2E5443"/>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3DDC84"/>
                </a:solidFill>
                <a:latin typeface="Segoe UI"/>
              </a:rPr>
              <a:t>It learns when it gets busy</a:t>
            </a:r>
          </a:p>
          <a:p>
            <a:pPr algn="l">
              <a:lnSpc>
                <a:spcPct val="120000"/>
              </a:lnSpc>
              <a:spcBef>
                <a:spcPts val="0"/>
              </a:spcBef>
              <a:spcAft>
                <a:spcPts val="0"/>
              </a:spcAft>
            </a:pPr>
            <a:r>
              <a:rPr sz="1950" b="0">
                <a:solidFill>
                  <a:srgbClr val="C9D6CE"/>
                </a:solidFill>
                <a:latin typeface="Segoe UI"/>
              </a:rPr>
              <a:t>An hourly occupancy forecast from real sensor history, in German, English and Dutch.</a:t>
            </a:r>
          </a:p>
        </p:txBody>
      </p:sp>
      <p:sp>
        <p:nvSpPr>
          <p:cNvPr id="8" name="Slide number"/>
          <p:cNvSpPr txBox="1"/>
          <p:nvPr/>
        </p:nvSpPr>
        <p:spPr>
          <a:xfrm>
            <a:off x="10668000" y="6477000"/>
            <a:ext cx="762000" cy="203200"/>
          </a:xfrm>
          <a:prstGeom prst="rect">
            <a:avLst/>
          </a:prstGeom>
          <a:noFill/>
        </p:spPr>
        <p:txBody>
          <a:bodyPr wrap="square" lIns="0" tIns="0" rIns="0" bIns="0" anchor="t"/>
          <a:lstStyle/>
          <a:p>
            <a:pPr algn="r"/>
            <a:fld id="{B6F15528-21DE-4FAA-801E-634DDDAF4B2B}" type="slidenum">
              <a:rPr lang="en-US" sz="1200">
                <a:solidFill>
                  <a:srgbClr val="8FA89A"/>
                </a:solidFill>
                <a:latin typeface="Segoe UI"/>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5EF"/>
        </a:solidFill>
        <a:effectLst/>
      </p:bgPr>
    </p:bg>
    <p:spTree>
      <p:nvGrpSpPr>
        <p:cNvPr id="1" name=""/>
        <p:cNvGrpSpPr/>
        <p:nvPr/>
      </p:nvGrpSpPr>
      <p:grpSpPr/>
      <p:sp>
        <p:nvSpPr>
          <p:cNvPr id="2" name="Eyebrow"/>
          <p:cNvSpPr txBox="1"/>
          <p:nvPr/>
        </p:nvSpPr>
        <p:spPr>
          <a:xfrm>
            <a:off x="762000" y="604837"/>
            <a:ext cx="10668000" cy="222885"/>
          </a:xfrm>
          <a:prstGeom prst="rect">
            <a:avLst/>
          </a:prstGeom>
          <a:noFill/>
        </p:spPr>
        <p:txBody>
          <a:bodyPr wrap="square" lIns="0" tIns="0" rIns="0" bIns="0" anchor="t"/>
          <a:lstStyle/>
          <a:p>
            <a:pPr>
              <a:lnSpc>
                <a:spcPct val="100000"/>
              </a:lnSpc>
              <a:spcBef>
                <a:spcPts val="0"/>
              </a:spcBef>
              <a:spcAft>
                <a:spcPts val="0"/>
              </a:spcAft>
            </a:pPr>
            <a:r>
              <a:rPr sz="1350" b="1" spc="225">
                <a:solidFill>
                  <a:srgbClr val="1B7F4B"/>
                </a:solidFill>
                <a:latin typeface="Segoe UI"/>
              </a:rPr>
              <a:t>TECHNICAL IMPLEMENTATION</a:t>
            </a:r>
          </a:p>
        </p:txBody>
      </p:sp>
      <p:sp>
        <p:nvSpPr>
          <p:cNvPr id="3" name="Title"/>
          <p:cNvSpPr txBox="1"/>
          <p:nvPr/>
        </p:nvSpPr>
        <p:spPr>
          <a:xfrm>
            <a:off x="762000" y="903922"/>
            <a:ext cx="10668000" cy="628650"/>
          </a:xfrm>
          <a:prstGeom prst="rect">
            <a:avLst/>
          </a:prstGeom>
          <a:noFill/>
        </p:spPr>
        <p:txBody>
          <a:bodyPr wrap="square" lIns="0" tIns="0" rIns="0" bIns="0" anchor="t"/>
          <a:lstStyle/>
          <a:p>
            <a:pPr>
              <a:lnSpc>
                <a:spcPct val="110000"/>
              </a:lnSpc>
              <a:spcBef>
                <a:spcPts val="0"/>
              </a:spcBef>
              <a:spcAft>
                <a:spcPts val="0"/>
              </a:spcAft>
            </a:pPr>
            <a:r>
              <a:rPr sz="3750" b="1">
                <a:solidFill>
                  <a:srgbClr val="17241F"/>
                </a:solidFill>
                <a:latin typeface="Segoe UI"/>
              </a:rPr>
              <a:t>Architecture</a:t>
            </a:r>
          </a:p>
        </p:txBody>
      </p:sp>
      <p:sp>
        <p:nvSpPr>
          <p:cNvPr id="4" name="Card: 📱 Phone"/>
          <p:cNvSpPr/>
          <p:nvPr/>
        </p:nvSpPr>
        <p:spPr>
          <a:xfrm>
            <a:off x="762000" y="1837372"/>
            <a:ext cx="3416300" cy="2281428"/>
          </a:xfrm>
          <a:prstGeom prst="roundRect">
            <a:avLst>
              <a:gd name="adj" fmla="val 6680"/>
            </a:avLst>
          </a:prstGeom>
          <a:solidFill>
            <a:srgbClr val="FFFFFF"/>
          </a:solidFill>
          <a:ln w="9525">
            <a:solidFill>
              <a:srgbClr val="D9E2DB"/>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17241F"/>
                </a:solidFill>
                <a:latin typeface="Segoe UI"/>
              </a:rPr>
              <a:t>📱 Phone</a:t>
            </a:r>
          </a:p>
          <a:p>
            <a:pPr algn="l">
              <a:lnSpc>
                <a:spcPct val="120000"/>
              </a:lnSpc>
              <a:spcBef>
                <a:spcPts val="0"/>
              </a:spcBef>
              <a:spcAft>
                <a:spcPts val="0"/>
              </a:spcAft>
            </a:pPr>
            <a:r>
              <a:rPr sz="1950" b="0">
                <a:solidFill>
                  <a:srgbClr val="4A5A52"/>
                </a:solidFill>
                <a:latin typeface="Segoe UI"/>
              </a:rPr>
              <a:t>Web app, reached through a Pangolin tunnel</a:t>
            </a:r>
          </a:p>
        </p:txBody>
      </p:sp>
      <p:sp>
        <p:nvSpPr>
          <p:cNvPr id="5" name="Card: 🖥️ Raspberry Pi 4"/>
          <p:cNvSpPr/>
          <p:nvPr/>
        </p:nvSpPr>
        <p:spPr>
          <a:xfrm>
            <a:off x="4387850" y="1837372"/>
            <a:ext cx="3416300" cy="2281428"/>
          </a:xfrm>
          <a:prstGeom prst="roundRect">
            <a:avLst>
              <a:gd name="adj" fmla="val 6680"/>
            </a:avLst>
          </a:prstGeom>
          <a:solidFill>
            <a:srgbClr val="FFFFFF"/>
          </a:solidFill>
          <a:ln w="9525">
            <a:solidFill>
              <a:srgbClr val="D9E2DB"/>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17241F"/>
                </a:solidFill>
                <a:latin typeface="Segoe UI"/>
              </a:rPr>
              <a:t>🖥️ Raspberry Pi 4</a:t>
            </a:r>
          </a:p>
          <a:p>
            <a:pPr algn="l">
              <a:lnSpc>
                <a:spcPct val="120000"/>
              </a:lnSpc>
              <a:spcBef>
                <a:spcPts val="0"/>
              </a:spcBef>
              <a:spcAft>
                <a:spcPts val="0"/>
              </a:spcAft>
            </a:pPr>
            <a:r>
              <a:rPr sz="1950" b="0">
                <a:solidFill>
                  <a:srgbClr val="4A5A52"/>
                </a:solidFill>
                <a:latin typeface="Segoe UI"/>
              </a:rPr>
              <a:t>Mosquitto · Node-RED · PostgreSQL · web app, in Docker Compose</a:t>
            </a:r>
          </a:p>
        </p:txBody>
      </p:sp>
      <p:sp>
        <p:nvSpPr>
          <p:cNvPr id="6" name="Card: 📶 Own Wi-Fi network"/>
          <p:cNvSpPr/>
          <p:nvPr/>
        </p:nvSpPr>
        <p:spPr>
          <a:xfrm>
            <a:off x="8013700" y="1837372"/>
            <a:ext cx="3416300" cy="2281428"/>
          </a:xfrm>
          <a:prstGeom prst="roundRect">
            <a:avLst>
              <a:gd name="adj" fmla="val 6680"/>
            </a:avLst>
          </a:prstGeom>
          <a:solidFill>
            <a:srgbClr val="FFFFFF"/>
          </a:solidFill>
          <a:ln w="9525">
            <a:solidFill>
              <a:srgbClr val="D9E2DB"/>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17241F"/>
                </a:solidFill>
                <a:latin typeface="Segoe UI"/>
              </a:rPr>
              <a:t>📶 Own Wi-Fi network</a:t>
            </a:r>
          </a:p>
          <a:p>
            <a:pPr algn="l">
              <a:lnSpc>
                <a:spcPct val="120000"/>
              </a:lnSpc>
              <a:spcBef>
                <a:spcPts val="0"/>
              </a:spcBef>
              <a:spcAft>
                <a:spcPts val="0"/>
              </a:spcAft>
            </a:pPr>
            <a:r>
              <a:rPr sz="1950" b="0">
                <a:solidFill>
                  <a:srgbClr val="4A5A52"/>
                </a:solidFill>
                <a:latin typeface="Segoe UI"/>
              </a:rPr>
              <a:t>ESPs talk MQTT to the Pi, with no route to the school LAN</a:t>
            </a:r>
          </a:p>
        </p:txBody>
      </p:sp>
      <p:sp>
        <p:nvSpPr>
          <p:cNvPr id="7" name="Card: ESP32 #1"/>
          <p:cNvSpPr/>
          <p:nvPr/>
        </p:nvSpPr>
        <p:spPr>
          <a:xfrm>
            <a:off x="762000" y="4328350"/>
            <a:ext cx="3416300" cy="1924812"/>
          </a:xfrm>
          <a:prstGeom prst="roundRect">
            <a:avLst>
              <a:gd name="adj" fmla="val 7917"/>
            </a:avLst>
          </a:prstGeom>
          <a:solidFill>
            <a:srgbClr val="FFFFFF"/>
          </a:solidFill>
          <a:ln w="9525">
            <a:solidFill>
              <a:srgbClr val="D9E2DB"/>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17241F"/>
                </a:solidFill>
                <a:latin typeface="Segoe UI"/>
              </a:rPr>
              <a:t>ESP32 #1</a:t>
            </a:r>
          </a:p>
          <a:p>
            <a:pPr algn="l">
              <a:lnSpc>
                <a:spcPct val="120000"/>
              </a:lnSpc>
              <a:spcBef>
                <a:spcPts val="0"/>
              </a:spcBef>
              <a:spcAft>
                <a:spcPts val="0"/>
              </a:spcAft>
            </a:pPr>
            <a:r>
              <a:rPr sz="1950" b="0">
                <a:solidFill>
                  <a:srgbClr val="4A5A52"/>
                </a:solidFill>
                <a:latin typeface="Segoe UI"/>
              </a:rPr>
              <a:t>LED strip for all 4 slots, distance sensors slot 1 + 2</a:t>
            </a:r>
          </a:p>
        </p:txBody>
      </p:sp>
      <p:sp>
        <p:nvSpPr>
          <p:cNvPr id="8" name="Card: ESP32 #2"/>
          <p:cNvSpPr/>
          <p:nvPr/>
        </p:nvSpPr>
        <p:spPr>
          <a:xfrm>
            <a:off x="4387850" y="4328350"/>
            <a:ext cx="3416300" cy="1924812"/>
          </a:xfrm>
          <a:prstGeom prst="roundRect">
            <a:avLst>
              <a:gd name="adj" fmla="val 7917"/>
            </a:avLst>
          </a:prstGeom>
          <a:solidFill>
            <a:srgbClr val="FFFFFF"/>
          </a:solidFill>
          <a:ln w="9525">
            <a:solidFill>
              <a:srgbClr val="D9E2DB"/>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17241F"/>
                </a:solidFill>
                <a:latin typeface="Segoe UI"/>
              </a:rPr>
              <a:t>ESP32 #2</a:t>
            </a:r>
          </a:p>
          <a:p>
            <a:pPr algn="l">
              <a:lnSpc>
                <a:spcPct val="120000"/>
              </a:lnSpc>
              <a:spcBef>
                <a:spcPts val="0"/>
              </a:spcBef>
              <a:spcAft>
                <a:spcPts val="0"/>
              </a:spcAft>
            </a:pPr>
            <a:r>
              <a:rPr sz="1950" b="0">
                <a:solidFill>
                  <a:srgbClr val="4A5A52"/>
                </a:solidFill>
                <a:latin typeface="Segoe UI"/>
              </a:rPr>
              <a:t>NFC reader, LCD, gate servo, distance sensors slot 3 + 4</a:t>
            </a:r>
          </a:p>
        </p:txBody>
      </p:sp>
      <p:sp>
        <p:nvSpPr>
          <p:cNvPr id="9" name="Card: 🧠 Node-RED decides"/>
          <p:cNvSpPr/>
          <p:nvPr/>
        </p:nvSpPr>
        <p:spPr>
          <a:xfrm>
            <a:off x="8013700" y="4328350"/>
            <a:ext cx="3416300" cy="1924812"/>
          </a:xfrm>
          <a:prstGeom prst="roundRect">
            <a:avLst>
              <a:gd name="adj" fmla="val 7917"/>
            </a:avLst>
          </a:prstGeom>
          <a:solidFill>
            <a:srgbClr val="FFFFFF"/>
          </a:solidFill>
          <a:ln w="9525">
            <a:solidFill>
              <a:srgbClr val="D9E2DB"/>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17241F"/>
                </a:solidFill>
                <a:latin typeface="Segoe UI"/>
              </a:rPr>
              <a:t>🧠 Node-RED decides</a:t>
            </a:r>
          </a:p>
          <a:p>
            <a:pPr algn="l">
              <a:lnSpc>
                <a:spcPct val="120000"/>
              </a:lnSpc>
              <a:spcBef>
                <a:spcPts val="0"/>
              </a:spcBef>
              <a:spcAft>
                <a:spcPts val="0"/>
              </a:spcAft>
            </a:pPr>
            <a:r>
              <a:rPr sz="1950" b="0">
                <a:solidFill>
                  <a:srgbClr val="4A5A52"/>
                </a:solidFill>
                <a:latin typeface="Segoe UI"/>
              </a:rPr>
              <a:t>The ESPs only measure and execute</a:t>
            </a:r>
          </a:p>
        </p:txBody>
      </p:sp>
      <p:sp>
        <p:nvSpPr>
          <p:cNvPr id="10" name="Slide number"/>
          <p:cNvSpPr txBox="1"/>
          <p:nvPr/>
        </p:nvSpPr>
        <p:spPr>
          <a:xfrm>
            <a:off x="10668000" y="6477000"/>
            <a:ext cx="762000" cy="203200"/>
          </a:xfrm>
          <a:prstGeom prst="rect">
            <a:avLst/>
          </a:prstGeom>
          <a:noFill/>
        </p:spPr>
        <p:txBody>
          <a:bodyPr wrap="square" lIns="0" tIns="0" rIns="0" bIns="0" anchor="t"/>
          <a:lstStyle/>
          <a:p>
            <a:pPr algn="r"/>
            <a:fld id="{B6F15528-21DE-4FAA-801E-634DDDAF4B2B}" type="slidenum">
              <a:rPr lang="en-US" sz="1200">
                <a:solidFill>
                  <a:srgbClr val="6B7C73"/>
                </a:solidFill>
                <a:latin typeface="Segoe UI"/>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201B"/>
        </a:solidFill>
        <a:effectLst/>
      </p:bgPr>
    </p:bg>
    <p:spTree>
      <p:nvGrpSpPr>
        <p:cNvPr id="1" name=""/>
        <p:cNvGrpSpPr/>
        <p:nvPr/>
      </p:nvGrpSpPr>
      <p:grpSpPr/>
      <p:sp>
        <p:nvSpPr>
          <p:cNvPr id="2" name="Eyebrow"/>
          <p:cNvSpPr txBox="1"/>
          <p:nvPr/>
        </p:nvSpPr>
        <p:spPr>
          <a:xfrm>
            <a:off x="762000" y="1237932"/>
            <a:ext cx="10668000" cy="222885"/>
          </a:xfrm>
          <a:prstGeom prst="rect">
            <a:avLst/>
          </a:prstGeom>
          <a:noFill/>
        </p:spPr>
        <p:txBody>
          <a:bodyPr wrap="square" lIns="0" tIns="0" rIns="0" bIns="0" anchor="t"/>
          <a:lstStyle/>
          <a:p>
            <a:pPr>
              <a:lnSpc>
                <a:spcPct val="100000"/>
              </a:lnSpc>
              <a:spcBef>
                <a:spcPts val="0"/>
              </a:spcBef>
              <a:spcAft>
                <a:spcPts val="0"/>
              </a:spcAft>
            </a:pPr>
            <a:r>
              <a:rPr sz="1350" b="1" spc="225">
                <a:solidFill>
                  <a:srgbClr val="3DDC84"/>
                </a:solidFill>
                <a:latin typeface="Segoe UI"/>
              </a:rPr>
              <a:t>TECHNICAL IMPLEMENTATION</a:t>
            </a:r>
          </a:p>
        </p:txBody>
      </p:sp>
      <p:sp>
        <p:nvSpPr>
          <p:cNvPr id="3" name="Title"/>
          <p:cNvSpPr txBox="1"/>
          <p:nvPr/>
        </p:nvSpPr>
        <p:spPr>
          <a:xfrm>
            <a:off x="762000" y="1537017"/>
            <a:ext cx="10668000" cy="628650"/>
          </a:xfrm>
          <a:prstGeom prst="rect">
            <a:avLst/>
          </a:prstGeom>
          <a:noFill/>
        </p:spPr>
        <p:txBody>
          <a:bodyPr wrap="square" lIns="0" tIns="0" rIns="0" bIns="0" anchor="t"/>
          <a:lstStyle/>
          <a:p>
            <a:pPr>
              <a:lnSpc>
                <a:spcPct val="110000"/>
              </a:lnSpc>
              <a:spcBef>
                <a:spcPts val="0"/>
              </a:spcBef>
              <a:spcAft>
                <a:spcPts val="0"/>
              </a:spcAft>
            </a:pPr>
            <a:r>
              <a:rPr sz="3750" b="1">
                <a:solidFill>
                  <a:srgbClr val="EEF3EC"/>
                </a:solidFill>
                <a:latin typeface="Segoe UI"/>
              </a:rPr>
              <a:t>Hardware</a:t>
            </a:r>
          </a:p>
        </p:txBody>
      </p:sp>
      <p:graphicFrame>
        <p:nvGraphicFramePr>
          <p:cNvPr id="4" name="Table"/>
          <p:cNvGraphicFramePr>
            <a:graphicFrameLocks noGrp="1"/>
          </p:cNvGraphicFramePr>
          <p:nvPr/>
        </p:nvGraphicFramePr>
        <p:xfrm>
          <a:off x="762000" y="2470467"/>
          <a:ext cx="10668000" cy="3149600"/>
        </p:xfrm>
        <a:graphic>
          <a:graphicData uri="http://schemas.openxmlformats.org/drawingml/2006/table">
            <a:tbl>
              <a:tblPr firstRow="1">
                <a:tableStyleId>{2D5ABB26-0587-4C30-8999-92F81FD0307C}</a:tableStyleId>
              </a:tblPr>
              <a:tblGrid>
                <a:gridCol w="2346960"/>
                <a:gridCol w="3413760"/>
                <a:gridCol w="4907280"/>
              </a:tblGrid>
              <a:tr h="393700">
                <a:tc>
                  <a:txBody>
                    <a:bodyPr/>
                    <a:lstStyle/>
                    <a:p>
                      <a:pPr>
                        <a:lnSpc>
                          <a:spcPct val="110000"/>
                        </a:lnSpc>
                        <a:spcBef>
                          <a:spcPts val="0"/>
                        </a:spcBef>
                        <a:spcAft>
                          <a:spcPts val="0"/>
                        </a:spcAft>
                      </a:pPr>
                      <a:r>
                        <a:rPr sz="1650" b="1">
                          <a:solidFill>
                            <a:srgbClr val="3DDC84"/>
                          </a:solidFill>
                          <a:latin typeface="Segoe UI"/>
                        </a:rPr>
                        <a:t>Part</a:t>
                      </a:r>
                    </a:p>
                  </a:txBody>
                  <a:tcPr marL="133350" marR="133350" marT="50800" marB="50800" anchor="ctr">
                    <a:lnB w="9525" cap="flat" cmpd="sng" algn="ctr">
                      <a:solidFill>
                        <a:srgbClr val="2E5443"/>
                      </a:solidFill>
                    </a:lnB>
                    <a:noFill/>
                  </a:tcPr>
                </a:tc>
                <a:tc>
                  <a:txBody>
                    <a:bodyPr/>
                    <a:lstStyle/>
                    <a:p>
                      <a:pPr>
                        <a:lnSpc>
                          <a:spcPct val="110000"/>
                        </a:lnSpc>
                        <a:spcBef>
                          <a:spcPts val="0"/>
                        </a:spcBef>
                        <a:spcAft>
                          <a:spcPts val="0"/>
                        </a:spcAft>
                      </a:pPr>
                      <a:r>
                        <a:rPr sz="1650" b="1">
                          <a:solidFill>
                            <a:srgbClr val="3DDC84"/>
                          </a:solidFill>
                          <a:latin typeface="Segoe UI"/>
                        </a:rPr>
                        <a:t>Model</a:t>
                      </a:r>
                    </a:p>
                  </a:txBody>
                  <a:tcPr marL="133350" marR="133350" marT="50800" marB="50800" anchor="ctr">
                    <a:lnB w="9525" cap="flat" cmpd="sng" algn="ctr">
                      <a:solidFill>
                        <a:srgbClr val="2E5443"/>
                      </a:solidFill>
                    </a:lnB>
                    <a:noFill/>
                  </a:tcPr>
                </a:tc>
                <a:tc>
                  <a:txBody>
                    <a:bodyPr/>
                    <a:lstStyle/>
                    <a:p>
                      <a:pPr>
                        <a:lnSpc>
                          <a:spcPct val="110000"/>
                        </a:lnSpc>
                        <a:spcBef>
                          <a:spcPts val="0"/>
                        </a:spcBef>
                        <a:spcAft>
                          <a:spcPts val="0"/>
                        </a:spcAft>
                      </a:pPr>
                      <a:r>
                        <a:rPr sz="1650" b="1">
                          <a:solidFill>
                            <a:srgbClr val="3DDC84"/>
                          </a:solidFill>
                          <a:latin typeface="Segoe UI"/>
                        </a:rPr>
                        <a:t>Job</a:t>
                      </a:r>
                    </a:p>
                  </a:txBody>
                  <a:tcPr marL="133350" marR="133350" marT="50800" marB="50800" anchor="ctr">
                    <a:lnB w="9525" cap="flat" cmpd="sng" algn="ctr">
                      <a:solidFill>
                        <a:srgbClr val="2E5443"/>
                      </a:solidFill>
                    </a:lnB>
                    <a:noFill/>
                  </a:tcPr>
                </a:tc>
              </a:tr>
              <a:tr h="393700">
                <a:tc>
                  <a:txBody>
                    <a:bodyPr/>
                    <a:lstStyle/>
                    <a:p>
                      <a:pPr>
                        <a:lnSpc>
                          <a:spcPct val="110000"/>
                        </a:lnSpc>
                        <a:spcBef>
                          <a:spcPts val="0"/>
                        </a:spcBef>
                        <a:spcAft>
                          <a:spcPts val="0"/>
                        </a:spcAft>
                      </a:pPr>
                      <a:r>
                        <a:rPr sz="1650" b="0">
                          <a:solidFill>
                            <a:srgbClr val="EEF3EC"/>
                          </a:solidFill>
                          <a:latin typeface="Segoe UI"/>
                        </a:rPr>
                        <a:t>Server</a:t>
                      </a:r>
                    </a:p>
                  </a:txBody>
                  <a:tcPr marL="133350" marR="133350" marT="50800" marB="50800" anchor="ctr">
                    <a:lnB w="9525" cap="flat" cmpd="sng" algn="ctr">
                      <a:solidFill>
                        <a:srgbClr val="2E5443"/>
                      </a:solidFill>
                    </a:lnB>
                    <a:noFill/>
                  </a:tcPr>
                </a:tc>
                <a:tc>
                  <a:txBody>
                    <a:bodyPr/>
                    <a:lstStyle/>
                    <a:p>
                      <a:pPr>
                        <a:lnSpc>
                          <a:spcPct val="110000"/>
                        </a:lnSpc>
                        <a:spcBef>
                          <a:spcPts val="0"/>
                        </a:spcBef>
                        <a:spcAft>
                          <a:spcPts val="0"/>
                        </a:spcAft>
                      </a:pPr>
                      <a:r>
                        <a:rPr sz="1650" b="0">
                          <a:solidFill>
                            <a:srgbClr val="EEF3EC"/>
                          </a:solidFill>
                          <a:latin typeface="Segoe UI"/>
                        </a:rPr>
                        <a:t>Raspberry Pi 4 (4 GB)</a:t>
                      </a:r>
                    </a:p>
                  </a:txBody>
                  <a:tcPr marL="133350" marR="133350" marT="50800" marB="50800" anchor="ctr">
                    <a:lnB w="9525" cap="flat" cmpd="sng" algn="ctr">
                      <a:solidFill>
                        <a:srgbClr val="2E5443"/>
                      </a:solidFill>
                    </a:lnB>
                    <a:noFill/>
                  </a:tcPr>
                </a:tc>
                <a:tc>
                  <a:txBody>
                    <a:bodyPr/>
                    <a:lstStyle/>
                    <a:p>
                      <a:pPr>
                        <a:lnSpc>
                          <a:spcPct val="110000"/>
                        </a:lnSpc>
                        <a:spcBef>
                          <a:spcPts val="0"/>
                        </a:spcBef>
                        <a:spcAft>
                          <a:spcPts val="0"/>
                        </a:spcAft>
                      </a:pPr>
                      <a:r>
                        <a:rPr sz="1650" b="0">
                          <a:solidFill>
                            <a:srgbClr val="EEF3EC"/>
                          </a:solidFill>
                          <a:latin typeface="Segoe UI"/>
                        </a:rPr>
                        <a:t>broker, logic, database, web, Wi-Fi AP</a:t>
                      </a:r>
                    </a:p>
                  </a:txBody>
                  <a:tcPr marL="133350" marR="133350" marT="50800" marB="50800" anchor="ctr">
                    <a:lnB w="9525" cap="flat" cmpd="sng" algn="ctr">
                      <a:solidFill>
                        <a:srgbClr val="2E5443"/>
                      </a:solidFill>
                    </a:lnB>
                    <a:noFill/>
                  </a:tcPr>
                </a:tc>
              </a:tr>
              <a:tr h="393700">
                <a:tc>
                  <a:txBody>
                    <a:bodyPr/>
                    <a:lstStyle/>
                    <a:p>
                      <a:pPr>
                        <a:lnSpc>
                          <a:spcPct val="110000"/>
                        </a:lnSpc>
                        <a:spcBef>
                          <a:spcPts val="0"/>
                        </a:spcBef>
                        <a:spcAft>
                          <a:spcPts val="0"/>
                        </a:spcAft>
                      </a:pPr>
                      <a:r>
                        <a:rPr sz="1650" b="0">
                          <a:solidFill>
                            <a:srgbClr val="EEF3EC"/>
                          </a:solidFill>
                          <a:latin typeface="Segoe UI"/>
                        </a:rPr>
                        <a:t>Controllers</a:t>
                      </a:r>
                    </a:p>
                  </a:txBody>
                  <a:tcPr marL="133350" marR="133350" marT="50800" marB="50800" anchor="ctr">
                    <a:lnB w="9525" cap="flat" cmpd="sng" algn="ctr">
                      <a:solidFill>
                        <a:srgbClr val="2E5443"/>
                      </a:solidFill>
                    </a:lnB>
                    <a:noFill/>
                  </a:tcPr>
                </a:tc>
                <a:tc>
                  <a:txBody>
                    <a:bodyPr/>
                    <a:lstStyle/>
                    <a:p>
                      <a:pPr>
                        <a:lnSpc>
                          <a:spcPct val="110000"/>
                        </a:lnSpc>
                        <a:spcBef>
                          <a:spcPts val="0"/>
                        </a:spcBef>
                        <a:spcAft>
                          <a:spcPts val="0"/>
                        </a:spcAft>
                      </a:pPr>
                      <a:r>
                        <a:rPr sz="1650" b="0">
                          <a:solidFill>
                            <a:srgbClr val="EEF3EC"/>
                          </a:solidFill>
                          <a:latin typeface="Segoe UI"/>
                        </a:rPr>
                        <a:t>2 × ESP32 DevKit</a:t>
                      </a:r>
                    </a:p>
                  </a:txBody>
                  <a:tcPr marL="133350" marR="133350" marT="50800" marB="50800" anchor="ctr">
                    <a:lnB w="9525" cap="flat" cmpd="sng" algn="ctr">
                      <a:solidFill>
                        <a:srgbClr val="2E5443"/>
                      </a:solidFill>
                    </a:lnB>
                    <a:noFill/>
                  </a:tcPr>
                </a:tc>
                <a:tc>
                  <a:txBody>
                    <a:bodyPr/>
                    <a:lstStyle/>
                    <a:p>
                      <a:pPr>
                        <a:lnSpc>
                          <a:spcPct val="110000"/>
                        </a:lnSpc>
                        <a:spcBef>
                          <a:spcPts val="0"/>
                        </a:spcBef>
                        <a:spcAft>
                          <a:spcPts val="0"/>
                        </a:spcAft>
                      </a:pPr>
                      <a:r>
                        <a:rPr sz="1650" b="0">
                          <a:solidFill>
                            <a:srgbClr val="EEF3EC"/>
                          </a:solidFill>
                          <a:latin typeface="Segoe UI"/>
                        </a:rPr>
                        <a:t>sensors, LEDs, entrance</a:t>
                      </a:r>
                    </a:p>
                  </a:txBody>
                  <a:tcPr marL="133350" marR="133350" marT="50800" marB="50800" anchor="ctr">
                    <a:lnB w="9525" cap="flat" cmpd="sng" algn="ctr">
                      <a:solidFill>
                        <a:srgbClr val="2E5443"/>
                      </a:solidFill>
                    </a:lnB>
                    <a:noFill/>
                  </a:tcPr>
                </a:tc>
              </a:tr>
              <a:tr h="393700">
                <a:tc>
                  <a:txBody>
                    <a:bodyPr/>
                    <a:lstStyle/>
                    <a:p>
                      <a:pPr>
                        <a:lnSpc>
                          <a:spcPct val="110000"/>
                        </a:lnSpc>
                        <a:spcBef>
                          <a:spcPts val="0"/>
                        </a:spcBef>
                        <a:spcAft>
                          <a:spcPts val="0"/>
                        </a:spcAft>
                      </a:pPr>
                      <a:r>
                        <a:rPr sz="1650" b="0">
                          <a:solidFill>
                            <a:srgbClr val="EEF3EC"/>
                          </a:solidFill>
                          <a:latin typeface="Segoe UI"/>
                        </a:rPr>
                        <a:t>Slot sensors</a:t>
                      </a:r>
                    </a:p>
                  </a:txBody>
                  <a:tcPr marL="133350" marR="133350" marT="50800" marB="50800" anchor="ctr">
                    <a:lnB w="9525" cap="flat" cmpd="sng" algn="ctr">
                      <a:solidFill>
                        <a:srgbClr val="2E5443"/>
                      </a:solidFill>
                    </a:lnB>
                    <a:noFill/>
                  </a:tcPr>
                </a:tc>
                <a:tc>
                  <a:txBody>
                    <a:bodyPr/>
                    <a:lstStyle/>
                    <a:p>
                      <a:pPr>
                        <a:lnSpc>
                          <a:spcPct val="110000"/>
                        </a:lnSpc>
                        <a:spcBef>
                          <a:spcPts val="0"/>
                        </a:spcBef>
                        <a:spcAft>
                          <a:spcPts val="0"/>
                        </a:spcAft>
                      </a:pPr>
                      <a:r>
                        <a:rPr sz="1650" b="0">
                          <a:solidFill>
                            <a:srgbClr val="EEF3EC"/>
                          </a:solidFill>
                          <a:latin typeface="Segoe UI"/>
                        </a:rPr>
                        <a:t>4 × Grove Ultrasonic</a:t>
                      </a:r>
                    </a:p>
                  </a:txBody>
                  <a:tcPr marL="133350" marR="133350" marT="50800" marB="50800" anchor="ctr">
                    <a:lnB w="9525" cap="flat" cmpd="sng" algn="ctr">
                      <a:solidFill>
                        <a:srgbClr val="2E5443"/>
                      </a:solidFill>
                    </a:lnB>
                    <a:noFill/>
                  </a:tcPr>
                </a:tc>
                <a:tc>
                  <a:txBody>
                    <a:bodyPr/>
                    <a:lstStyle/>
                    <a:p>
                      <a:pPr>
                        <a:lnSpc>
                          <a:spcPct val="110000"/>
                        </a:lnSpc>
                        <a:spcBef>
                          <a:spcPts val="0"/>
                        </a:spcBef>
                        <a:spcAft>
                          <a:spcPts val="0"/>
                        </a:spcAft>
                      </a:pPr>
                      <a:r>
                        <a:rPr sz="1650" b="0">
                          <a:solidFill>
                            <a:srgbClr val="EEF3EC"/>
                          </a:solidFill>
                          <a:latin typeface="Segoe UI"/>
                        </a:rPr>
                        <a:t>bike present, every 200 ms</a:t>
                      </a:r>
                    </a:p>
                  </a:txBody>
                  <a:tcPr marL="133350" marR="133350" marT="50800" marB="50800" anchor="ctr">
                    <a:lnB w="9525" cap="flat" cmpd="sng" algn="ctr">
                      <a:solidFill>
                        <a:srgbClr val="2E5443"/>
                      </a:solidFill>
                    </a:lnB>
                    <a:noFill/>
                  </a:tcPr>
                </a:tc>
              </a:tr>
              <a:tr h="393700">
                <a:tc>
                  <a:txBody>
                    <a:bodyPr/>
                    <a:lstStyle/>
                    <a:p>
                      <a:pPr>
                        <a:lnSpc>
                          <a:spcPct val="110000"/>
                        </a:lnSpc>
                        <a:spcBef>
                          <a:spcPts val="0"/>
                        </a:spcBef>
                        <a:spcAft>
                          <a:spcPts val="0"/>
                        </a:spcAft>
                      </a:pPr>
                      <a:r>
                        <a:rPr sz="1650" b="0">
                          <a:solidFill>
                            <a:srgbClr val="EEF3EC"/>
                          </a:solidFill>
                          <a:latin typeface="Segoe UI"/>
                        </a:rPr>
                        <a:t>Slot lights</a:t>
                      </a:r>
                    </a:p>
                  </a:txBody>
                  <a:tcPr marL="133350" marR="133350" marT="50800" marB="50800" anchor="ctr">
                    <a:lnB w="9525" cap="flat" cmpd="sng" algn="ctr">
                      <a:solidFill>
                        <a:srgbClr val="2E5443"/>
                      </a:solidFill>
                    </a:lnB>
                    <a:noFill/>
                  </a:tcPr>
                </a:tc>
                <a:tc>
                  <a:txBody>
                    <a:bodyPr/>
                    <a:lstStyle/>
                    <a:p>
                      <a:pPr>
                        <a:lnSpc>
                          <a:spcPct val="110000"/>
                        </a:lnSpc>
                        <a:spcBef>
                          <a:spcPts val="0"/>
                        </a:spcBef>
                        <a:spcAft>
                          <a:spcPts val="0"/>
                        </a:spcAft>
                      </a:pPr>
                      <a:r>
                        <a:rPr sz="1650" b="0">
                          <a:solidFill>
                            <a:srgbClr val="EEF3EC"/>
                          </a:solidFill>
                          <a:latin typeface="Segoe UI"/>
                        </a:rPr>
                        <a:t>WS2812B LED strip</a:t>
                      </a:r>
                    </a:p>
                  </a:txBody>
                  <a:tcPr marL="133350" marR="133350" marT="50800" marB="50800" anchor="ctr">
                    <a:lnB w="9525" cap="flat" cmpd="sng" algn="ctr">
                      <a:solidFill>
                        <a:srgbClr val="2E5443"/>
                      </a:solidFill>
                    </a:lnB>
                    <a:noFill/>
                  </a:tcPr>
                </a:tc>
                <a:tc>
                  <a:txBody>
                    <a:bodyPr/>
                    <a:lstStyle/>
                    <a:p>
                      <a:pPr>
                        <a:lnSpc>
                          <a:spcPct val="110000"/>
                        </a:lnSpc>
                        <a:spcBef>
                          <a:spcPts val="0"/>
                        </a:spcBef>
                        <a:spcAft>
                          <a:spcPts val="0"/>
                        </a:spcAft>
                      </a:pPr>
                      <a:r>
                        <a:rPr sz="1650" b="0">
                          <a:solidFill>
                            <a:srgbClr val="EEF3EC"/>
                          </a:solidFill>
                          <a:latin typeface="Segoe UI"/>
                        </a:rPr>
                        <a:t>free · occupied · reserved · alarm</a:t>
                      </a:r>
                    </a:p>
                  </a:txBody>
                  <a:tcPr marL="133350" marR="133350" marT="50800" marB="50800" anchor="ctr">
                    <a:lnB w="9525" cap="flat" cmpd="sng" algn="ctr">
                      <a:solidFill>
                        <a:srgbClr val="2E5443"/>
                      </a:solidFill>
                    </a:lnB>
                    <a:noFill/>
                  </a:tcPr>
                </a:tc>
              </a:tr>
              <a:tr h="393700">
                <a:tc>
                  <a:txBody>
                    <a:bodyPr/>
                    <a:lstStyle/>
                    <a:p>
                      <a:pPr>
                        <a:lnSpc>
                          <a:spcPct val="110000"/>
                        </a:lnSpc>
                        <a:spcBef>
                          <a:spcPts val="0"/>
                        </a:spcBef>
                        <a:spcAft>
                          <a:spcPts val="0"/>
                        </a:spcAft>
                      </a:pPr>
                      <a:r>
                        <a:rPr sz="1650" b="0">
                          <a:solidFill>
                            <a:srgbClr val="EEF3EC"/>
                          </a:solidFill>
                          <a:latin typeface="Segoe UI"/>
                        </a:rPr>
                        <a:t>Access</a:t>
                      </a:r>
                    </a:p>
                  </a:txBody>
                  <a:tcPr marL="133350" marR="133350" marT="50800" marB="50800" anchor="ctr">
                    <a:lnB w="9525" cap="flat" cmpd="sng" algn="ctr">
                      <a:solidFill>
                        <a:srgbClr val="2E5443"/>
                      </a:solidFill>
                    </a:lnB>
                    <a:noFill/>
                  </a:tcPr>
                </a:tc>
                <a:tc>
                  <a:txBody>
                    <a:bodyPr/>
                    <a:lstStyle/>
                    <a:p>
                      <a:pPr>
                        <a:lnSpc>
                          <a:spcPct val="110000"/>
                        </a:lnSpc>
                        <a:spcBef>
                          <a:spcPts val="0"/>
                        </a:spcBef>
                        <a:spcAft>
                          <a:spcPts val="0"/>
                        </a:spcAft>
                      </a:pPr>
                      <a:r>
                        <a:rPr sz="1650" b="0">
                          <a:solidFill>
                            <a:srgbClr val="EEF3EC"/>
                          </a:solidFill>
                          <a:latin typeface="Segoe UI"/>
                        </a:rPr>
                        <a:t>PN532 NFC reader</a:t>
                      </a:r>
                    </a:p>
                  </a:txBody>
                  <a:tcPr marL="133350" marR="133350" marT="50800" marB="50800" anchor="ctr">
                    <a:lnB w="9525" cap="flat" cmpd="sng" algn="ctr">
                      <a:solidFill>
                        <a:srgbClr val="2E5443"/>
                      </a:solidFill>
                    </a:lnB>
                    <a:noFill/>
                  </a:tcPr>
                </a:tc>
                <a:tc>
                  <a:txBody>
                    <a:bodyPr/>
                    <a:lstStyle/>
                    <a:p>
                      <a:pPr>
                        <a:lnSpc>
                          <a:spcPct val="110000"/>
                        </a:lnSpc>
                        <a:spcBef>
                          <a:spcPts val="0"/>
                        </a:spcBef>
                        <a:spcAft>
                          <a:spcPts val="0"/>
                        </a:spcAft>
                      </a:pPr>
                      <a:r>
                        <a:rPr sz="1650" b="0">
                          <a:solidFill>
                            <a:srgbClr val="EEF3EC"/>
                          </a:solidFill>
                          <a:latin typeface="Segoe UI"/>
                        </a:rPr>
                        <a:t>chip taps</a:t>
                      </a:r>
                    </a:p>
                  </a:txBody>
                  <a:tcPr marL="133350" marR="133350" marT="50800" marB="50800" anchor="ctr">
                    <a:lnB w="9525" cap="flat" cmpd="sng" algn="ctr">
                      <a:solidFill>
                        <a:srgbClr val="2E5443"/>
                      </a:solidFill>
                    </a:lnB>
                    <a:noFill/>
                  </a:tcPr>
                </a:tc>
              </a:tr>
              <a:tr h="393700">
                <a:tc>
                  <a:txBody>
                    <a:bodyPr/>
                    <a:lstStyle/>
                    <a:p>
                      <a:pPr>
                        <a:lnSpc>
                          <a:spcPct val="110000"/>
                        </a:lnSpc>
                        <a:spcBef>
                          <a:spcPts val="0"/>
                        </a:spcBef>
                        <a:spcAft>
                          <a:spcPts val="0"/>
                        </a:spcAft>
                      </a:pPr>
                      <a:r>
                        <a:rPr sz="1650" b="0">
                          <a:solidFill>
                            <a:srgbClr val="EEF3EC"/>
                          </a:solidFill>
                          <a:latin typeface="Segoe UI"/>
                        </a:rPr>
                        <a:t>Display</a:t>
                      </a:r>
                    </a:p>
                  </a:txBody>
                  <a:tcPr marL="133350" marR="133350" marT="50800" marB="50800" anchor="ctr">
                    <a:lnB w="9525" cap="flat" cmpd="sng" algn="ctr">
                      <a:solidFill>
                        <a:srgbClr val="2E5443"/>
                      </a:solidFill>
                    </a:lnB>
                    <a:noFill/>
                  </a:tcPr>
                </a:tc>
                <a:tc>
                  <a:txBody>
                    <a:bodyPr/>
                    <a:lstStyle/>
                    <a:p>
                      <a:pPr>
                        <a:lnSpc>
                          <a:spcPct val="110000"/>
                        </a:lnSpc>
                        <a:spcBef>
                          <a:spcPts val="0"/>
                        </a:spcBef>
                        <a:spcAft>
                          <a:spcPts val="0"/>
                        </a:spcAft>
                      </a:pPr>
                      <a:r>
                        <a:rPr sz="1650" b="0">
                          <a:solidFill>
                            <a:srgbClr val="EEF3EC"/>
                          </a:solidFill>
                          <a:latin typeface="Segoe UI"/>
                        </a:rPr>
                        <a:t>Grove LCD RGB 16×2</a:t>
                      </a:r>
                    </a:p>
                  </a:txBody>
                  <a:tcPr marL="133350" marR="133350" marT="50800" marB="50800" anchor="ctr">
                    <a:lnB w="9525" cap="flat" cmpd="sng" algn="ctr">
                      <a:solidFill>
                        <a:srgbClr val="2E5443"/>
                      </a:solidFill>
                    </a:lnB>
                    <a:noFill/>
                  </a:tcPr>
                </a:tc>
                <a:tc>
                  <a:txBody>
                    <a:bodyPr/>
                    <a:lstStyle/>
                    <a:p>
                      <a:pPr>
                        <a:lnSpc>
                          <a:spcPct val="110000"/>
                        </a:lnSpc>
                        <a:spcBef>
                          <a:spcPts val="0"/>
                        </a:spcBef>
                        <a:spcAft>
                          <a:spcPts val="0"/>
                        </a:spcAft>
                      </a:pPr>
                      <a:r>
                        <a:rPr sz="1650" b="0">
                          <a:solidFill>
                            <a:srgbClr val="EEF3EC"/>
                          </a:solidFill>
                          <a:latin typeface="Segoe UI"/>
                        </a:rPr>
                        <a:t>greeting, slot, colour-coded status</a:t>
                      </a:r>
                    </a:p>
                  </a:txBody>
                  <a:tcPr marL="133350" marR="133350" marT="50800" marB="50800" anchor="ctr">
                    <a:lnB w="9525" cap="flat" cmpd="sng" algn="ctr">
                      <a:solidFill>
                        <a:srgbClr val="2E5443"/>
                      </a:solidFill>
                    </a:lnB>
                    <a:noFill/>
                  </a:tcPr>
                </a:tc>
              </a:tr>
              <a:tr h="393700">
                <a:tc>
                  <a:txBody>
                    <a:bodyPr/>
                    <a:lstStyle/>
                    <a:p>
                      <a:pPr>
                        <a:lnSpc>
                          <a:spcPct val="110000"/>
                        </a:lnSpc>
                        <a:spcBef>
                          <a:spcPts val="0"/>
                        </a:spcBef>
                        <a:spcAft>
                          <a:spcPts val="0"/>
                        </a:spcAft>
                      </a:pPr>
                      <a:r>
                        <a:rPr sz="1650" b="0">
                          <a:solidFill>
                            <a:srgbClr val="EEF3EC"/>
                          </a:solidFill>
                          <a:latin typeface="Segoe UI"/>
                        </a:rPr>
                        <a:t>Gate</a:t>
                      </a:r>
                    </a:p>
                  </a:txBody>
                  <a:tcPr marL="133350" marR="133350" marT="50800" marB="50800" anchor="ctr">
                    <a:lnB w="9525" cap="flat" cmpd="sng" algn="ctr">
                      <a:solidFill>
                        <a:srgbClr val="2E5443"/>
                      </a:solidFill>
                    </a:lnB>
                    <a:noFill/>
                  </a:tcPr>
                </a:tc>
                <a:tc>
                  <a:txBody>
                    <a:bodyPr/>
                    <a:lstStyle/>
                    <a:p>
                      <a:pPr>
                        <a:lnSpc>
                          <a:spcPct val="110000"/>
                        </a:lnSpc>
                        <a:spcBef>
                          <a:spcPts val="0"/>
                        </a:spcBef>
                        <a:spcAft>
                          <a:spcPts val="0"/>
                        </a:spcAft>
                      </a:pPr>
                      <a:r>
                        <a:rPr sz="1650" b="0">
                          <a:solidFill>
                            <a:srgbClr val="EEF3EC"/>
                          </a:solidFill>
                          <a:latin typeface="Segoe UI"/>
                        </a:rPr>
                        <a:t>Tower Pro MG90S servo</a:t>
                      </a:r>
                    </a:p>
                  </a:txBody>
                  <a:tcPr marL="133350" marR="133350" marT="50800" marB="50800" anchor="ctr">
                    <a:lnB w="9525" cap="flat" cmpd="sng" algn="ctr">
                      <a:solidFill>
                        <a:srgbClr val="2E5443"/>
                      </a:solidFill>
                    </a:lnB>
                    <a:noFill/>
                  </a:tcPr>
                </a:tc>
                <a:tc>
                  <a:txBody>
                    <a:bodyPr/>
                    <a:lstStyle/>
                    <a:p>
                      <a:pPr>
                        <a:lnSpc>
                          <a:spcPct val="110000"/>
                        </a:lnSpc>
                        <a:spcBef>
                          <a:spcPts val="0"/>
                        </a:spcBef>
                        <a:spcAft>
                          <a:spcPts val="0"/>
                        </a:spcAft>
                      </a:pPr>
                      <a:r>
                        <a:rPr sz="1650" b="0">
                          <a:solidFill>
                            <a:srgbClr val="EEF3EC"/>
                          </a:solidFill>
                          <a:latin typeface="Segoe UI"/>
                        </a:rPr>
                        <a:t>opens and closes the entrance</a:t>
                      </a:r>
                    </a:p>
                  </a:txBody>
                  <a:tcPr marL="133350" marR="133350" marT="50800" marB="50800" anchor="ctr">
                    <a:lnB w="9525" cap="flat" cmpd="sng" algn="ctr">
                      <a:solidFill>
                        <a:srgbClr val="2E5443"/>
                      </a:solidFill>
                    </a:lnB>
                    <a:noFill/>
                  </a:tcPr>
                </a:tc>
              </a:tr>
            </a:tbl>
          </a:graphicData>
        </a:graphic>
      </p:graphicFrame>
      <p:sp>
        <p:nvSpPr>
          <p:cNvPr id="5" name="Slide number"/>
          <p:cNvSpPr txBox="1"/>
          <p:nvPr/>
        </p:nvSpPr>
        <p:spPr>
          <a:xfrm>
            <a:off x="10668000" y="6477000"/>
            <a:ext cx="762000" cy="203200"/>
          </a:xfrm>
          <a:prstGeom prst="rect">
            <a:avLst/>
          </a:prstGeom>
          <a:noFill/>
        </p:spPr>
        <p:txBody>
          <a:bodyPr wrap="square" lIns="0" tIns="0" rIns="0" bIns="0" anchor="t"/>
          <a:lstStyle/>
          <a:p>
            <a:pPr algn="r"/>
            <a:fld id="{B6F15528-21DE-4FAA-801E-634DDDAF4B2B}" type="slidenum">
              <a:rPr lang="en-US" sz="1200">
                <a:solidFill>
                  <a:srgbClr val="8FA89A"/>
                </a:solidFill>
                <a:latin typeface="Segoe UI"/>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2F5EF"/>
        </a:solidFill>
        <a:effectLst/>
      </p:bgPr>
    </p:bg>
    <p:spTree>
      <p:nvGrpSpPr>
        <p:cNvPr id="1" name=""/>
        <p:cNvGrpSpPr/>
        <p:nvPr/>
      </p:nvGrpSpPr>
      <p:grpSpPr/>
      <p:sp>
        <p:nvSpPr>
          <p:cNvPr id="2" name="Eyebrow"/>
          <p:cNvSpPr txBox="1"/>
          <p:nvPr/>
        </p:nvSpPr>
        <p:spPr>
          <a:xfrm>
            <a:off x="762000" y="793432"/>
            <a:ext cx="10668000" cy="222885"/>
          </a:xfrm>
          <a:prstGeom prst="rect">
            <a:avLst/>
          </a:prstGeom>
          <a:noFill/>
        </p:spPr>
        <p:txBody>
          <a:bodyPr wrap="square" lIns="0" tIns="0" rIns="0" bIns="0" anchor="t"/>
          <a:lstStyle/>
          <a:p>
            <a:pPr>
              <a:lnSpc>
                <a:spcPct val="100000"/>
              </a:lnSpc>
              <a:spcBef>
                <a:spcPts val="0"/>
              </a:spcBef>
              <a:spcAft>
                <a:spcPts val="0"/>
              </a:spcAft>
            </a:pPr>
            <a:r>
              <a:rPr sz="1350" b="1" spc="225">
                <a:solidFill>
                  <a:srgbClr val="1B7F4B"/>
                </a:solidFill>
                <a:latin typeface="Segoe UI"/>
              </a:rPr>
              <a:t>TECHNICAL IMPLEMENTATION</a:t>
            </a:r>
          </a:p>
        </p:txBody>
      </p:sp>
      <p:sp>
        <p:nvSpPr>
          <p:cNvPr id="3" name="Title"/>
          <p:cNvSpPr txBox="1"/>
          <p:nvPr/>
        </p:nvSpPr>
        <p:spPr>
          <a:xfrm>
            <a:off x="762000" y="1092517"/>
            <a:ext cx="10668000" cy="628650"/>
          </a:xfrm>
          <a:prstGeom prst="rect">
            <a:avLst/>
          </a:prstGeom>
          <a:noFill/>
        </p:spPr>
        <p:txBody>
          <a:bodyPr wrap="square" lIns="0" tIns="0" rIns="0" bIns="0" anchor="t"/>
          <a:lstStyle/>
          <a:p>
            <a:pPr>
              <a:lnSpc>
                <a:spcPct val="110000"/>
              </a:lnSpc>
              <a:spcBef>
                <a:spcPts val="0"/>
              </a:spcBef>
              <a:spcAft>
                <a:spcPts val="0"/>
              </a:spcAft>
            </a:pPr>
            <a:r>
              <a:rPr sz="3750" b="1">
                <a:solidFill>
                  <a:srgbClr val="17241F"/>
                </a:solidFill>
                <a:latin typeface="Segoe UI"/>
              </a:rPr>
              <a:t>Every bike has a lifecycle</a:t>
            </a:r>
          </a:p>
        </p:txBody>
      </p:sp>
      <p:sp>
        <p:nvSpPr>
          <p:cNvPr id="4" name="Card: reserved"/>
          <p:cNvSpPr/>
          <p:nvPr/>
        </p:nvSpPr>
        <p:spPr>
          <a:xfrm>
            <a:off x="762000" y="2025967"/>
            <a:ext cx="3416300" cy="1547622"/>
          </a:xfrm>
          <a:prstGeom prst="roundRect">
            <a:avLst>
              <a:gd name="adj" fmla="val 9847"/>
            </a:avLst>
          </a:prstGeom>
          <a:solidFill>
            <a:srgbClr val="FFFFFF"/>
          </a:solidFill>
          <a:ln w="9525">
            <a:solidFill>
              <a:srgbClr val="D9E2DB"/>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17241F"/>
                </a:solidFill>
                <a:latin typeface="Consolas"/>
              </a:rPr>
              <a:t>reserved</a:t>
            </a:r>
          </a:p>
          <a:p>
            <a:pPr algn="l">
              <a:lnSpc>
                <a:spcPct val="120000"/>
              </a:lnSpc>
              <a:spcBef>
                <a:spcPts val="0"/>
              </a:spcBef>
              <a:spcAft>
                <a:spcPts val="0"/>
              </a:spcAft>
            </a:pPr>
            <a:r>
              <a:rPr sz="1950" b="0">
                <a:solidFill>
                  <a:srgbClr val="4A5A52"/>
                </a:solidFill>
                <a:latin typeface="Segoe UI"/>
              </a:rPr>
              <a:t>slot blinks blue, 5 min to arrive</a:t>
            </a:r>
          </a:p>
        </p:txBody>
      </p:sp>
      <p:sp>
        <p:nvSpPr>
          <p:cNvPr id="5" name="Card: parked"/>
          <p:cNvSpPr/>
          <p:nvPr/>
        </p:nvSpPr>
        <p:spPr>
          <a:xfrm>
            <a:off x="4387850" y="2025967"/>
            <a:ext cx="3416300" cy="1547622"/>
          </a:xfrm>
          <a:prstGeom prst="roundRect">
            <a:avLst>
              <a:gd name="adj" fmla="val 9847"/>
            </a:avLst>
          </a:prstGeom>
          <a:solidFill>
            <a:srgbClr val="FFFFFF"/>
          </a:solidFill>
          <a:ln w="9525">
            <a:solidFill>
              <a:srgbClr val="D9E2DB"/>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17241F"/>
                </a:solidFill>
                <a:latin typeface="Consolas"/>
              </a:rPr>
              <a:t>parked</a:t>
            </a:r>
          </a:p>
          <a:p>
            <a:pPr algn="l">
              <a:lnSpc>
                <a:spcPct val="120000"/>
              </a:lnSpc>
              <a:spcBef>
                <a:spcPts val="0"/>
              </a:spcBef>
              <a:spcAft>
                <a:spcPts val="0"/>
              </a:spcAft>
            </a:pPr>
            <a:r>
              <a:rPr sz="1950" b="0">
                <a:solidFill>
                  <a:srgbClr val="4A5A52"/>
                </a:solidFill>
                <a:latin typeface="Segoe UI"/>
              </a:rPr>
              <a:t>"Secured", gate closes</a:t>
            </a:r>
          </a:p>
        </p:txBody>
      </p:sp>
      <p:sp>
        <p:nvSpPr>
          <p:cNvPr id="6" name="Card: done"/>
          <p:cNvSpPr/>
          <p:nvPr/>
        </p:nvSpPr>
        <p:spPr>
          <a:xfrm>
            <a:off x="8013700" y="2025967"/>
            <a:ext cx="3416300" cy="1547622"/>
          </a:xfrm>
          <a:prstGeom prst="roundRect">
            <a:avLst>
              <a:gd name="adj" fmla="val 9847"/>
            </a:avLst>
          </a:prstGeom>
          <a:solidFill>
            <a:srgbClr val="FFFFFF"/>
          </a:solidFill>
          <a:ln w="9525">
            <a:solidFill>
              <a:srgbClr val="D9E2DB"/>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17241F"/>
                </a:solidFill>
                <a:latin typeface="Consolas"/>
              </a:rPr>
              <a:t>done</a:t>
            </a:r>
          </a:p>
          <a:p>
            <a:pPr algn="l">
              <a:lnSpc>
                <a:spcPct val="120000"/>
              </a:lnSpc>
              <a:spcBef>
                <a:spcPts val="0"/>
              </a:spcBef>
              <a:spcAft>
                <a:spcPts val="0"/>
              </a:spcAft>
            </a:pPr>
            <a:r>
              <a:rPr sz="1950" b="0">
                <a:solidFill>
                  <a:srgbClr val="4A5A52"/>
                </a:solidFill>
                <a:latin typeface="Segoe UI"/>
              </a:rPr>
              <a:t>picked up by its owner</a:t>
            </a:r>
          </a:p>
        </p:txBody>
      </p:sp>
      <p:sp>
        <p:nvSpPr>
          <p:cNvPr id="7" name="Card: reserved → expired"/>
          <p:cNvSpPr/>
          <p:nvPr/>
        </p:nvSpPr>
        <p:spPr>
          <a:xfrm>
            <a:off x="762000" y="3783139"/>
            <a:ext cx="3416300" cy="2281428"/>
          </a:xfrm>
          <a:prstGeom prst="roundRect">
            <a:avLst>
              <a:gd name="adj" fmla="val 6680"/>
            </a:avLst>
          </a:prstGeom>
          <a:solidFill>
            <a:srgbClr val="FFFFFF"/>
          </a:solidFill>
          <a:ln w="9525">
            <a:solidFill>
              <a:srgbClr val="D9E2DB"/>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17241F"/>
                </a:solidFill>
                <a:latin typeface="Consolas"/>
              </a:rPr>
              <a:t>reserved → expired</a:t>
            </a:r>
          </a:p>
          <a:p>
            <a:pPr algn="l">
              <a:lnSpc>
                <a:spcPct val="120000"/>
              </a:lnSpc>
              <a:spcBef>
                <a:spcPts val="0"/>
              </a:spcBef>
              <a:spcAft>
                <a:spcPts val="0"/>
              </a:spcAft>
            </a:pPr>
            <a:r>
              <a:rPr sz="1950" b="0">
                <a:solidFill>
                  <a:srgbClr val="4A5A52"/>
                </a:solidFill>
                <a:latin typeface="Segoe UI"/>
              </a:rPr>
              <a:t>no bike within 5 minutes, the slot is free again</a:t>
            </a:r>
          </a:p>
        </p:txBody>
      </p:sp>
      <p:sp>
        <p:nvSpPr>
          <p:cNvPr id="8" name="Card: parked → alarm"/>
          <p:cNvSpPr/>
          <p:nvPr/>
        </p:nvSpPr>
        <p:spPr>
          <a:xfrm>
            <a:off x="4387850" y="3783139"/>
            <a:ext cx="3416300" cy="2281428"/>
          </a:xfrm>
          <a:prstGeom prst="roundRect">
            <a:avLst>
              <a:gd name="adj" fmla="val 6680"/>
            </a:avLst>
          </a:prstGeom>
          <a:solidFill>
            <a:srgbClr val="FFFFFF"/>
          </a:solidFill>
          <a:ln w="9525">
            <a:solidFill>
              <a:srgbClr val="D9E2DB"/>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17241F"/>
                </a:solidFill>
                <a:latin typeface="Consolas"/>
              </a:rPr>
              <a:t>parked → alarm</a:t>
            </a:r>
          </a:p>
          <a:p>
            <a:pPr algn="l">
              <a:lnSpc>
                <a:spcPct val="120000"/>
              </a:lnSpc>
              <a:spcBef>
                <a:spcPts val="0"/>
              </a:spcBef>
              <a:spcAft>
                <a:spcPts val="0"/>
              </a:spcAft>
            </a:pPr>
            <a:r>
              <a:rPr sz="1950" b="0">
                <a:solidFill>
                  <a:srgbClr val="4A5A52"/>
                </a:solidFill>
                <a:latin typeface="Segoe UI"/>
              </a:rPr>
              <a:t>bike leaves without pickup, the station locks until an admin clears it</a:t>
            </a:r>
          </a:p>
        </p:txBody>
      </p:sp>
      <p:sp>
        <p:nvSpPr>
          <p:cNvPr id="9" name="Card: Debounced"/>
          <p:cNvSpPr/>
          <p:nvPr/>
        </p:nvSpPr>
        <p:spPr>
          <a:xfrm>
            <a:off x="8013700" y="3783139"/>
            <a:ext cx="3416300" cy="2281428"/>
          </a:xfrm>
          <a:prstGeom prst="roundRect">
            <a:avLst>
              <a:gd name="adj" fmla="val 6680"/>
            </a:avLst>
          </a:prstGeom>
          <a:solidFill>
            <a:srgbClr val="FFFFFF"/>
          </a:solidFill>
          <a:ln w="9525">
            <a:solidFill>
              <a:srgbClr val="D9E2DB"/>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17241F"/>
                </a:solidFill>
                <a:latin typeface="Segoe UI"/>
              </a:rPr>
              <a:t>Debounced</a:t>
            </a:r>
          </a:p>
          <a:p>
            <a:pPr algn="l">
              <a:lnSpc>
                <a:spcPct val="120000"/>
              </a:lnSpc>
              <a:spcBef>
                <a:spcPts val="0"/>
              </a:spcBef>
              <a:spcAft>
                <a:spcPts val="0"/>
              </a:spcAft>
            </a:pPr>
            <a:r>
              <a:rPr sz="1950" b="0">
                <a:solidFill>
                  <a:srgbClr val="4A5A52"/>
                </a:solidFill>
                <a:latin typeface="Segoe UI"/>
              </a:rPr>
              <a:t>a slot only changes after 5 equal readings</a:t>
            </a:r>
          </a:p>
        </p:txBody>
      </p:sp>
      <p:sp>
        <p:nvSpPr>
          <p:cNvPr id="10" name="Slide number"/>
          <p:cNvSpPr txBox="1"/>
          <p:nvPr/>
        </p:nvSpPr>
        <p:spPr>
          <a:xfrm>
            <a:off x="10668000" y="6477000"/>
            <a:ext cx="762000" cy="203200"/>
          </a:xfrm>
          <a:prstGeom prst="rect">
            <a:avLst/>
          </a:prstGeom>
          <a:noFill/>
        </p:spPr>
        <p:txBody>
          <a:bodyPr wrap="square" lIns="0" tIns="0" rIns="0" bIns="0" anchor="t"/>
          <a:lstStyle/>
          <a:p>
            <a:pPr algn="r"/>
            <a:fld id="{B6F15528-21DE-4FAA-801E-634DDDAF4B2B}" type="slidenum">
              <a:rPr lang="en-US" sz="1200">
                <a:solidFill>
                  <a:srgbClr val="6B7C73"/>
                </a:solidFill>
                <a:latin typeface="Segoe UI"/>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201B"/>
        </a:solidFill>
        <a:effectLst/>
      </p:bgPr>
    </p:bg>
    <p:spTree>
      <p:nvGrpSpPr>
        <p:cNvPr id="1" name=""/>
        <p:cNvGrpSpPr/>
        <p:nvPr/>
      </p:nvGrpSpPr>
      <p:grpSpPr/>
      <p:sp>
        <p:nvSpPr>
          <p:cNvPr id="2" name="Eyebrow"/>
          <p:cNvSpPr txBox="1"/>
          <p:nvPr/>
        </p:nvSpPr>
        <p:spPr>
          <a:xfrm>
            <a:off x="762000" y="549973"/>
            <a:ext cx="10668000" cy="222885"/>
          </a:xfrm>
          <a:prstGeom prst="rect">
            <a:avLst/>
          </a:prstGeom>
          <a:noFill/>
        </p:spPr>
        <p:txBody>
          <a:bodyPr wrap="square" lIns="0" tIns="0" rIns="0" bIns="0" anchor="t"/>
          <a:lstStyle/>
          <a:p>
            <a:pPr>
              <a:lnSpc>
                <a:spcPct val="100000"/>
              </a:lnSpc>
              <a:spcBef>
                <a:spcPts val="0"/>
              </a:spcBef>
              <a:spcAft>
                <a:spcPts val="0"/>
              </a:spcAft>
            </a:pPr>
            <a:r>
              <a:rPr sz="1350" b="1" spc="225">
                <a:solidFill>
                  <a:srgbClr val="3DDC84"/>
                </a:solidFill>
                <a:latin typeface="Segoe UI"/>
              </a:rPr>
              <a:t>TECHNICAL IMPLEMENTATION</a:t>
            </a:r>
          </a:p>
        </p:txBody>
      </p:sp>
      <p:sp>
        <p:nvSpPr>
          <p:cNvPr id="3" name="Title"/>
          <p:cNvSpPr txBox="1"/>
          <p:nvPr/>
        </p:nvSpPr>
        <p:spPr>
          <a:xfrm>
            <a:off x="762000" y="849058"/>
            <a:ext cx="10668000" cy="628650"/>
          </a:xfrm>
          <a:prstGeom prst="rect">
            <a:avLst/>
          </a:prstGeom>
          <a:noFill/>
        </p:spPr>
        <p:txBody>
          <a:bodyPr wrap="square" lIns="0" tIns="0" rIns="0" bIns="0" anchor="t"/>
          <a:lstStyle/>
          <a:p>
            <a:pPr>
              <a:lnSpc>
                <a:spcPct val="110000"/>
              </a:lnSpc>
              <a:spcBef>
                <a:spcPts val="0"/>
              </a:spcBef>
              <a:spcAft>
                <a:spcPts val="0"/>
              </a:spcAft>
            </a:pPr>
            <a:r>
              <a:rPr sz="3750" b="1">
                <a:solidFill>
                  <a:srgbClr val="EEF3EC"/>
                </a:solidFill>
                <a:latin typeface="Segoe UI"/>
              </a:rPr>
              <a:t>Built for the real world</a:t>
            </a:r>
          </a:p>
        </p:txBody>
      </p:sp>
      <p:sp>
        <p:nvSpPr>
          <p:cNvPr id="4" name="Card: Debounced sensors"/>
          <p:cNvSpPr/>
          <p:nvPr/>
        </p:nvSpPr>
        <p:spPr>
          <a:xfrm>
            <a:off x="762000" y="1782508"/>
            <a:ext cx="3416300" cy="2157984"/>
          </a:xfrm>
          <a:prstGeom prst="roundRect">
            <a:avLst>
              <a:gd name="adj" fmla="val 7062"/>
            </a:avLst>
          </a:prstGeom>
          <a:solidFill>
            <a:srgbClr val="1A2E26"/>
          </a:solidFill>
          <a:ln w="9525">
            <a:solidFill>
              <a:srgbClr val="2E5443"/>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3DDC84"/>
                </a:solidFill>
                <a:latin typeface="Segoe UI"/>
              </a:rPr>
              <a:t>Debounced sensors</a:t>
            </a:r>
          </a:p>
          <a:p>
            <a:pPr algn="l">
              <a:lnSpc>
                <a:spcPct val="120000"/>
              </a:lnSpc>
              <a:spcBef>
                <a:spcPts val="0"/>
              </a:spcBef>
              <a:spcAft>
                <a:spcPts val="0"/>
              </a:spcAft>
            </a:pPr>
            <a:r>
              <a:rPr sz="1725" b="0">
                <a:solidFill>
                  <a:srgbClr val="C9D6CE"/>
                </a:solidFill>
                <a:latin typeface="Segoe UI"/>
              </a:rPr>
              <a:t>Median filter on the ESP, 5 equal readings in Node-RED.</a:t>
            </a:r>
          </a:p>
        </p:txBody>
      </p:sp>
      <p:sp>
        <p:nvSpPr>
          <p:cNvPr id="5" name="Card: No echo ≠ empty"/>
          <p:cNvSpPr/>
          <p:nvPr/>
        </p:nvSpPr>
        <p:spPr>
          <a:xfrm>
            <a:off x="4387850" y="1782508"/>
            <a:ext cx="3416300" cy="2157984"/>
          </a:xfrm>
          <a:prstGeom prst="roundRect">
            <a:avLst>
              <a:gd name="adj" fmla="val 7062"/>
            </a:avLst>
          </a:prstGeom>
          <a:solidFill>
            <a:srgbClr val="1A2E26"/>
          </a:solidFill>
          <a:ln w="9525">
            <a:solidFill>
              <a:srgbClr val="2E5443"/>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3DDC84"/>
                </a:solidFill>
                <a:latin typeface="Segoe UI"/>
              </a:rPr>
              <a:t>No echo ≠ empty</a:t>
            </a:r>
          </a:p>
          <a:p>
            <a:pPr algn="l">
              <a:lnSpc>
                <a:spcPct val="120000"/>
              </a:lnSpc>
              <a:spcBef>
                <a:spcPts val="0"/>
              </a:spcBef>
              <a:spcAft>
                <a:spcPts val="0"/>
              </a:spcAft>
            </a:pPr>
            <a:r>
              <a:rPr sz="1725" b="0">
                <a:solidFill>
                  <a:srgbClr val="C9D6CE"/>
                </a:solidFill>
                <a:latin typeface="Segoe UI"/>
              </a:rPr>
              <a:t>A broken sensor reports 999 and is ignored, never "bike gone".</a:t>
            </a:r>
          </a:p>
        </p:txBody>
      </p:sp>
      <p:sp>
        <p:nvSpPr>
          <p:cNvPr id="6" name="Card: State survives restarts"/>
          <p:cNvSpPr/>
          <p:nvPr/>
        </p:nvSpPr>
        <p:spPr>
          <a:xfrm>
            <a:off x="8013700" y="1782508"/>
            <a:ext cx="3416300" cy="2157984"/>
          </a:xfrm>
          <a:prstGeom prst="roundRect">
            <a:avLst>
              <a:gd name="adj" fmla="val 7062"/>
            </a:avLst>
          </a:prstGeom>
          <a:solidFill>
            <a:srgbClr val="1A2E26"/>
          </a:solidFill>
          <a:ln w="9525">
            <a:solidFill>
              <a:srgbClr val="2E5443"/>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3DDC84"/>
                </a:solidFill>
                <a:latin typeface="Segoe UI"/>
              </a:rPr>
              <a:t>State survives restarts</a:t>
            </a:r>
          </a:p>
          <a:p>
            <a:pPr algn="l">
              <a:lnSpc>
                <a:spcPct val="120000"/>
              </a:lnSpc>
              <a:spcBef>
                <a:spcPts val="0"/>
              </a:spcBef>
              <a:spcAft>
                <a:spcPts val="0"/>
              </a:spcAft>
            </a:pPr>
            <a:r>
              <a:rPr sz="1725" b="0">
                <a:solidFill>
                  <a:srgbClr val="C9D6CE"/>
                </a:solidFill>
                <a:latin typeface="Segoe UI"/>
              </a:rPr>
              <a:t>Alarms and reservations are stored on disk; a reboot cannot unlock.</a:t>
            </a:r>
          </a:p>
        </p:txBody>
      </p:sp>
      <p:sp>
        <p:nvSpPr>
          <p:cNvPr id="7" name="Card: Honest app feedback"/>
          <p:cNvSpPr/>
          <p:nvPr/>
        </p:nvSpPr>
        <p:spPr>
          <a:xfrm>
            <a:off x="762000" y="4150042"/>
            <a:ext cx="3416300" cy="2157984"/>
          </a:xfrm>
          <a:prstGeom prst="roundRect">
            <a:avLst>
              <a:gd name="adj" fmla="val 7062"/>
            </a:avLst>
          </a:prstGeom>
          <a:solidFill>
            <a:srgbClr val="1A2E26"/>
          </a:solidFill>
          <a:ln w="9525">
            <a:solidFill>
              <a:srgbClr val="2E5443"/>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3DDC84"/>
                </a:solidFill>
                <a:latin typeface="Segoe UI"/>
              </a:rPr>
              <a:t>Honest app feedback</a:t>
            </a:r>
          </a:p>
          <a:p>
            <a:pPr algn="l">
              <a:lnSpc>
                <a:spcPct val="120000"/>
              </a:lnSpc>
              <a:spcBef>
                <a:spcPts val="0"/>
              </a:spcBef>
              <a:spcAft>
                <a:spcPts val="0"/>
              </a:spcAft>
            </a:pPr>
            <a:r>
              <a:rPr sz="1725" b="0">
                <a:solidFill>
                  <a:srgbClr val="C9D6CE"/>
                </a:solidFill>
                <a:latin typeface="Segoe UI"/>
              </a:rPr>
              <a:t>The app waits for the station's answer before it says "open".</a:t>
            </a:r>
          </a:p>
        </p:txBody>
      </p:sp>
      <p:sp>
        <p:nvSpPr>
          <p:cNvPr id="8" name="Card: Isolated ESP network"/>
          <p:cNvSpPr/>
          <p:nvPr/>
        </p:nvSpPr>
        <p:spPr>
          <a:xfrm>
            <a:off x="4387850" y="4150042"/>
            <a:ext cx="3416300" cy="2157984"/>
          </a:xfrm>
          <a:prstGeom prst="roundRect">
            <a:avLst>
              <a:gd name="adj" fmla="val 7062"/>
            </a:avLst>
          </a:prstGeom>
          <a:solidFill>
            <a:srgbClr val="1A2E26"/>
          </a:solidFill>
          <a:ln w="9525">
            <a:solidFill>
              <a:srgbClr val="2E5443"/>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3DDC84"/>
                </a:solidFill>
                <a:latin typeface="Segoe UI"/>
              </a:rPr>
              <a:t>Isolated ESP network</a:t>
            </a:r>
          </a:p>
          <a:p>
            <a:pPr algn="l">
              <a:lnSpc>
                <a:spcPct val="120000"/>
              </a:lnSpc>
              <a:spcBef>
                <a:spcPts val="0"/>
              </a:spcBef>
              <a:spcAft>
                <a:spcPts val="0"/>
              </a:spcAft>
            </a:pPr>
            <a:r>
              <a:rPr sz="1725" b="0">
                <a:solidFill>
                  <a:srgbClr val="C9D6CE"/>
                </a:solidFill>
                <a:latin typeface="Segoe UI"/>
              </a:rPr>
              <a:t>The ESPs reach the broker and nothing else.</a:t>
            </a:r>
          </a:p>
        </p:txBody>
      </p:sp>
      <p:sp>
        <p:nvSpPr>
          <p:cNvPr id="9" name="Card: Load split"/>
          <p:cNvSpPr/>
          <p:nvPr/>
        </p:nvSpPr>
        <p:spPr>
          <a:xfrm>
            <a:off x="8013700" y="4150042"/>
            <a:ext cx="3416300" cy="2157984"/>
          </a:xfrm>
          <a:prstGeom prst="roundRect">
            <a:avLst>
              <a:gd name="adj" fmla="val 7062"/>
            </a:avLst>
          </a:prstGeom>
          <a:solidFill>
            <a:srgbClr val="1A2E26"/>
          </a:solidFill>
          <a:ln w="9525">
            <a:solidFill>
              <a:srgbClr val="2E5443"/>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3DDC84"/>
                </a:solidFill>
                <a:latin typeface="Segoe UI"/>
              </a:rPr>
              <a:t>Load split</a:t>
            </a:r>
          </a:p>
          <a:p>
            <a:pPr algn="l">
              <a:lnSpc>
                <a:spcPct val="120000"/>
              </a:lnSpc>
              <a:spcBef>
                <a:spcPts val="0"/>
              </a:spcBef>
              <a:spcAft>
                <a:spcPts val="0"/>
              </a:spcAft>
            </a:pPr>
            <a:r>
              <a:rPr sz="1725" b="0">
                <a:solidFill>
                  <a:srgbClr val="C9D6CE"/>
                </a:solidFill>
                <a:latin typeface="Segoe UI"/>
              </a:rPr>
              <a:t>Two ESPs: every slot reports every 200 ms instead of every second.</a:t>
            </a:r>
          </a:p>
        </p:txBody>
      </p:sp>
      <p:sp>
        <p:nvSpPr>
          <p:cNvPr id="10" name="Slide number"/>
          <p:cNvSpPr txBox="1"/>
          <p:nvPr/>
        </p:nvSpPr>
        <p:spPr>
          <a:xfrm>
            <a:off x="10668000" y="6477000"/>
            <a:ext cx="762000" cy="203200"/>
          </a:xfrm>
          <a:prstGeom prst="rect">
            <a:avLst/>
          </a:prstGeom>
          <a:noFill/>
        </p:spPr>
        <p:txBody>
          <a:bodyPr wrap="square" lIns="0" tIns="0" rIns="0" bIns="0" anchor="t"/>
          <a:lstStyle/>
          <a:p>
            <a:pPr algn="r"/>
            <a:fld id="{B6F15528-21DE-4FAA-801E-634DDDAF4B2B}" type="slidenum">
              <a:rPr lang="en-US" sz="1200">
                <a:solidFill>
                  <a:srgbClr val="8FA89A"/>
                </a:solidFill>
                <a:latin typeface="Segoe UI"/>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3DDC84"/>
        </a:solidFill>
        <a:effectLst/>
      </p:bgPr>
    </p:bg>
    <p:spTree>
      <p:nvGrpSpPr>
        <p:cNvPr id="1" name=""/>
        <p:cNvGrpSpPr/>
        <p:nvPr/>
      </p:nvGrpSpPr>
      <p:grpSpPr/>
      <p:sp>
        <p:nvSpPr>
          <p:cNvPr id="2" name="Eyebrow"/>
          <p:cNvSpPr txBox="1"/>
          <p:nvPr/>
        </p:nvSpPr>
        <p:spPr>
          <a:xfrm>
            <a:off x="762000" y="2009965"/>
            <a:ext cx="10668000" cy="222885"/>
          </a:xfrm>
          <a:prstGeom prst="rect">
            <a:avLst/>
          </a:prstGeom>
          <a:noFill/>
        </p:spPr>
        <p:txBody>
          <a:bodyPr wrap="square" lIns="0" tIns="0" rIns="0" bIns="0" anchor="t"/>
          <a:lstStyle/>
          <a:p>
            <a:pPr>
              <a:lnSpc>
                <a:spcPct val="100000"/>
              </a:lnSpc>
              <a:spcBef>
                <a:spcPts val="0"/>
              </a:spcBef>
              <a:spcAft>
                <a:spcPts val="0"/>
              </a:spcAft>
            </a:pPr>
            <a:r>
              <a:rPr sz="1350" b="1" spc="225">
                <a:solidFill>
                  <a:srgbClr val="0E1A15"/>
                </a:solidFill>
                <a:latin typeface="Segoe UI"/>
              </a:rPr>
              <a:t>LIVE DATA FROM THE STATION</a:t>
            </a:r>
          </a:p>
        </p:txBody>
      </p:sp>
      <p:sp>
        <p:nvSpPr>
          <p:cNvPr id="3" name="Title"/>
          <p:cNvSpPr txBox="1"/>
          <p:nvPr/>
        </p:nvSpPr>
        <p:spPr>
          <a:xfrm>
            <a:off x="762000" y="2309050"/>
            <a:ext cx="10668000" cy="628650"/>
          </a:xfrm>
          <a:prstGeom prst="rect">
            <a:avLst/>
          </a:prstGeom>
          <a:noFill/>
        </p:spPr>
        <p:txBody>
          <a:bodyPr wrap="square" lIns="0" tIns="0" rIns="0" bIns="0" anchor="t"/>
          <a:lstStyle/>
          <a:p>
            <a:pPr>
              <a:lnSpc>
                <a:spcPct val="110000"/>
              </a:lnSpc>
              <a:spcBef>
                <a:spcPts val="0"/>
              </a:spcBef>
              <a:spcAft>
                <a:spcPts val="0"/>
              </a:spcAft>
            </a:pPr>
            <a:r>
              <a:rPr sz="3750" b="1">
                <a:solidFill>
                  <a:srgbClr val="0E1A15"/>
                </a:solidFill>
                <a:latin typeface="Segoe UI"/>
              </a:rPr>
              <a:t>It runs, and it records everything</a:t>
            </a:r>
          </a:p>
        </p:txBody>
      </p:sp>
      <p:sp>
        <p:nvSpPr>
          <p:cNvPr id="4" name="Figure: 483k"/>
          <p:cNvSpPr txBox="1"/>
          <p:nvPr/>
        </p:nvSpPr>
        <p:spPr>
          <a:xfrm>
            <a:off x="762000" y="3242500"/>
            <a:ext cx="2509837" cy="1605533"/>
          </a:xfrm>
          <a:prstGeom prst="rect">
            <a:avLst/>
          </a:prstGeom>
          <a:noFill/>
        </p:spPr>
        <p:txBody>
          <a:bodyPr wrap="square" lIns="0" tIns="0" rIns="0" bIns="0" anchor="t"/>
          <a:lstStyle/>
          <a:p>
            <a:pPr>
              <a:lnSpc>
                <a:spcPct val="100000"/>
              </a:lnSpc>
              <a:spcBef>
                <a:spcPts val="0"/>
              </a:spcBef>
              <a:spcAft>
                <a:spcPts val="600"/>
              </a:spcAft>
            </a:pPr>
            <a:r>
              <a:rPr sz="5400" b="1">
                <a:solidFill>
                  <a:srgbClr val="0E1A15"/>
                </a:solidFill>
                <a:latin typeface="Segoe UI"/>
              </a:rPr>
              <a:t>483k</a:t>
            </a:r>
          </a:p>
          <a:p>
            <a:pPr>
              <a:lnSpc>
                <a:spcPct val="135000"/>
              </a:lnSpc>
              <a:spcBef>
                <a:spcPts val="0"/>
              </a:spcBef>
              <a:spcAft>
                <a:spcPts val="0"/>
              </a:spcAft>
            </a:pPr>
            <a:r>
              <a:rPr sz="1800" b="0">
                <a:solidFill>
                  <a:srgbClr val="0E1A15"/>
                </a:solidFill>
                <a:latin typeface="Segoe UI"/>
              </a:rPr>
              <a:t>sensor readings stored</a:t>
            </a:r>
          </a:p>
        </p:txBody>
      </p:sp>
      <p:sp>
        <p:nvSpPr>
          <p:cNvPr id="5" name="Figure: 33"/>
          <p:cNvSpPr txBox="1"/>
          <p:nvPr/>
        </p:nvSpPr>
        <p:spPr>
          <a:xfrm>
            <a:off x="3481387" y="3242500"/>
            <a:ext cx="2509837" cy="1605533"/>
          </a:xfrm>
          <a:prstGeom prst="rect">
            <a:avLst/>
          </a:prstGeom>
          <a:noFill/>
        </p:spPr>
        <p:txBody>
          <a:bodyPr wrap="square" lIns="0" tIns="0" rIns="0" bIns="0" anchor="t"/>
          <a:lstStyle/>
          <a:p>
            <a:pPr>
              <a:lnSpc>
                <a:spcPct val="100000"/>
              </a:lnSpc>
              <a:spcBef>
                <a:spcPts val="0"/>
              </a:spcBef>
              <a:spcAft>
                <a:spcPts val="600"/>
              </a:spcAft>
            </a:pPr>
            <a:r>
              <a:rPr sz="5400" b="1">
                <a:solidFill>
                  <a:srgbClr val="0E1A15"/>
                </a:solidFill>
                <a:latin typeface="Segoe UI"/>
              </a:rPr>
              <a:t>33</a:t>
            </a:r>
          </a:p>
          <a:p>
            <a:pPr>
              <a:lnSpc>
                <a:spcPct val="135000"/>
              </a:lnSpc>
              <a:spcBef>
                <a:spcPts val="0"/>
              </a:spcBef>
              <a:spcAft>
                <a:spcPts val="0"/>
              </a:spcAft>
            </a:pPr>
            <a:r>
              <a:rPr sz="1800" b="0">
                <a:solidFill>
                  <a:srgbClr val="0E1A15"/>
                </a:solidFill>
                <a:latin typeface="Segoe UI"/>
              </a:rPr>
              <a:t>parking sessions, 31 completed</a:t>
            </a:r>
          </a:p>
        </p:txBody>
      </p:sp>
      <p:sp>
        <p:nvSpPr>
          <p:cNvPr id="6" name="Figure: 84"/>
          <p:cNvSpPr txBox="1"/>
          <p:nvPr/>
        </p:nvSpPr>
        <p:spPr>
          <a:xfrm>
            <a:off x="6200775" y="3242500"/>
            <a:ext cx="2509837" cy="1605533"/>
          </a:xfrm>
          <a:prstGeom prst="rect">
            <a:avLst/>
          </a:prstGeom>
          <a:noFill/>
        </p:spPr>
        <p:txBody>
          <a:bodyPr wrap="square" lIns="0" tIns="0" rIns="0" bIns="0" anchor="t"/>
          <a:lstStyle/>
          <a:p>
            <a:pPr>
              <a:lnSpc>
                <a:spcPct val="100000"/>
              </a:lnSpc>
              <a:spcBef>
                <a:spcPts val="0"/>
              </a:spcBef>
              <a:spcAft>
                <a:spcPts val="600"/>
              </a:spcAft>
            </a:pPr>
            <a:r>
              <a:rPr sz="5400" b="1">
                <a:solidFill>
                  <a:srgbClr val="0E1A15"/>
                </a:solidFill>
                <a:latin typeface="Segoe UI"/>
              </a:rPr>
              <a:t>84</a:t>
            </a:r>
          </a:p>
          <a:p>
            <a:pPr>
              <a:lnSpc>
                <a:spcPct val="135000"/>
              </a:lnSpc>
              <a:spcBef>
                <a:spcPts val="0"/>
              </a:spcBef>
              <a:spcAft>
                <a:spcPts val="0"/>
              </a:spcAft>
            </a:pPr>
            <a:r>
              <a:rPr sz="1800" b="0">
                <a:solidFill>
                  <a:srgbClr val="0E1A15"/>
                </a:solidFill>
                <a:latin typeface="Segoe UI"/>
              </a:rPr>
              <a:t>taps, 17 of them from the app</a:t>
            </a:r>
          </a:p>
        </p:txBody>
      </p:sp>
      <p:sp>
        <p:nvSpPr>
          <p:cNvPr id="7" name="Figure: 8.5 s"/>
          <p:cNvSpPr txBox="1"/>
          <p:nvPr/>
        </p:nvSpPr>
        <p:spPr>
          <a:xfrm>
            <a:off x="8920162" y="3242500"/>
            <a:ext cx="2509837" cy="1605533"/>
          </a:xfrm>
          <a:prstGeom prst="rect">
            <a:avLst/>
          </a:prstGeom>
          <a:noFill/>
        </p:spPr>
        <p:txBody>
          <a:bodyPr wrap="square" lIns="0" tIns="0" rIns="0" bIns="0" anchor="t"/>
          <a:lstStyle/>
          <a:p>
            <a:pPr>
              <a:lnSpc>
                <a:spcPct val="100000"/>
              </a:lnSpc>
              <a:spcBef>
                <a:spcPts val="0"/>
              </a:spcBef>
              <a:spcAft>
                <a:spcPts val="600"/>
              </a:spcAft>
            </a:pPr>
            <a:r>
              <a:rPr sz="5400" b="1">
                <a:solidFill>
                  <a:srgbClr val="0E1A15"/>
                </a:solidFill>
                <a:latin typeface="Segoe UI"/>
              </a:rPr>
              <a:t>8.5 s</a:t>
            </a:r>
          </a:p>
          <a:p>
            <a:pPr>
              <a:lnSpc>
                <a:spcPct val="135000"/>
              </a:lnSpc>
              <a:spcBef>
                <a:spcPts val="0"/>
              </a:spcBef>
              <a:spcAft>
                <a:spcPts val="0"/>
              </a:spcAft>
            </a:pPr>
            <a:r>
              <a:rPr sz="1800" b="0">
                <a:solidFill>
                  <a:srgbClr val="0E1A15"/>
                </a:solidFill>
                <a:latin typeface="Segoe UI"/>
              </a:rPr>
              <a:t>average from tap to "Secured"</a:t>
            </a:r>
          </a:p>
        </p:txBody>
      </p:sp>
      <p:sp>
        <p:nvSpPr>
          <p:cNvPr id="8" name="Footer"/>
          <p:cNvSpPr txBox="1"/>
          <p:nvPr/>
        </p:nvSpPr>
        <p:spPr>
          <a:xfrm>
            <a:off x="254000" y="6477000"/>
            <a:ext cx="8890000" cy="203200"/>
          </a:xfrm>
          <a:prstGeom prst="rect">
            <a:avLst/>
          </a:prstGeom>
          <a:noFill/>
        </p:spPr>
        <p:txBody>
          <a:bodyPr wrap="square" lIns="0" tIns="0" rIns="0" bIns="0" anchor="t"/>
          <a:lstStyle/>
          <a:p>
            <a:r>
              <a:rPr sz="1200" b="0">
                <a:solidFill>
                  <a:srgbClr val="1D3B2E"/>
                </a:solidFill>
                <a:latin typeface="Segoe UI"/>
              </a:rPr>
              <a:t>Source: the station's PostgreSQL database, 29 Sep 2026, data since 01:18</a:t>
            </a:r>
          </a:p>
        </p:txBody>
      </p:sp>
      <p:sp>
        <p:nvSpPr>
          <p:cNvPr id="9" name="Slide number"/>
          <p:cNvSpPr txBox="1"/>
          <p:nvPr/>
        </p:nvSpPr>
        <p:spPr>
          <a:xfrm>
            <a:off x="10668000" y="6477000"/>
            <a:ext cx="762000" cy="203200"/>
          </a:xfrm>
          <a:prstGeom prst="rect">
            <a:avLst/>
          </a:prstGeom>
          <a:noFill/>
        </p:spPr>
        <p:txBody>
          <a:bodyPr wrap="square" lIns="0" tIns="0" rIns="0" bIns="0" anchor="t"/>
          <a:lstStyle/>
          <a:p>
            <a:pPr algn="r"/>
            <a:fld id="{B6F15528-21DE-4FAA-801E-634DDDAF4B2B}" type="slidenum">
              <a:rPr lang="en-US" sz="1200">
                <a:solidFill>
                  <a:srgbClr val="1D3B2E"/>
                </a:solidFill>
                <a:latin typeface="Segoe UI"/>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2F5EF"/>
        </a:solidFill>
        <a:effectLst/>
      </p:bgPr>
    </p:bg>
    <p:spTree>
      <p:nvGrpSpPr>
        <p:cNvPr id="1" name=""/>
        <p:cNvGrpSpPr/>
        <p:nvPr/>
      </p:nvGrpSpPr>
      <p:grpSpPr/>
      <p:sp>
        <p:nvSpPr>
          <p:cNvPr id="2" name="Eyebrow"/>
          <p:cNvSpPr txBox="1"/>
          <p:nvPr/>
        </p:nvSpPr>
        <p:spPr>
          <a:xfrm>
            <a:off x="762000" y="1375981"/>
            <a:ext cx="10668000" cy="222885"/>
          </a:xfrm>
          <a:prstGeom prst="rect">
            <a:avLst/>
          </a:prstGeom>
          <a:noFill/>
        </p:spPr>
        <p:txBody>
          <a:bodyPr wrap="square" lIns="0" tIns="0" rIns="0" bIns="0" anchor="t"/>
          <a:lstStyle/>
          <a:p>
            <a:pPr>
              <a:lnSpc>
                <a:spcPct val="100000"/>
              </a:lnSpc>
              <a:spcBef>
                <a:spcPts val="0"/>
              </a:spcBef>
              <a:spcAft>
                <a:spcPts val="0"/>
              </a:spcAft>
            </a:pPr>
            <a:r>
              <a:rPr sz="1350" b="1" spc="225">
                <a:solidFill>
                  <a:srgbClr val="1B7F4B"/>
                </a:solidFill>
                <a:latin typeface="Segoe UI"/>
              </a:rPr>
              <a:t>TESTING &amp; QUALITY</a:t>
            </a:r>
          </a:p>
        </p:txBody>
      </p:sp>
      <p:sp>
        <p:nvSpPr>
          <p:cNvPr id="3" name="Title"/>
          <p:cNvSpPr txBox="1"/>
          <p:nvPr/>
        </p:nvSpPr>
        <p:spPr>
          <a:xfrm>
            <a:off x="762000" y="1675066"/>
            <a:ext cx="10668000" cy="628650"/>
          </a:xfrm>
          <a:prstGeom prst="rect">
            <a:avLst/>
          </a:prstGeom>
          <a:noFill/>
        </p:spPr>
        <p:txBody>
          <a:bodyPr wrap="square" lIns="0" tIns="0" rIns="0" bIns="0" anchor="t"/>
          <a:lstStyle/>
          <a:p>
            <a:pPr>
              <a:lnSpc>
                <a:spcPct val="110000"/>
              </a:lnSpc>
              <a:spcBef>
                <a:spcPts val="0"/>
              </a:spcBef>
              <a:spcAft>
                <a:spcPts val="0"/>
              </a:spcAft>
            </a:pPr>
            <a:r>
              <a:rPr sz="3750" b="1">
                <a:solidFill>
                  <a:srgbClr val="17241F"/>
                </a:solidFill>
                <a:latin typeface="Segoe UI"/>
              </a:rPr>
              <a:t>Tested in code and on the station</a:t>
            </a:r>
          </a:p>
        </p:txBody>
      </p:sp>
      <p:sp>
        <p:nvSpPr>
          <p:cNvPr id="4" name="Card: 14 logic scenarios, all passing"/>
          <p:cNvSpPr/>
          <p:nvPr/>
        </p:nvSpPr>
        <p:spPr>
          <a:xfrm>
            <a:off x="762000" y="2608516"/>
            <a:ext cx="5229225" cy="2873502"/>
          </a:xfrm>
          <a:prstGeom prst="roundRect">
            <a:avLst>
              <a:gd name="adj" fmla="val 5303"/>
            </a:avLst>
          </a:prstGeom>
          <a:solidFill>
            <a:srgbClr val="FFFFFF"/>
          </a:solidFill>
          <a:ln w="9525">
            <a:solidFill>
              <a:srgbClr val="D9E2DB"/>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17241F"/>
                </a:solidFill>
                <a:latin typeface="Segoe UI"/>
              </a:rPr>
              <a:t>14 logic scenarios, all passing</a:t>
            </a:r>
          </a:p>
          <a:p>
            <a:pPr algn="l" marL="228600" indent="-203200">
              <a:lnSpc>
                <a:spcPct val="120000"/>
              </a:lnSpc>
              <a:spcBef>
                <a:spcPts val="300"/>
              </a:spcBef>
              <a:spcAft>
                <a:spcPts val="0"/>
              </a:spcAft>
              <a:buClr>
                <a:srgbClr val="4A5A52"/>
              </a:buClr>
              <a:buFont typeface="Arial"/>
              <a:buChar char="◦"/>
            </a:pPr>
            <a:r>
              <a:rPr sz="1650" b="0">
                <a:solidFill>
                  <a:srgbClr val="4A5A52"/>
                </a:solidFill>
                <a:latin typeface="Segoe UI"/>
              </a:rPr>
              <a:t>unknown chip is refused</a:t>
            </a:r>
          </a:p>
          <a:p>
            <a:pPr algn="l" marL="228600" indent="-203200">
              <a:lnSpc>
                <a:spcPct val="120000"/>
              </a:lnSpc>
              <a:spcBef>
                <a:spcPts val="300"/>
              </a:spcBef>
              <a:spcAft>
                <a:spcPts val="0"/>
              </a:spcAft>
              <a:buClr>
                <a:srgbClr val="4A5A52"/>
              </a:buClr>
              <a:buFont typeface="Arial"/>
              <a:buChar char="◦"/>
            </a:pPr>
            <a:r>
              <a:rPr sz="1650" b="0">
                <a:solidFill>
                  <a:srgbClr val="4A5A52"/>
                </a:solidFill>
                <a:latin typeface="Segoe UI"/>
              </a:rPr>
              <a:t>park, secure, pick up, exit gate 5 s</a:t>
            </a:r>
          </a:p>
          <a:p>
            <a:pPr algn="l" marL="228600" indent="-203200">
              <a:lnSpc>
                <a:spcPct val="120000"/>
              </a:lnSpc>
              <a:spcBef>
                <a:spcPts val="300"/>
              </a:spcBef>
              <a:spcAft>
                <a:spcPts val="0"/>
              </a:spcAft>
              <a:buClr>
                <a:srgbClr val="4A5A52"/>
              </a:buClr>
              <a:buFont typeface="Arial"/>
              <a:buChar char="◦"/>
            </a:pPr>
            <a:r>
              <a:rPr sz="1650" b="0">
                <a:solidFill>
                  <a:srgbClr val="4A5A52"/>
                </a:solidFill>
                <a:latin typeface="Segoe UI"/>
              </a:rPr>
              <a:t>second bike per account refused</a:t>
            </a:r>
          </a:p>
          <a:p>
            <a:pPr algn="l" marL="228600" indent="-203200">
              <a:lnSpc>
                <a:spcPct val="120000"/>
              </a:lnSpc>
              <a:spcBef>
                <a:spcPts val="300"/>
              </a:spcBef>
              <a:spcAft>
                <a:spcPts val="0"/>
              </a:spcAft>
              <a:buClr>
                <a:srgbClr val="4A5A52"/>
              </a:buClr>
              <a:buFont typeface="Arial"/>
              <a:buChar char="◦"/>
            </a:pPr>
            <a:r>
              <a:rPr sz="1650" b="0">
                <a:solidFill>
                  <a:srgbClr val="4A5A52"/>
                </a:solidFill>
                <a:latin typeface="Segoe UI"/>
              </a:rPr>
              <a:t>sensor without echo: no alarm</a:t>
            </a:r>
          </a:p>
          <a:p>
            <a:pPr algn="l" marL="228600" indent="-203200">
              <a:lnSpc>
                <a:spcPct val="120000"/>
              </a:lnSpc>
              <a:spcBef>
                <a:spcPts val="300"/>
              </a:spcBef>
              <a:spcAft>
                <a:spcPts val="0"/>
              </a:spcAft>
              <a:buClr>
                <a:srgbClr val="4A5A52"/>
              </a:buClr>
              <a:buFont typeface="Arial"/>
              <a:buChar char="◦"/>
            </a:pPr>
            <a:r>
              <a:rPr sz="1650" b="0">
                <a:solidFill>
                  <a:srgbClr val="4A5A52"/>
                </a:solidFill>
                <a:latin typeface="Segoe UI"/>
              </a:rPr>
              <a:t>theft: alarm, gate shut, all taps refused</a:t>
            </a:r>
          </a:p>
          <a:p>
            <a:pPr algn="l" marL="228600" indent="-203200">
              <a:lnSpc>
                <a:spcPct val="120000"/>
              </a:lnSpc>
              <a:spcBef>
                <a:spcPts val="300"/>
              </a:spcBef>
              <a:spcAft>
                <a:spcPts val="0"/>
              </a:spcAft>
              <a:buClr>
                <a:srgbClr val="4A5A52"/>
              </a:buClr>
              <a:buFont typeface="Arial"/>
              <a:buChar char="◦"/>
            </a:pPr>
            <a:r>
              <a:rPr sz="1650" b="0">
                <a:solidFill>
                  <a:srgbClr val="4A5A52"/>
                </a:solidFill>
                <a:latin typeface="Segoe UI"/>
              </a:rPr>
              <a:t>admin reset reopens the station</a:t>
            </a:r>
          </a:p>
        </p:txBody>
      </p:sp>
      <p:sp>
        <p:nvSpPr>
          <p:cNvPr id="5" name="Card: On the real hardware"/>
          <p:cNvSpPr/>
          <p:nvPr/>
        </p:nvSpPr>
        <p:spPr>
          <a:xfrm>
            <a:off x="6200775" y="2608516"/>
            <a:ext cx="5229225" cy="2873502"/>
          </a:xfrm>
          <a:prstGeom prst="roundRect">
            <a:avLst>
              <a:gd name="adj" fmla="val 5303"/>
            </a:avLst>
          </a:prstGeom>
          <a:solidFill>
            <a:srgbClr val="FFFFFF"/>
          </a:solidFill>
          <a:ln w="9525">
            <a:solidFill>
              <a:srgbClr val="D9E2DB"/>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17241F"/>
                </a:solidFill>
                <a:latin typeface="Segoe UI"/>
              </a:rPr>
              <a:t>On the real hardware</a:t>
            </a:r>
          </a:p>
          <a:p>
            <a:pPr algn="l" marL="228600" indent="-203200">
              <a:lnSpc>
                <a:spcPct val="120000"/>
              </a:lnSpc>
              <a:spcBef>
                <a:spcPts val="300"/>
              </a:spcBef>
              <a:spcAft>
                <a:spcPts val="0"/>
              </a:spcAft>
              <a:buClr>
                <a:srgbClr val="4A5A52"/>
              </a:buClr>
              <a:buFont typeface="Arial"/>
              <a:buChar char="◦"/>
            </a:pPr>
            <a:r>
              <a:rPr sz="1650" b="0">
                <a:solidFill>
                  <a:srgbClr val="4A5A52"/>
                </a:solidFill>
                <a:latin typeface="Segoe UI"/>
              </a:rPr>
              <a:t>every firmware validated with ESPHome</a:t>
            </a:r>
          </a:p>
          <a:p>
            <a:pPr algn="l" marL="228600" indent="-203200">
              <a:lnSpc>
                <a:spcPct val="120000"/>
              </a:lnSpc>
              <a:spcBef>
                <a:spcPts val="300"/>
              </a:spcBef>
              <a:spcAft>
                <a:spcPts val="0"/>
              </a:spcAft>
              <a:buClr>
                <a:srgbClr val="4A5A52"/>
              </a:buClr>
              <a:buFont typeface="Arial"/>
              <a:buChar char="◦"/>
            </a:pPr>
            <a:r>
              <a:rPr sz="1650" b="0">
                <a:solidFill>
                  <a:srgbClr val="4A5A52"/>
                </a:solidFill>
                <a:latin typeface="Segoe UI"/>
              </a:rPr>
              <a:t>unknown-chip tap and servo 90° → 0° live</a:t>
            </a:r>
          </a:p>
          <a:p>
            <a:pPr algn="l" marL="228600" indent="-203200">
              <a:lnSpc>
                <a:spcPct val="120000"/>
              </a:lnSpc>
              <a:spcBef>
                <a:spcPts val="300"/>
              </a:spcBef>
              <a:spcAft>
                <a:spcPts val="0"/>
              </a:spcAft>
              <a:buClr>
                <a:srgbClr val="4A5A52"/>
              </a:buClr>
              <a:buFont typeface="Arial"/>
              <a:buChar char="◦"/>
            </a:pPr>
            <a:r>
              <a:rPr sz="1650" b="0">
                <a:solidFill>
                  <a:srgbClr val="4A5A52"/>
                </a:solidFill>
                <a:latin typeface="Segoe UI"/>
              </a:rPr>
              <a:t>Pi reboot: everything back in about a minute</a:t>
            </a:r>
          </a:p>
          <a:p>
            <a:pPr algn="l" marL="228600" indent="-203200">
              <a:lnSpc>
                <a:spcPct val="120000"/>
              </a:lnSpc>
              <a:spcBef>
                <a:spcPts val="300"/>
              </a:spcBef>
              <a:spcAft>
                <a:spcPts val="0"/>
              </a:spcAft>
              <a:buClr>
                <a:srgbClr val="4A5A52"/>
              </a:buClr>
              <a:buFont typeface="Arial"/>
              <a:buChar char="◦"/>
            </a:pPr>
            <a:r>
              <a:rPr sz="1650" b="0">
                <a:solidFill>
                  <a:srgbClr val="4A5A52"/>
                </a:solidFill>
                <a:latin typeface="Segoe UI"/>
              </a:rPr>
              <a:t>every deploy: checksum check and backup first</a:t>
            </a:r>
          </a:p>
          <a:p>
            <a:pPr algn="l" marL="228600" indent="-203200">
              <a:lnSpc>
                <a:spcPct val="120000"/>
              </a:lnSpc>
              <a:spcBef>
                <a:spcPts val="300"/>
              </a:spcBef>
              <a:spcAft>
                <a:spcPts val="0"/>
              </a:spcAft>
              <a:buClr>
                <a:srgbClr val="4A5A52"/>
              </a:buClr>
              <a:buFont typeface="Arial"/>
              <a:buChar char="◦"/>
            </a:pPr>
            <a:r>
              <a:rPr sz="1650" b="0">
                <a:solidFill>
                  <a:srgbClr val="4A5A52"/>
                </a:solidFill>
                <a:latin typeface="Segoe UI"/>
              </a:rPr>
              <a:t>bugs found from the tap log in the database</a:t>
            </a:r>
          </a:p>
        </p:txBody>
      </p:sp>
      <p:sp>
        <p:nvSpPr>
          <p:cNvPr id="6" name="Slide number"/>
          <p:cNvSpPr txBox="1"/>
          <p:nvPr/>
        </p:nvSpPr>
        <p:spPr>
          <a:xfrm>
            <a:off x="10668000" y="6477000"/>
            <a:ext cx="762000" cy="203200"/>
          </a:xfrm>
          <a:prstGeom prst="rect">
            <a:avLst/>
          </a:prstGeom>
          <a:noFill/>
        </p:spPr>
        <p:txBody>
          <a:bodyPr wrap="square" lIns="0" tIns="0" rIns="0" bIns="0" anchor="t"/>
          <a:lstStyle/>
          <a:p>
            <a:pPr algn="r"/>
            <a:fld id="{B6F15528-21DE-4FAA-801E-634DDDAF4B2B}" type="slidenum">
              <a:rPr lang="en-US" sz="1200">
                <a:solidFill>
                  <a:srgbClr val="6B7C73"/>
                </a:solidFill>
                <a:latin typeface="Segoe UI"/>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2201B"/>
        </a:solidFill>
        <a:effectLst/>
      </p:bgPr>
    </p:bg>
    <p:spTree>
      <p:nvGrpSpPr>
        <p:cNvPr id="1" name=""/>
        <p:cNvGrpSpPr/>
        <p:nvPr/>
      </p:nvGrpSpPr>
      <p:grpSpPr/>
      <p:sp>
        <p:nvSpPr>
          <p:cNvPr id="2" name="Eyebrow"/>
          <p:cNvSpPr txBox="1"/>
          <p:nvPr/>
        </p:nvSpPr>
        <p:spPr>
          <a:xfrm>
            <a:off x="762000" y="1358074"/>
            <a:ext cx="10668000" cy="222885"/>
          </a:xfrm>
          <a:prstGeom prst="rect">
            <a:avLst/>
          </a:prstGeom>
          <a:noFill/>
        </p:spPr>
        <p:txBody>
          <a:bodyPr wrap="square" lIns="0" tIns="0" rIns="0" bIns="0" anchor="t"/>
          <a:lstStyle/>
          <a:p>
            <a:pPr>
              <a:lnSpc>
                <a:spcPct val="100000"/>
              </a:lnSpc>
              <a:spcBef>
                <a:spcPts val="0"/>
              </a:spcBef>
              <a:spcAft>
                <a:spcPts val="0"/>
              </a:spcAft>
            </a:pPr>
            <a:r>
              <a:rPr sz="1350" b="1" spc="225">
                <a:solidFill>
                  <a:srgbClr val="3DDC84"/>
                </a:solidFill>
                <a:latin typeface="Segoe UI"/>
              </a:rPr>
              <a:t>OPEN SOURCE &amp; DOCUMENTATION</a:t>
            </a:r>
          </a:p>
        </p:txBody>
      </p:sp>
      <p:sp>
        <p:nvSpPr>
          <p:cNvPr id="3" name="Title"/>
          <p:cNvSpPr txBox="1"/>
          <p:nvPr/>
        </p:nvSpPr>
        <p:spPr>
          <a:xfrm>
            <a:off x="762000" y="1657159"/>
            <a:ext cx="10668000" cy="1257300"/>
          </a:xfrm>
          <a:prstGeom prst="rect">
            <a:avLst/>
          </a:prstGeom>
          <a:noFill/>
        </p:spPr>
        <p:txBody>
          <a:bodyPr wrap="square" lIns="0" tIns="0" rIns="0" bIns="0" anchor="t"/>
          <a:lstStyle/>
          <a:p>
            <a:pPr>
              <a:lnSpc>
                <a:spcPct val="110000"/>
              </a:lnSpc>
              <a:spcBef>
                <a:spcPts val="0"/>
              </a:spcBef>
              <a:spcAft>
                <a:spcPts val="0"/>
              </a:spcAft>
            </a:pPr>
            <a:r>
              <a:rPr sz="3750" b="1">
                <a:solidFill>
                  <a:srgbClr val="EEF3EC"/>
                </a:solidFill>
                <a:latin typeface="Segoe UI"/>
              </a:rPr>
              <a:t>Built on open source, documented in the open</a:t>
            </a:r>
          </a:p>
        </p:txBody>
      </p:sp>
      <p:sp>
        <p:nvSpPr>
          <p:cNvPr id="4" name="Text"/>
          <p:cNvSpPr txBox="1"/>
          <p:nvPr/>
        </p:nvSpPr>
        <p:spPr>
          <a:xfrm>
            <a:off x="762000" y="3219259"/>
            <a:ext cx="10668000" cy="740664"/>
          </a:xfrm>
          <a:prstGeom prst="rect">
            <a:avLst/>
          </a:prstGeom>
          <a:noFill/>
        </p:spPr>
        <p:txBody>
          <a:bodyPr wrap="square" lIns="0" tIns="0" rIns="0" bIns="0" anchor="t"/>
          <a:lstStyle/>
          <a:p>
            <a:pPr>
              <a:lnSpc>
                <a:spcPct val="135000"/>
              </a:lnSpc>
              <a:spcBef>
                <a:spcPts val="0"/>
              </a:spcBef>
              <a:spcAft>
                <a:spcPts val="0"/>
              </a:spcAft>
            </a:pPr>
            <a:r>
              <a:rPr sz="1800" b="0">
                <a:solidFill>
                  <a:srgbClr val="C9D6CE"/>
                </a:solidFill>
                <a:latin typeface="Segoe UI"/>
              </a:rPr>
              <a:t>ESPHome · Node-RED · Eclipse Mosquitto · PostgreSQL · Docker Compose · Node.js / Express · FlowFuse Dashboard</a:t>
            </a:r>
          </a:p>
        </p:txBody>
      </p:sp>
      <p:sp>
        <p:nvSpPr>
          <p:cNvPr id="5" name="Figure: 56"/>
          <p:cNvSpPr txBox="1"/>
          <p:nvPr/>
        </p:nvSpPr>
        <p:spPr>
          <a:xfrm>
            <a:off x="762000" y="4264723"/>
            <a:ext cx="2509837" cy="1235202"/>
          </a:xfrm>
          <a:prstGeom prst="rect">
            <a:avLst/>
          </a:prstGeom>
          <a:noFill/>
        </p:spPr>
        <p:txBody>
          <a:bodyPr wrap="square" lIns="0" tIns="0" rIns="0" bIns="0" anchor="t"/>
          <a:lstStyle/>
          <a:p>
            <a:pPr>
              <a:lnSpc>
                <a:spcPct val="100000"/>
              </a:lnSpc>
              <a:spcBef>
                <a:spcPts val="0"/>
              </a:spcBef>
              <a:spcAft>
                <a:spcPts val="600"/>
              </a:spcAft>
            </a:pPr>
            <a:r>
              <a:rPr sz="5400" b="1">
                <a:solidFill>
                  <a:srgbClr val="3DDC84"/>
                </a:solidFill>
                <a:latin typeface="Segoe UI"/>
              </a:rPr>
              <a:t>56</a:t>
            </a:r>
          </a:p>
          <a:p>
            <a:pPr>
              <a:lnSpc>
                <a:spcPct val="135000"/>
              </a:lnSpc>
              <a:spcBef>
                <a:spcPts val="0"/>
              </a:spcBef>
              <a:spcAft>
                <a:spcPts val="0"/>
              </a:spcAft>
            </a:pPr>
            <a:r>
              <a:rPr sz="1800" b="0">
                <a:solidFill>
                  <a:srgbClr val="EEF3EC"/>
                </a:solidFill>
                <a:latin typeface="Segoe UI"/>
              </a:rPr>
              <a:t>commits</a:t>
            </a:r>
          </a:p>
        </p:txBody>
      </p:sp>
      <p:sp>
        <p:nvSpPr>
          <p:cNvPr id="6" name="Figure: 4"/>
          <p:cNvSpPr txBox="1"/>
          <p:nvPr/>
        </p:nvSpPr>
        <p:spPr>
          <a:xfrm>
            <a:off x="3481387" y="4264723"/>
            <a:ext cx="2509837" cy="1235202"/>
          </a:xfrm>
          <a:prstGeom prst="rect">
            <a:avLst/>
          </a:prstGeom>
          <a:noFill/>
        </p:spPr>
        <p:txBody>
          <a:bodyPr wrap="square" lIns="0" tIns="0" rIns="0" bIns="0" anchor="t"/>
          <a:lstStyle/>
          <a:p>
            <a:pPr>
              <a:lnSpc>
                <a:spcPct val="100000"/>
              </a:lnSpc>
              <a:spcBef>
                <a:spcPts val="0"/>
              </a:spcBef>
              <a:spcAft>
                <a:spcPts val="600"/>
              </a:spcAft>
            </a:pPr>
            <a:r>
              <a:rPr sz="5400" b="1">
                <a:solidFill>
                  <a:srgbClr val="3DDC84"/>
                </a:solidFill>
                <a:latin typeface="Segoe UI"/>
              </a:rPr>
              <a:t>4</a:t>
            </a:r>
          </a:p>
          <a:p>
            <a:pPr>
              <a:lnSpc>
                <a:spcPct val="135000"/>
              </a:lnSpc>
              <a:spcBef>
                <a:spcPts val="0"/>
              </a:spcBef>
              <a:spcAft>
                <a:spcPts val="0"/>
              </a:spcAft>
            </a:pPr>
            <a:r>
              <a:rPr sz="1800" b="0">
                <a:solidFill>
                  <a:srgbClr val="EEF3EC"/>
                </a:solidFill>
                <a:latin typeface="Segoe UI"/>
              </a:rPr>
              <a:t>contributors</a:t>
            </a:r>
          </a:p>
        </p:txBody>
      </p:sp>
      <p:sp>
        <p:nvSpPr>
          <p:cNvPr id="7" name="Figure: 8"/>
          <p:cNvSpPr txBox="1"/>
          <p:nvPr/>
        </p:nvSpPr>
        <p:spPr>
          <a:xfrm>
            <a:off x="6200775" y="4264723"/>
            <a:ext cx="2509837" cy="1235202"/>
          </a:xfrm>
          <a:prstGeom prst="rect">
            <a:avLst/>
          </a:prstGeom>
          <a:noFill/>
        </p:spPr>
        <p:txBody>
          <a:bodyPr wrap="square" lIns="0" tIns="0" rIns="0" bIns="0" anchor="t"/>
          <a:lstStyle/>
          <a:p>
            <a:pPr>
              <a:lnSpc>
                <a:spcPct val="100000"/>
              </a:lnSpc>
              <a:spcBef>
                <a:spcPts val="0"/>
              </a:spcBef>
              <a:spcAft>
                <a:spcPts val="600"/>
              </a:spcAft>
            </a:pPr>
            <a:r>
              <a:rPr sz="5400" b="1">
                <a:solidFill>
                  <a:srgbClr val="3DDC84"/>
                </a:solidFill>
                <a:latin typeface="Segoe UI"/>
              </a:rPr>
              <a:t>8</a:t>
            </a:r>
          </a:p>
          <a:p>
            <a:pPr>
              <a:lnSpc>
                <a:spcPct val="135000"/>
              </a:lnSpc>
              <a:spcBef>
                <a:spcPts val="0"/>
              </a:spcBef>
              <a:spcAft>
                <a:spcPts val="0"/>
              </a:spcAft>
            </a:pPr>
            <a:r>
              <a:rPr sz="1800" b="0">
                <a:solidFill>
                  <a:srgbClr val="EEF3EC"/>
                </a:solidFill>
                <a:latin typeface="Segoe UI"/>
              </a:rPr>
              <a:t>READMEs</a:t>
            </a:r>
          </a:p>
        </p:txBody>
      </p:sp>
      <p:sp>
        <p:nvSpPr>
          <p:cNvPr id="8" name="Figure: 1,200+"/>
          <p:cNvSpPr txBox="1"/>
          <p:nvPr/>
        </p:nvSpPr>
        <p:spPr>
          <a:xfrm>
            <a:off x="8920162" y="4264723"/>
            <a:ext cx="2509837" cy="1235202"/>
          </a:xfrm>
          <a:prstGeom prst="rect">
            <a:avLst/>
          </a:prstGeom>
          <a:noFill/>
        </p:spPr>
        <p:txBody>
          <a:bodyPr wrap="square" lIns="0" tIns="0" rIns="0" bIns="0" anchor="t"/>
          <a:lstStyle/>
          <a:p>
            <a:pPr>
              <a:lnSpc>
                <a:spcPct val="100000"/>
              </a:lnSpc>
              <a:spcBef>
                <a:spcPts val="0"/>
              </a:spcBef>
              <a:spcAft>
                <a:spcPts val="600"/>
              </a:spcAft>
            </a:pPr>
            <a:r>
              <a:rPr sz="5400" b="1">
                <a:solidFill>
                  <a:srgbClr val="3DDC84"/>
                </a:solidFill>
                <a:latin typeface="Segoe UI"/>
              </a:rPr>
              <a:t>1,200+</a:t>
            </a:r>
          </a:p>
          <a:p>
            <a:pPr>
              <a:lnSpc>
                <a:spcPct val="135000"/>
              </a:lnSpc>
              <a:spcBef>
                <a:spcPts val="0"/>
              </a:spcBef>
              <a:spcAft>
                <a:spcPts val="0"/>
              </a:spcAft>
            </a:pPr>
            <a:r>
              <a:rPr sz="1800" b="0">
                <a:solidFill>
                  <a:srgbClr val="EEF3EC"/>
                </a:solidFill>
                <a:latin typeface="Segoe UI"/>
              </a:rPr>
              <a:t>lines of docs</a:t>
            </a:r>
          </a:p>
        </p:txBody>
      </p:sp>
      <p:sp>
        <p:nvSpPr>
          <p:cNvPr id="9" name="Footer"/>
          <p:cNvSpPr txBox="1"/>
          <p:nvPr/>
        </p:nvSpPr>
        <p:spPr>
          <a:xfrm>
            <a:off x="254000" y="6477000"/>
            <a:ext cx="8890000" cy="203200"/>
          </a:xfrm>
          <a:prstGeom prst="rect">
            <a:avLst/>
          </a:prstGeom>
          <a:noFill/>
        </p:spPr>
        <p:txBody>
          <a:bodyPr wrap="square" lIns="0" tIns="0" rIns="0" bIns="0" anchor="t"/>
          <a:lstStyle/>
          <a:p>
            <a:r>
              <a:rPr sz="1200" b="0">
                <a:solidFill>
                  <a:srgbClr val="8FA89A"/>
                </a:solidFill>
                <a:latin typeface="Segoe UI"/>
              </a:rPr>
              <a:t>github.com/LX-Chrome/Hackabike-system</a:t>
            </a:r>
          </a:p>
        </p:txBody>
      </p:sp>
      <p:sp>
        <p:nvSpPr>
          <p:cNvPr id="10" name="Slide number"/>
          <p:cNvSpPr txBox="1"/>
          <p:nvPr/>
        </p:nvSpPr>
        <p:spPr>
          <a:xfrm>
            <a:off x="10668000" y="6477000"/>
            <a:ext cx="762000" cy="203200"/>
          </a:xfrm>
          <a:prstGeom prst="rect">
            <a:avLst/>
          </a:prstGeom>
          <a:noFill/>
        </p:spPr>
        <p:txBody>
          <a:bodyPr wrap="square" lIns="0" tIns="0" rIns="0" bIns="0" anchor="t"/>
          <a:lstStyle/>
          <a:p>
            <a:pPr algn="r"/>
            <a:fld id="{B6F15528-21DE-4FAA-801E-634DDDAF4B2B}" type="slidenum">
              <a:rPr lang="en-US" sz="1200">
                <a:solidFill>
                  <a:srgbClr val="8FA89A"/>
                </a:solidFill>
                <a:latin typeface="Segoe UI"/>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2F5EF"/>
        </a:solidFill>
        <a:effectLst/>
      </p:bgPr>
    </p:bg>
    <p:spTree>
      <p:nvGrpSpPr>
        <p:cNvPr id="1" name=""/>
        <p:cNvGrpSpPr/>
        <p:nvPr/>
      </p:nvGrpSpPr>
      <p:grpSpPr/>
      <p:sp>
        <p:nvSpPr>
          <p:cNvPr id="2" name="Eyebrow"/>
          <p:cNvSpPr txBox="1"/>
          <p:nvPr/>
        </p:nvSpPr>
        <p:spPr>
          <a:xfrm>
            <a:off x="762000" y="803719"/>
            <a:ext cx="10668000" cy="222885"/>
          </a:xfrm>
          <a:prstGeom prst="rect">
            <a:avLst/>
          </a:prstGeom>
          <a:noFill/>
        </p:spPr>
        <p:txBody>
          <a:bodyPr wrap="square" lIns="0" tIns="0" rIns="0" bIns="0" anchor="t"/>
          <a:lstStyle/>
          <a:p>
            <a:pPr>
              <a:lnSpc>
                <a:spcPct val="100000"/>
              </a:lnSpc>
              <a:spcBef>
                <a:spcPts val="0"/>
              </a:spcBef>
              <a:spcAft>
                <a:spcPts val="0"/>
              </a:spcAft>
            </a:pPr>
            <a:r>
              <a:rPr sz="1350" b="1" spc="225">
                <a:solidFill>
                  <a:srgbClr val="1B7F4B"/>
                </a:solidFill>
                <a:latin typeface="Segoe UI"/>
              </a:rPr>
              <a:t>HONEST LIMITS</a:t>
            </a:r>
          </a:p>
        </p:txBody>
      </p:sp>
      <p:sp>
        <p:nvSpPr>
          <p:cNvPr id="3" name="Title"/>
          <p:cNvSpPr txBox="1"/>
          <p:nvPr/>
        </p:nvSpPr>
        <p:spPr>
          <a:xfrm>
            <a:off x="762000" y="1102804"/>
            <a:ext cx="10668000" cy="628650"/>
          </a:xfrm>
          <a:prstGeom prst="rect">
            <a:avLst/>
          </a:prstGeom>
          <a:noFill/>
        </p:spPr>
        <p:txBody>
          <a:bodyPr wrap="square" lIns="0" tIns="0" rIns="0" bIns="0" anchor="t"/>
          <a:lstStyle/>
          <a:p>
            <a:pPr>
              <a:lnSpc>
                <a:spcPct val="110000"/>
              </a:lnSpc>
              <a:spcBef>
                <a:spcPts val="0"/>
              </a:spcBef>
              <a:spcAft>
                <a:spcPts val="0"/>
              </a:spcAft>
            </a:pPr>
            <a:r>
              <a:rPr sz="3750" b="1">
                <a:solidFill>
                  <a:srgbClr val="17241F"/>
                </a:solidFill>
                <a:latin typeface="Segoe UI"/>
              </a:rPr>
              <a:t>What a hackathon build still lacks</a:t>
            </a:r>
          </a:p>
        </p:txBody>
      </p:sp>
      <p:sp>
        <p:nvSpPr>
          <p:cNvPr id="4" name="Card: Demo security"/>
          <p:cNvSpPr/>
          <p:nvPr/>
        </p:nvSpPr>
        <p:spPr>
          <a:xfrm>
            <a:off x="762000" y="2036254"/>
            <a:ext cx="5229225" cy="1904238"/>
          </a:xfrm>
          <a:prstGeom prst="roundRect">
            <a:avLst>
              <a:gd name="adj" fmla="val 8003"/>
            </a:avLst>
          </a:prstGeom>
          <a:solidFill>
            <a:srgbClr val="FFFFFF"/>
          </a:solidFill>
          <a:ln w="9525">
            <a:solidFill>
              <a:srgbClr val="D9E2DB"/>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17241F"/>
                </a:solidFill>
                <a:latin typeface="Segoe UI"/>
              </a:rPr>
              <a:t>Demo security</a:t>
            </a:r>
          </a:p>
          <a:p>
            <a:pPr algn="l">
              <a:lnSpc>
                <a:spcPct val="120000"/>
              </a:lnSpc>
              <a:spcBef>
                <a:spcPts val="0"/>
              </a:spcBef>
              <a:spcAft>
                <a:spcPts val="0"/>
              </a:spcAft>
            </a:pPr>
            <a:r>
              <a:rPr sz="1950" b="0">
                <a:solidFill>
                  <a:srgbClr val="4A5A52"/>
                </a:solidFill>
                <a:latin typeface="Segoe UI"/>
              </a:rPr>
              <a:t>The broker and the Node-RED editor have no login yet. The steps to lock them down are documented.</a:t>
            </a:r>
          </a:p>
        </p:txBody>
      </p:sp>
      <p:sp>
        <p:nvSpPr>
          <p:cNvPr id="5" name="Card: NFC reader after a reset"/>
          <p:cNvSpPr/>
          <p:nvPr/>
        </p:nvSpPr>
        <p:spPr>
          <a:xfrm>
            <a:off x="6200775" y="2036254"/>
            <a:ext cx="5229225" cy="1904238"/>
          </a:xfrm>
          <a:prstGeom prst="roundRect">
            <a:avLst>
              <a:gd name="adj" fmla="val 8003"/>
            </a:avLst>
          </a:prstGeom>
          <a:solidFill>
            <a:srgbClr val="FFFFFF"/>
          </a:solidFill>
          <a:ln w="9525">
            <a:solidFill>
              <a:srgbClr val="D9E2DB"/>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17241F"/>
                </a:solidFill>
                <a:latin typeface="Segoe UI"/>
              </a:rPr>
              <a:t>NFC reader after a reset</a:t>
            </a:r>
          </a:p>
          <a:p>
            <a:pPr algn="l">
              <a:lnSpc>
                <a:spcPct val="120000"/>
              </a:lnSpc>
              <a:spcBef>
                <a:spcPts val="0"/>
              </a:spcBef>
              <a:spcAft>
                <a:spcPts val="0"/>
              </a:spcAft>
            </a:pPr>
            <a:r>
              <a:rPr sz="1950" b="0">
                <a:solidFill>
                  <a:srgbClr val="4A5A52"/>
                </a:solidFill>
                <a:latin typeface="Segoe UI"/>
              </a:rPr>
              <a:t>It only recovers after a power cycle. Fine on power-up, annoying after an update.</a:t>
            </a:r>
          </a:p>
        </p:txBody>
      </p:sp>
      <p:sp>
        <p:nvSpPr>
          <p:cNvPr id="6" name="Card: Sound is designed, not built"/>
          <p:cNvSpPr/>
          <p:nvPr/>
        </p:nvSpPr>
        <p:spPr>
          <a:xfrm>
            <a:off x="762000" y="4150042"/>
            <a:ext cx="5229225" cy="1904238"/>
          </a:xfrm>
          <a:prstGeom prst="roundRect">
            <a:avLst>
              <a:gd name="adj" fmla="val 8003"/>
            </a:avLst>
          </a:prstGeom>
          <a:solidFill>
            <a:srgbClr val="FFFFFF"/>
          </a:solidFill>
          <a:ln w="9525">
            <a:solidFill>
              <a:srgbClr val="D9E2DB"/>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17241F"/>
                </a:solidFill>
                <a:latin typeface="Segoe UI"/>
              </a:rPr>
              <a:t>Sound is designed, not built</a:t>
            </a:r>
          </a:p>
          <a:p>
            <a:pPr algn="l">
              <a:lnSpc>
                <a:spcPct val="120000"/>
              </a:lnSpc>
              <a:spcBef>
                <a:spcPts val="0"/>
              </a:spcBef>
              <a:spcAft>
                <a:spcPts val="0"/>
              </a:spcAft>
            </a:pPr>
            <a:r>
              <a:rPr sz="1950" b="0">
                <a:solidFill>
                  <a:srgbClr val="4A5A52"/>
                </a:solidFill>
                <a:latin typeface="Segoe UI"/>
              </a:rPr>
              <a:t>Melody and alarm beep are planned, but we could not get an amplifier.</a:t>
            </a:r>
          </a:p>
        </p:txBody>
      </p:sp>
      <p:sp>
        <p:nvSpPr>
          <p:cNvPr id="7" name="Card: Four slots"/>
          <p:cNvSpPr/>
          <p:nvPr/>
        </p:nvSpPr>
        <p:spPr>
          <a:xfrm>
            <a:off x="6200775" y="4150042"/>
            <a:ext cx="5229225" cy="1904238"/>
          </a:xfrm>
          <a:prstGeom prst="roundRect">
            <a:avLst>
              <a:gd name="adj" fmla="val 8003"/>
            </a:avLst>
          </a:prstGeom>
          <a:solidFill>
            <a:srgbClr val="FFFFFF"/>
          </a:solidFill>
          <a:ln w="9525">
            <a:solidFill>
              <a:srgbClr val="D9E2DB"/>
            </a:solidFill>
          </a:ln>
          <a:effectLst/>
        </p:spPr>
        <p:style>
          <a:lnRef idx="1">
            <a:schemeClr val="accent1"/>
          </a:lnRef>
          <a:fillRef idx="3">
            <a:schemeClr val="accent1"/>
          </a:fillRef>
          <a:effectRef idx="2">
            <a:schemeClr val="accent1"/>
          </a:effectRef>
          <a:fontRef idx="minor">
            <a:schemeClr val="lt1"/>
          </a:fontRef>
        </p:style>
        <p:txBody>
          <a:bodyPr rtlCol="0" anchor="t" wrap="square" lIns="247650" tIns="190500" rIns="247650" bIns="190500"/>
          <a:lstStyle/>
          <a:p>
            <a:pPr algn="l">
              <a:lnSpc>
                <a:spcPct val="110000"/>
              </a:lnSpc>
              <a:spcBef>
                <a:spcPts val="0"/>
              </a:spcBef>
              <a:spcAft>
                <a:spcPts val="600"/>
              </a:spcAft>
            </a:pPr>
            <a:r>
              <a:rPr sz="2250" b="1">
                <a:solidFill>
                  <a:srgbClr val="17241F"/>
                </a:solidFill>
                <a:latin typeface="Segoe UI"/>
              </a:rPr>
              <a:t>Four slots</a:t>
            </a:r>
          </a:p>
          <a:p>
            <a:pPr algn="l">
              <a:lnSpc>
                <a:spcPct val="120000"/>
              </a:lnSpc>
              <a:spcBef>
                <a:spcPts val="0"/>
              </a:spcBef>
              <a:spcAft>
                <a:spcPts val="0"/>
              </a:spcAft>
            </a:pPr>
            <a:r>
              <a:rPr sz="1950" b="0">
                <a:solidFill>
                  <a:srgbClr val="4A5A52"/>
                </a:solidFill>
                <a:latin typeface="Segoe UI"/>
              </a:rPr>
              <a:t>A prototype size. More slots mean more sensors and LEDs, not a new design.</a:t>
            </a:r>
          </a:p>
        </p:txBody>
      </p:sp>
      <p:sp>
        <p:nvSpPr>
          <p:cNvPr id="8" name="Slide number"/>
          <p:cNvSpPr txBox="1"/>
          <p:nvPr/>
        </p:nvSpPr>
        <p:spPr>
          <a:xfrm>
            <a:off x="10668000" y="6477000"/>
            <a:ext cx="762000" cy="203200"/>
          </a:xfrm>
          <a:prstGeom prst="rect">
            <a:avLst/>
          </a:prstGeom>
          <a:noFill/>
        </p:spPr>
        <p:txBody>
          <a:bodyPr wrap="square" lIns="0" tIns="0" rIns="0" bIns="0" anchor="t"/>
          <a:lstStyle/>
          <a:p>
            <a:pPr algn="r"/>
            <a:fld id="{B6F15528-21DE-4FAA-801E-634DDDAF4B2B}" type="slidenum">
              <a:rPr lang="en-US" sz="1200">
                <a:solidFill>
                  <a:srgbClr val="6B7C73"/>
                </a:solidFill>
                <a:latin typeface="Segoe UI"/>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2201B"/>
        </a:solidFill>
        <a:effectLst/>
      </p:bgPr>
    </p:bg>
    <p:spTree>
      <p:nvGrpSpPr>
        <p:cNvPr id="1" name=""/>
        <p:cNvGrpSpPr/>
        <p:nvPr/>
      </p:nvGrpSpPr>
      <p:grpSpPr/>
      <p:sp>
        <p:nvSpPr>
          <p:cNvPr id="2" name="Eyebrow"/>
          <p:cNvSpPr txBox="1"/>
          <p:nvPr/>
        </p:nvSpPr>
        <p:spPr>
          <a:xfrm>
            <a:off x="762000" y="1887664"/>
            <a:ext cx="10668000" cy="222885"/>
          </a:xfrm>
          <a:prstGeom prst="rect">
            <a:avLst/>
          </a:prstGeom>
          <a:noFill/>
        </p:spPr>
        <p:txBody>
          <a:bodyPr wrap="square" lIns="0" tIns="0" rIns="0" bIns="0" anchor="t"/>
          <a:lstStyle/>
          <a:p>
            <a:pPr>
              <a:lnSpc>
                <a:spcPct val="100000"/>
              </a:lnSpc>
              <a:spcBef>
                <a:spcPts val="0"/>
              </a:spcBef>
              <a:spcAft>
                <a:spcPts val="0"/>
              </a:spcAft>
            </a:pPr>
            <a:r>
              <a:rPr sz="1350" b="1" spc="225">
                <a:solidFill>
                  <a:srgbClr val="3DDC84"/>
                </a:solidFill>
                <a:latin typeface="Segoe UI"/>
              </a:rPr>
              <a:t>NEXT STEPS</a:t>
            </a:r>
          </a:p>
        </p:txBody>
      </p:sp>
      <p:sp>
        <p:nvSpPr>
          <p:cNvPr id="3" name="Title"/>
          <p:cNvSpPr txBox="1"/>
          <p:nvPr/>
        </p:nvSpPr>
        <p:spPr>
          <a:xfrm>
            <a:off x="762000" y="2186749"/>
            <a:ext cx="10668000" cy="628650"/>
          </a:xfrm>
          <a:prstGeom prst="rect">
            <a:avLst/>
          </a:prstGeom>
          <a:noFill/>
        </p:spPr>
        <p:txBody>
          <a:bodyPr wrap="square" lIns="0" tIns="0" rIns="0" bIns="0" anchor="t"/>
          <a:lstStyle/>
          <a:p>
            <a:pPr>
              <a:lnSpc>
                <a:spcPct val="110000"/>
              </a:lnSpc>
              <a:spcBef>
                <a:spcPts val="0"/>
              </a:spcBef>
              <a:spcAft>
                <a:spcPts val="0"/>
              </a:spcAft>
            </a:pPr>
            <a:r>
              <a:rPr sz="3750" b="1">
                <a:solidFill>
                  <a:srgbClr val="EEF3EC"/>
                </a:solidFill>
                <a:latin typeface="Segoe UI"/>
              </a:rPr>
              <a:t>From prototype to product</a:t>
            </a:r>
          </a:p>
        </p:txBody>
      </p:sp>
      <p:sp>
        <p:nvSpPr>
          <p:cNvPr id="4" name="List"/>
          <p:cNvSpPr txBox="1"/>
          <p:nvPr/>
        </p:nvSpPr>
        <p:spPr>
          <a:xfrm>
            <a:off x="762000" y="3120199"/>
            <a:ext cx="10668000" cy="1850136"/>
          </a:xfrm>
          <a:prstGeom prst="rect">
            <a:avLst/>
          </a:prstGeom>
          <a:noFill/>
        </p:spPr>
        <p:txBody>
          <a:bodyPr wrap="square" lIns="0" tIns="0" rIns="0" bIns="0" anchor="t"/>
          <a:lstStyle/>
          <a:p>
            <a:pPr marL="304800" indent="-304800">
              <a:lnSpc>
                <a:spcPct val="130000"/>
              </a:lnSpc>
              <a:spcBef>
                <a:spcPts val="0"/>
              </a:spcBef>
              <a:spcAft>
                <a:spcPts val="0"/>
              </a:spcAft>
              <a:buClr>
                <a:srgbClr val="EEF3EC"/>
              </a:buClr>
              <a:buFont typeface="+mj-lt"/>
              <a:buAutoNum type="arabicPeriod"/>
            </a:pPr>
            <a:r>
              <a:rPr sz="1950" b="0">
                <a:solidFill>
                  <a:srgbClr val="EEF3EC"/>
                </a:solidFill>
                <a:latin typeface="Segoe UI"/>
              </a:rPr>
              <a:t>Logins for broker and Node-RED, secrets out of the repository</a:t>
            </a:r>
          </a:p>
          <a:p>
            <a:pPr marL="304800" indent="-304800">
              <a:lnSpc>
                <a:spcPct val="130000"/>
              </a:lnSpc>
              <a:spcBef>
                <a:spcPts val="600"/>
              </a:spcBef>
              <a:spcAft>
                <a:spcPts val="0"/>
              </a:spcAft>
              <a:buClr>
                <a:srgbClr val="EEF3EC"/>
              </a:buClr>
              <a:buFont typeface="+mj-lt"/>
              <a:buAutoNum type="arabicPeriod"/>
            </a:pPr>
            <a:r>
              <a:rPr sz="1950" b="0">
                <a:solidFill>
                  <a:srgbClr val="EEF3EC"/>
                </a:solidFill>
                <a:latin typeface="Segoe UI"/>
              </a:rPr>
              <a:t>A transistor that power-cycles the NFC reader on boot</a:t>
            </a:r>
          </a:p>
          <a:p>
            <a:pPr marL="304800" indent="-304800">
              <a:lnSpc>
                <a:spcPct val="130000"/>
              </a:lnSpc>
              <a:spcBef>
                <a:spcPts val="600"/>
              </a:spcBef>
              <a:spcAft>
                <a:spcPts val="0"/>
              </a:spcAft>
              <a:buClr>
                <a:srgbClr val="EEF3EC"/>
              </a:buClr>
              <a:buFont typeface="+mj-lt"/>
              <a:buAutoNum type="arabicPeriod"/>
            </a:pPr>
            <a:r>
              <a:rPr sz="1950" b="0">
                <a:solidFill>
                  <a:srgbClr val="EEF3EC"/>
                </a:solidFill>
                <a:latin typeface="Segoe UI"/>
              </a:rPr>
              <a:t>Entrance sound: welcome melody and alarm beep</a:t>
            </a:r>
          </a:p>
          <a:p>
            <a:pPr marL="304800" indent="-304800">
              <a:lnSpc>
                <a:spcPct val="130000"/>
              </a:lnSpc>
              <a:spcBef>
                <a:spcPts val="600"/>
              </a:spcBef>
              <a:spcAft>
                <a:spcPts val="0"/>
              </a:spcAft>
              <a:buClr>
                <a:srgbClr val="EEF3EC"/>
              </a:buClr>
              <a:buFont typeface="+mj-lt"/>
              <a:buAutoNum type="arabicPeriod"/>
            </a:pPr>
            <a:r>
              <a:rPr sz="1950" b="0">
                <a:solidFill>
                  <a:srgbClr val="EEF3EC"/>
                </a:solidFill>
                <a:latin typeface="Segoe UI"/>
              </a:rPr>
              <a:t>More slots: one more ESP per two slots, same logic</a:t>
            </a:r>
          </a:p>
        </p:txBody>
      </p:sp>
      <p:sp>
        <p:nvSpPr>
          <p:cNvPr id="5" name="Slide number"/>
          <p:cNvSpPr txBox="1"/>
          <p:nvPr/>
        </p:nvSpPr>
        <p:spPr>
          <a:xfrm>
            <a:off x="10668000" y="6477000"/>
            <a:ext cx="762000" cy="203200"/>
          </a:xfrm>
          <a:prstGeom prst="rect">
            <a:avLst/>
          </a:prstGeom>
          <a:noFill/>
        </p:spPr>
        <p:txBody>
          <a:bodyPr wrap="square" lIns="0" tIns="0" rIns="0" bIns="0" anchor="t"/>
          <a:lstStyle/>
          <a:p>
            <a:pPr algn="r"/>
            <a:fld id="{B6F15528-21DE-4FAA-801E-634DDDAF4B2B}" type="slidenum">
              <a:rPr lang="en-US" sz="1200">
                <a:solidFill>
                  <a:srgbClr val="8FA89A"/>
                </a:solidFill>
                <a:latin typeface="Segoe UI"/>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gradFill rotWithShape="1">
          <a:gsLst>
            <a:gs pos="62000">
              <a:srgbClr val="12201B"/>
            </a:gs>
            <a:gs pos="100000">
              <a:srgbClr val="1C3A2E"/>
            </a:gs>
          </a:gsLst>
          <a:lin scaled="0" ang="1200000"/>
        </a:gradFill>
        <a:effectLst/>
      </p:bgPr>
    </p:bg>
    <p:spTree>
      <p:nvGrpSpPr>
        <p:cNvPr id="1" name=""/>
        <p:cNvGrpSpPr/>
        <p:nvPr/>
      </p:nvGrpSpPr>
      <p:grpSpPr/>
      <p:sp>
        <p:nvSpPr>
          <p:cNvPr id="2" name="Title"/>
          <p:cNvSpPr txBox="1"/>
          <p:nvPr/>
        </p:nvSpPr>
        <p:spPr>
          <a:xfrm>
            <a:off x="762000" y="2404237"/>
            <a:ext cx="10668000" cy="1188720"/>
          </a:xfrm>
          <a:prstGeom prst="rect">
            <a:avLst/>
          </a:prstGeom>
          <a:noFill/>
        </p:spPr>
        <p:txBody>
          <a:bodyPr wrap="square" lIns="0" tIns="0" rIns="0" bIns="0" anchor="t"/>
          <a:lstStyle/>
          <a:p>
            <a:pPr>
              <a:lnSpc>
                <a:spcPct val="100000"/>
              </a:lnSpc>
              <a:spcBef>
                <a:spcPts val="0"/>
              </a:spcBef>
              <a:spcAft>
                <a:spcPts val="0"/>
              </a:spcAft>
            </a:pPr>
            <a:r>
              <a:rPr sz="7800" b="1">
                <a:solidFill>
                  <a:srgbClr val="EEF3EC"/>
                </a:solidFill>
                <a:latin typeface="Segoe UI"/>
              </a:rPr>
              <a:t>Thank you</a:t>
            </a:r>
          </a:p>
        </p:txBody>
      </p:sp>
      <p:sp>
        <p:nvSpPr>
          <p:cNvPr id="3" name="Text"/>
          <p:cNvSpPr txBox="1"/>
          <p:nvPr/>
        </p:nvSpPr>
        <p:spPr>
          <a:xfrm>
            <a:off x="762000" y="3948556"/>
            <a:ext cx="10668000" cy="505205"/>
          </a:xfrm>
          <a:prstGeom prst="rect">
            <a:avLst/>
          </a:prstGeom>
          <a:noFill/>
        </p:spPr>
        <p:txBody>
          <a:bodyPr wrap="square" lIns="0" tIns="0" rIns="0" bIns="0" anchor="t"/>
          <a:lstStyle/>
          <a:p>
            <a:pPr>
              <a:lnSpc>
                <a:spcPct val="130000"/>
              </a:lnSpc>
              <a:spcBef>
                <a:spcPts val="0"/>
              </a:spcBef>
              <a:spcAft>
                <a:spcPts val="0"/>
              </a:spcAft>
            </a:pPr>
            <a:r>
              <a:rPr sz="2550" b="0">
                <a:solidFill>
                  <a:srgbClr val="C9D6CE"/>
                </a:solidFill>
                <a:latin typeface="Segoe UI"/>
              </a:rPr>
              <a:t>Questions? Try it yourself: tap a chip at the station.</a:t>
            </a:r>
          </a:p>
        </p:txBody>
      </p:sp>
      <p:sp>
        <p:nvSpPr>
          <p:cNvPr id="4" name="Footer"/>
          <p:cNvSpPr txBox="1"/>
          <p:nvPr/>
        </p:nvSpPr>
        <p:spPr>
          <a:xfrm>
            <a:off x="254000" y="6477000"/>
            <a:ext cx="8890000" cy="203200"/>
          </a:xfrm>
          <a:prstGeom prst="rect">
            <a:avLst/>
          </a:prstGeom>
          <a:noFill/>
        </p:spPr>
        <p:txBody>
          <a:bodyPr wrap="square" lIns="0" tIns="0" rIns="0" bIns="0" anchor="t"/>
          <a:lstStyle/>
          <a:p>
            <a:r>
              <a:rPr sz="1200" b="0">
                <a:solidFill>
                  <a:srgbClr val="8FA89A"/>
                </a:solidFill>
                <a:latin typeface="Segoe UI"/>
              </a:rPr>
              <a:t>github.com/LX-Chrome/Hackabike-system · Luca · Tobias · Group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Hackabike – Smart Bikestation</dc:title>
  <dc:subject/>
  <dc:creator>Luca, Tobias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